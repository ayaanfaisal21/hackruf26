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12192000"/>
  <p:embeddedFontLst>
    <p:embeddedFont>
      <p:font typeface="IBM Plex Sans"/>
      <p:regular r:id="rId19"/>
      <p:bold r:id="rId20"/>
      <p:italic r:id="rId21"/>
      <p:boldItalic r:id="rId22"/>
    </p:embeddedFont>
    <p:embeddedFont>
      <p:font typeface="Fraunces"/>
      <p:regular r:id="rId23"/>
      <p:bold r:id="rId24"/>
      <p:italic r:id="rId25"/>
      <p:boldItalic r:id="rId26"/>
    </p:embeddedFont>
    <p:embeddedFont>
      <p:font typeface="IBM Plex Mon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F50E43-EC10-4135-BEF6-DD3318AC7510}">
  <a:tblStyle styleId="{5CF50E43-EC10-4135-BEF6-DD3318AC751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IBMPlexSans-bold.fntdata"/><Relationship Id="rId22" Type="http://schemas.openxmlformats.org/officeDocument/2006/relationships/font" Target="fonts/IBMPlexSans-boldItalic.fntdata"/><Relationship Id="rId21" Type="http://schemas.openxmlformats.org/officeDocument/2006/relationships/font" Target="fonts/IBMPlexSans-italic.fntdata"/><Relationship Id="rId24" Type="http://schemas.openxmlformats.org/officeDocument/2006/relationships/font" Target="fonts/Fraunces-bold.fntdata"/><Relationship Id="rId23" Type="http://schemas.openxmlformats.org/officeDocument/2006/relationships/font" Target="fonts/Fraunce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Fraunces-boldItalic.fntdata"/><Relationship Id="rId25" Type="http://schemas.openxmlformats.org/officeDocument/2006/relationships/font" Target="fonts/Fraunces-italic.fntdata"/><Relationship Id="rId28" Type="http://schemas.openxmlformats.org/officeDocument/2006/relationships/font" Target="fonts/IBMPlexMono-bold.fntdata"/><Relationship Id="rId27" Type="http://schemas.openxmlformats.org/officeDocument/2006/relationships/font" Target="fonts/IBMPlexMon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BMPlexMono-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IBMPlex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IBMPlexSans-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 name="Shape 14"/>
        <p:cNvGrpSpPr/>
        <p:nvPr/>
      </p:nvGrpSpPr>
      <p:grpSpPr>
        <a:xfrm>
          <a:off x="0" y="0"/>
          <a:ext cx="0" cy="0"/>
          <a:chOff x="0" y="0"/>
          <a:chExt cx="0" cy="0"/>
        </a:xfrm>
      </p:grpSpPr>
      <p:sp>
        <p:nvSpPr>
          <p:cNvPr id="15" name="Google Shape;1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 name="Google Shape;1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Sourced is an agent that reads every trial source — FHIR, faxes, scans, notes — fills the forms, checks them, and cites every value. The card on the right is a real read: a photographed fax turned into form fields, each pointing at the words it came from.</a:t>
            </a:r>
            <a:endParaRPr/>
          </a:p>
        </p:txBody>
      </p:sp>
      <p:sp>
        <p:nvSpPr>
          <p:cNvPr id="17" name="Google Shape;1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400-patient Phase 3 trial: 290,000 values. A coordinator types each one from the chart; a monitor checks each one against the source. That checking is 15 to 30 percent of trial cost (PMC4386950), and entry runs about eight days behind the visit (Tufts CSDD 2017).</a:t>
            </a:r>
            <a:endParaRPr/>
          </a:p>
        </p:txBody>
      </p:sp>
      <p:sp>
        <p:nvSpPr>
          <p:cNvPr id="36" name="Google Shape;3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square is one percent of a trial's data. The one independent multi-sponsor study of EHR-to-EDC, TransFAIR (3 hospitals, 3 sponsors), moved about 17 percent automatically — medications only 7.7 percent. That leaves 83 percent — every gold square — still retyped by hand. That isn't a technology limit; it's where the data lives. Those 83 squares are exactly what Sourced reads.</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whole idea. Every fact keeps its document, page, character span and verbatim quote — or its FHIR resource ID. A model that must quote can be checked. A value without a receipt never reaches a form.</a:t>
            </a:r>
            <a:endParaRPr/>
          </a:p>
        </p:txBody>
      </p:sp>
      <p:sp>
        <p:nvSpPr>
          <p:cNvPr id="169" name="Google Shape;16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part no connector reaches: a photo of a fax from a walk-in clinic. The model transcribes it, then reads it under a strict schema that forces a verbatim quote for every value, located back to a page and character span. Highlighted rows: pounds became kilograms, Fahrenheit became Celsius, and the original wording stays attached. Synthetic patient — no real data anywhere.</a:t>
            </a:r>
            <a:endParaRPr/>
          </a:p>
        </p:txBody>
      </p:sp>
      <p:sp>
        <p:nvSpPr>
          <p:cNvPr id="179" name="Google Shape;17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five steps left to right, following the weight from the fax on the previous slide. 1, Read: the model (gpt-4.1 or Gemini Flash) runs under a strict JSON schema and must quote every value verbatim; the quote "Wt 172 lbs" is located to page 1. 2, Store: the fact lands in the patient's ledger on Tiger Data with its receipt. 3, Fill: rules map it to the CDASH Vital Signs form using LOINC codes and convert 172 lb to 78.0 kg. 4, Verify: an independent pass checks plausible range, that the quote matches the value, and that sources agree within three days — here it matches the hospital's scale from the day before. 5, Sign: the coordinator sees only flags, decides each with a reason, signs, and exports ODM. Only step 1 is a model; everything after is deterministic, testable rules.</a:t>
            </a:r>
            <a:endParaRPr/>
          </a:p>
        </p:txBody>
      </p:sp>
      <p:sp>
        <p:nvSpPr>
          <p:cNvPr id="189" name="Google Shape;18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verifier is an independent second pass. When sources disagree it says who recorded what, where and when, names the likely cause from rules — unit arithmetic first, then digit patterns, then the patient's own history — and suggests a decision. Here, 87.0 is out of line with this patient's other readings and 78.0 fits them. The coordinator accepts, picks the other source, or enters a value, with a reason. Signing requires a decision on every flagged field.</a:t>
            </a:r>
            <a:endParaRPr/>
          </a:p>
        </p:txBody>
      </p:sp>
      <p:sp>
        <p:nvSpPr>
          <p:cNvPr id="228" name="Google Shape;22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independent sources agree structured data alone stalls. TransFAIR (BMJ Health and Care Informatics, 2023; 3 hospitals, 3 sponsors) moved about 17 percent of trial data automatically. Flatiron and Sanofi (AMIA Informatics Summit, 2025) found only 43 percent of data points come from structured EHR data, with another 28 percent needing unstructured sources. Mount Sinai's live EHR-to-EDC connector (2026) auto-fills about 70 percent of form data and cut entry from 5.5 to 2.5 minutes a visit. Our own structured-only baseline lands at 68 percent — right where Mount Sinai is. With the reader, 99.7 percent. On 60 patients and 1,009 fields with a known answer key: 100 percent accurate, all 35 planted conflicts caught, zero false alarms. Against a real regex extractor on document layouts it wasn't written for: 0.7 percent recall versus 100.</a:t>
            </a:r>
            <a:endParaRPr/>
          </a:p>
        </p:txBody>
      </p:sp>
      <p:sp>
        <p:nvSpPr>
          <p:cNvPr id="247" name="Google Shape;24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line of a Sourced receipt maps to something regulators already require. Attributable (ALCOA+, FDA eSource guidance): the source document and page. Original: the verbatim quote, kept beside the converted value. Accountable (ICH E6(R3)): a human signs, with a decision and reason on every flagged field. Tamper-evident (21 CFR Part 11): every action lands in an append-only, SHA-256 hash-chained audit trail that can be re-verified on demand. And it speaks what sites already run — FHIR R4 in, LOINC codes, CDASH forms, ODM out. The hash shown is illustrative. Synthetic data only; it fills and checks — it doesn't diagnose or decide eligibility.</a:t>
            </a:r>
            <a:endParaRPr/>
          </a:p>
        </p:txBody>
      </p:sp>
      <p:sp>
        <p:nvSpPr>
          <p:cNvPr id="290" name="Google Shape;29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 Regeneron's site-agent map, this is the source-to-EDC data agent — named as the first data agent to build, with one must-have: original source cited and traceable. The outline asks for an agent that acts alone once proven, with the study coordinator accountable. Our metrics are the proof; the sign-off is the accountability. Then the three people whose day changes: the coordinator stops retyping, the monitor verifies from the receipt instead of traveling, and the data manager sees conflicts at fill time instead of months later.</a:t>
            </a:r>
            <a:endParaRPr/>
          </a:p>
        </p:txBody>
      </p:sp>
      <p:sp>
        <p:nvSpPr>
          <p:cNvPr id="333" name="Google Shape;33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clinical ledger is time series, relational rows, JSON and vectors at once; Tiger Cloud holds all four in one Postgres. The facts hypertable is chunked by observed time, so the nearest-to-visit query touches only overlapping chunks. Old chunks compress by policy, segmented by patient: 22 of 24 in our load, still queryable in place. The live chart is a continuous aggregate with one-day buckets per organization. Document search is a 384-dimension HNSW index in the same database — no separate vector store. Receipts are JSONB; the audit trail is a second hypertable with a hash chain.</a:t>
            </a:r>
            <a:endParaRPr/>
          </a:p>
        </p:txBody>
      </p:sp>
      <p:sp>
        <p:nvSpPr>
          <p:cNvPr id="374" name="Google Shape;37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Next: connectors for fax servers and EHR document exports, a real EDC export target, scanned PDFs at volume — and the autonomy switch from Regeneron's outline: an agent that earns autonomy field type by field type and stops asking about the ones it has been right about. The receipts and the metrics are what make that switch safe to flip.</a:t>
            </a:r>
            <a:endParaRPr/>
          </a:p>
        </p:txBody>
      </p:sp>
      <p:sp>
        <p:nvSpPr>
          <p:cNvPr id="412" name="Google Shape;41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on the three lines. The receipt on the right recaps what we measured: 99.7 percent of fields filled, 100 percent accurate, 35 of 35 planted conflicts caught, zero false alarms, 100 percent recall on new layouts — every value with a receipt, every form signed by a human. The repo reproduces every number from a clean clone. Happy to open the demo live.</a:t>
            </a:r>
            <a:endParaRPr/>
          </a:p>
        </p:txBody>
      </p:sp>
      <p:sp>
        <p:nvSpPr>
          <p:cNvPr id="441" name="Google Shape;44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background 1">
  <p:cSld name="Slide background 1">
    <p:bg>
      <p:bgPr>
        <a:blipFill>
          <a:blip r:embed="rId2">
            <a:alphaModFix/>
          </a:blip>
          <a:stretch>
            <a:fillRect/>
          </a:stretch>
        </a:blip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background 2">
  <p:cSld name="Slide background 2">
    <p:bg>
      <p:bgPr>
        <a:blipFill>
          <a:blip r:embed="rId2">
            <a:alphaModFix/>
          </a:blip>
          <a:stretch>
            <a:fillRect/>
          </a:stretch>
        </a:blipFill>
      </p:bgPr>
    </p:bg>
    <p:spTree>
      <p:nvGrpSpPr>
        <p:cNvPr id="12" name="Shape 1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background 3">
  <p:cSld name="Slide background 3">
    <p:bg>
      <p:bgPr>
        <a:blipFill>
          <a:blip r:embed="rId2">
            <a:alphaModFix/>
          </a:blip>
          <a:stretch>
            <a:fillRect/>
          </a:stretch>
        </a:blipFill>
      </p:bgPr>
    </p:bg>
    <p:spTree>
      <p:nvGrpSpPr>
        <p:cNvPr id="13"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7.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23.png"/><Relationship Id="rId5" Type="http://schemas.openxmlformats.org/officeDocument/2006/relationships/image" Target="../media/image12.png"/><Relationship Id="rId6" Type="http://schemas.openxmlformats.org/officeDocument/2006/relationships/image" Target="../media/image16.png"/><Relationship Id="rId7"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20.png"/><Relationship Id="rId5" Type="http://schemas.openxmlformats.org/officeDocument/2006/relationships/image" Target="../media/image19.png"/><Relationship Id="rId6" Type="http://schemas.openxmlformats.org/officeDocument/2006/relationships/image" Target="../media/image38.png"/><Relationship Id="rId7"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9.png"/><Relationship Id="rId6"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1.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 name="Shape 18"/>
        <p:cNvGrpSpPr/>
        <p:nvPr/>
      </p:nvGrpSpPr>
      <p:grpSpPr>
        <a:xfrm>
          <a:off x="0" y="0"/>
          <a:ext cx="0" cy="0"/>
          <a:chOff x="0" y="0"/>
          <a:chExt cx="0" cy="0"/>
        </a:xfrm>
      </p:grpSpPr>
      <p:sp>
        <p:nvSpPr>
          <p:cNvPr id="19" name="Google Shape;19;p6"/>
          <p:cNvSpPr/>
          <p:nvPr/>
        </p:nvSpPr>
        <p:spPr>
          <a:xfrm rot="-120000">
            <a:off x="7175500" y="1080770"/>
            <a:ext cx="3937000" cy="3009900"/>
          </a:xfrm>
          <a:prstGeom prst="roundRect">
            <a:avLst>
              <a:gd fmla="val 1266" name="adj"/>
            </a:avLst>
          </a:prstGeom>
          <a:solidFill>
            <a:srgbClr val="F6F3EC"/>
          </a:solidFill>
          <a:ln>
            <a:noFill/>
          </a:ln>
          <a:effectLst>
            <a:outerShdw blurRad="444500" rotWithShape="0" algn="bl" dir="5400000" dist="1905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6"/>
          <p:cNvSpPr/>
          <p:nvPr/>
        </p:nvSpPr>
        <p:spPr>
          <a:xfrm rot="-120000">
            <a:off x="7392050" y="1360839"/>
            <a:ext cx="3427222" cy="2540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B2A3B"/>
              </a:buClr>
              <a:buSzPts val="1300"/>
              <a:buFont typeface="IBM Plex Mono"/>
              <a:buNone/>
            </a:pPr>
            <a:r>
              <a:rPr b="1" i="0" lang="en-US" sz="1300" u="none" cap="none" strike="noStrike">
                <a:solidFill>
                  <a:srgbClr val="0B2A3B"/>
                </a:solidFill>
                <a:latin typeface="IBM Plex Mono"/>
                <a:ea typeface="IBM Plex Mono"/>
                <a:cs typeface="IBM Plex Mono"/>
                <a:sym typeface="IBM Plex Mono"/>
              </a:rPr>
              <a:t>SOURCED · RECEIPT</a:t>
            </a:r>
            <a:endParaRPr b="0" i="0" sz="1300" u="none" cap="none" strike="noStrike">
              <a:solidFill>
                <a:schemeClr val="dk1"/>
              </a:solidFill>
              <a:latin typeface="Calibri"/>
              <a:ea typeface="Calibri"/>
              <a:cs typeface="Calibri"/>
              <a:sym typeface="Calibri"/>
            </a:endParaRPr>
          </a:p>
        </p:txBody>
      </p:sp>
      <p:pic>
        <p:nvPicPr>
          <p:cNvPr descr="line" id="21" name="Google Shape;21;p6"/>
          <p:cNvPicPr preferRelativeResize="0"/>
          <p:nvPr/>
        </p:nvPicPr>
        <p:blipFill rotWithShape="1">
          <a:blip r:embed="rId3">
            <a:alphaModFix/>
          </a:blip>
          <a:srcRect b="0" l="0" r="0" t="0"/>
          <a:stretch/>
        </p:blipFill>
        <p:spPr>
          <a:xfrm rot="-120000">
            <a:off x="7448210" y="1654100"/>
            <a:ext cx="3327400" cy="25400"/>
          </a:xfrm>
          <a:prstGeom prst="rect">
            <a:avLst/>
          </a:prstGeom>
          <a:noFill/>
          <a:ln>
            <a:noFill/>
          </a:ln>
        </p:spPr>
      </p:pic>
      <p:sp>
        <p:nvSpPr>
          <p:cNvPr id="22" name="Google Shape;22;p6"/>
          <p:cNvSpPr/>
          <p:nvPr/>
        </p:nvSpPr>
        <p:spPr>
          <a:xfrm rot="-120000">
            <a:off x="7455627" y="1741763"/>
            <a:ext cx="3427222" cy="2730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B2A3B"/>
              </a:buClr>
              <a:buSzPts val="1400"/>
              <a:buFont typeface="IBM Plex Mono"/>
              <a:buNone/>
            </a:pPr>
            <a:r>
              <a:rPr b="1" i="0" lang="en-US" sz="1400" u="none" cap="none" strike="noStrike">
                <a:solidFill>
                  <a:srgbClr val="0B2A3B"/>
                </a:solidFill>
                <a:latin typeface="IBM Plex Mono"/>
                <a:ea typeface="IBM Plex Mono"/>
                <a:cs typeface="IBM Plex Mono"/>
                <a:sym typeface="IBM Plex Mono"/>
              </a:rPr>
              <a:t>WEIGHT ........ 78.0 kg</a:t>
            </a:r>
            <a:endParaRPr b="0" i="0" sz="1400" u="none" cap="none" strike="noStrike">
              <a:solidFill>
                <a:schemeClr val="dk1"/>
              </a:solidFill>
              <a:latin typeface="Calibri"/>
              <a:ea typeface="Calibri"/>
              <a:cs typeface="Calibri"/>
              <a:sym typeface="Calibri"/>
            </a:endParaRPr>
          </a:p>
        </p:txBody>
      </p:sp>
      <p:sp>
        <p:nvSpPr>
          <p:cNvPr id="23" name="Google Shape;23;p6"/>
          <p:cNvSpPr/>
          <p:nvPr/>
        </p:nvSpPr>
        <p:spPr>
          <a:xfrm rot="-120000">
            <a:off x="7465909" y="2052099"/>
            <a:ext cx="3427222"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Mono"/>
              <a:buNone/>
            </a:pPr>
            <a:r>
              <a:rPr b="0" i="0" lang="en-US" sz="1200" u="none" cap="none" strike="noStrike">
                <a:solidFill>
                  <a:srgbClr val="0F766E"/>
                </a:solidFill>
                <a:latin typeface="IBM Plex Mono"/>
                <a:ea typeface="IBM Plex Mono"/>
                <a:cs typeface="IBM Plex Mono"/>
                <a:sym typeface="IBM Plex Mono"/>
              </a:rPr>
              <a:t>└ fax page 1</a:t>
            </a:r>
            <a:r>
              <a:rPr b="0" i="0" lang="en-US" sz="1200" u="none" cap="none" strike="noStrike">
                <a:solidFill>
                  <a:srgbClr val="0B2A3B"/>
                </a:solidFill>
                <a:latin typeface="IBM Plex Mono"/>
                <a:ea typeface="IBM Plex Mono"/>
                <a:cs typeface="IBM Plex Mono"/>
                <a:sym typeface="IBM Plex Mono"/>
              </a:rPr>
              <a:t>“Wt 172 lbs”</a:t>
            </a:r>
            <a:endParaRPr b="0" i="0" sz="1200" u="none" cap="none" strike="noStrike">
              <a:solidFill>
                <a:schemeClr val="dk1"/>
              </a:solidFill>
              <a:latin typeface="Calibri"/>
              <a:ea typeface="Calibri"/>
              <a:cs typeface="Calibri"/>
              <a:sym typeface="Calibri"/>
            </a:endParaRPr>
          </a:p>
        </p:txBody>
      </p:sp>
      <p:sp>
        <p:nvSpPr>
          <p:cNvPr id="24" name="Google Shape;24;p6"/>
          <p:cNvSpPr/>
          <p:nvPr/>
        </p:nvSpPr>
        <p:spPr>
          <a:xfrm rot="-120000">
            <a:off x="7476192" y="2330684"/>
            <a:ext cx="3427222" cy="2730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B2A3B"/>
              </a:buClr>
              <a:buSzPts val="1400"/>
              <a:buFont typeface="IBM Plex Mono"/>
              <a:buNone/>
            </a:pPr>
            <a:r>
              <a:rPr b="1" i="0" lang="en-US" sz="1400" u="none" cap="none" strike="noStrike">
                <a:solidFill>
                  <a:srgbClr val="0B2A3B"/>
                </a:solidFill>
                <a:latin typeface="IBM Plex Mono"/>
                <a:ea typeface="IBM Plex Mono"/>
                <a:cs typeface="IBM Plex Mono"/>
                <a:sym typeface="IBM Plex Mono"/>
              </a:rPr>
              <a:t>TEMP .......... 36.9 °C</a:t>
            </a:r>
            <a:endParaRPr b="0" i="0" sz="1400" u="none" cap="none" strike="noStrike">
              <a:solidFill>
                <a:schemeClr val="dk1"/>
              </a:solidFill>
              <a:latin typeface="Calibri"/>
              <a:ea typeface="Calibri"/>
              <a:cs typeface="Calibri"/>
              <a:sym typeface="Calibri"/>
            </a:endParaRPr>
          </a:p>
        </p:txBody>
      </p:sp>
      <p:sp>
        <p:nvSpPr>
          <p:cNvPr id="25" name="Google Shape;25;p6"/>
          <p:cNvSpPr/>
          <p:nvPr/>
        </p:nvSpPr>
        <p:spPr>
          <a:xfrm rot="-120000">
            <a:off x="7486475" y="2641020"/>
            <a:ext cx="3427222"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Mono"/>
              <a:buNone/>
            </a:pPr>
            <a:r>
              <a:rPr b="0" i="0" lang="en-US" sz="1200" u="none" cap="none" strike="noStrike">
                <a:solidFill>
                  <a:srgbClr val="0F766E"/>
                </a:solidFill>
                <a:latin typeface="IBM Plex Mono"/>
                <a:ea typeface="IBM Plex Mono"/>
                <a:cs typeface="IBM Plex Mono"/>
                <a:sym typeface="IBM Plex Mono"/>
              </a:rPr>
              <a:t>└ fax page 1</a:t>
            </a:r>
            <a:r>
              <a:rPr b="0" i="0" lang="en-US" sz="1200" u="none" cap="none" strike="noStrike">
                <a:solidFill>
                  <a:srgbClr val="0B2A3B"/>
                </a:solidFill>
                <a:latin typeface="IBM Plex Mono"/>
                <a:ea typeface="IBM Plex Mono"/>
                <a:cs typeface="IBM Plex Mono"/>
                <a:sym typeface="IBM Plex Mono"/>
              </a:rPr>
              <a:t>“T 98.4 F”</a:t>
            </a:r>
            <a:endParaRPr b="0" i="0" sz="1200" u="none" cap="none" strike="noStrike">
              <a:solidFill>
                <a:schemeClr val="dk1"/>
              </a:solidFill>
              <a:latin typeface="Calibri"/>
              <a:ea typeface="Calibri"/>
              <a:cs typeface="Calibri"/>
              <a:sym typeface="Calibri"/>
            </a:endParaRPr>
          </a:p>
        </p:txBody>
      </p:sp>
      <p:sp>
        <p:nvSpPr>
          <p:cNvPr id="26" name="Google Shape;26;p6"/>
          <p:cNvSpPr/>
          <p:nvPr/>
        </p:nvSpPr>
        <p:spPr>
          <a:xfrm rot="-120000">
            <a:off x="7496758" y="2919605"/>
            <a:ext cx="3427222" cy="2730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B2A3B"/>
              </a:buClr>
              <a:buSzPts val="1400"/>
              <a:buFont typeface="IBM Plex Mono"/>
              <a:buNone/>
            </a:pPr>
            <a:r>
              <a:rPr b="1" i="0" lang="en-US" sz="1400" u="none" cap="none" strike="noStrike">
                <a:solidFill>
                  <a:srgbClr val="0B2A3B"/>
                </a:solidFill>
                <a:latin typeface="IBM Plex Mono"/>
                <a:ea typeface="IBM Plex Mono"/>
                <a:cs typeface="IBM Plex Mono"/>
                <a:sym typeface="IBM Plex Mono"/>
              </a:rPr>
              <a:t>BP ......... 128/82 mmHg</a:t>
            </a:r>
            <a:endParaRPr b="0" i="0" sz="1400" u="none" cap="none" strike="noStrike">
              <a:solidFill>
                <a:schemeClr val="dk1"/>
              </a:solidFill>
              <a:latin typeface="Calibri"/>
              <a:ea typeface="Calibri"/>
              <a:cs typeface="Calibri"/>
              <a:sym typeface="Calibri"/>
            </a:endParaRPr>
          </a:p>
        </p:txBody>
      </p:sp>
      <p:sp>
        <p:nvSpPr>
          <p:cNvPr id="27" name="Google Shape;27;p6"/>
          <p:cNvSpPr/>
          <p:nvPr/>
        </p:nvSpPr>
        <p:spPr>
          <a:xfrm rot="-120000">
            <a:off x="7507040" y="3229941"/>
            <a:ext cx="3427222"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Mono"/>
              <a:buNone/>
            </a:pPr>
            <a:r>
              <a:rPr b="0" i="0" lang="en-US" sz="1200" u="none" cap="none" strike="noStrike">
                <a:solidFill>
                  <a:srgbClr val="0F766E"/>
                </a:solidFill>
                <a:latin typeface="IBM Plex Mono"/>
                <a:ea typeface="IBM Plex Mono"/>
                <a:cs typeface="IBM Plex Mono"/>
                <a:sym typeface="IBM Plex Mono"/>
              </a:rPr>
              <a:t>└ fax page 1</a:t>
            </a:r>
            <a:r>
              <a:rPr b="0" i="0" lang="en-US" sz="1200" u="none" cap="none" strike="noStrike">
                <a:solidFill>
                  <a:srgbClr val="0B2A3B"/>
                </a:solidFill>
                <a:latin typeface="IBM Plex Mono"/>
                <a:ea typeface="IBM Plex Mono"/>
                <a:cs typeface="IBM Plex Mono"/>
                <a:sym typeface="IBM Plex Mono"/>
              </a:rPr>
              <a:t>“B/P 128/82”</a:t>
            </a:r>
            <a:endParaRPr b="0" i="0" sz="1200" u="none" cap="none" strike="noStrike">
              <a:solidFill>
                <a:schemeClr val="dk1"/>
              </a:solidFill>
              <a:latin typeface="Calibri"/>
              <a:ea typeface="Calibri"/>
              <a:cs typeface="Calibri"/>
              <a:sym typeface="Calibri"/>
            </a:endParaRPr>
          </a:p>
        </p:txBody>
      </p:sp>
      <p:pic>
        <p:nvPicPr>
          <p:cNvPr descr="line" id="28" name="Google Shape;28;p6"/>
          <p:cNvPicPr preferRelativeResize="0"/>
          <p:nvPr/>
        </p:nvPicPr>
        <p:blipFill rotWithShape="1">
          <a:blip r:embed="rId3">
            <a:alphaModFix/>
          </a:blip>
          <a:srcRect b="0" l="0" r="0" t="0"/>
          <a:stretch/>
        </p:blipFill>
        <p:spPr>
          <a:xfrm rot="-120000">
            <a:off x="7513010" y="3509709"/>
            <a:ext cx="3327400" cy="25400"/>
          </a:xfrm>
          <a:prstGeom prst="rect">
            <a:avLst/>
          </a:prstGeom>
          <a:noFill/>
          <a:ln>
            <a:noFill/>
          </a:ln>
        </p:spPr>
      </p:pic>
      <p:sp>
        <p:nvSpPr>
          <p:cNvPr id="29" name="Google Shape;29;p6"/>
          <p:cNvSpPr/>
          <p:nvPr/>
        </p:nvSpPr>
        <p:spPr>
          <a:xfrm rot="-120000">
            <a:off x="7519806" y="3595478"/>
            <a:ext cx="3427222"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B2A3B"/>
              </a:buClr>
              <a:buSzPts val="1200"/>
              <a:buFont typeface="IBM Plex Mono"/>
              <a:buNone/>
            </a:pPr>
            <a:r>
              <a:rPr b="1" i="0" lang="en-US" sz="1200" u="none" cap="none" strike="noStrike">
                <a:solidFill>
                  <a:srgbClr val="0B2A3B"/>
                </a:solidFill>
                <a:latin typeface="IBM Plex Mono"/>
                <a:ea typeface="IBM Plex Mono"/>
                <a:cs typeface="IBM Plex Mono"/>
                <a:sym typeface="IBM Plex Mono"/>
              </a:rPr>
              <a:t>SIGNED BY: a human</a:t>
            </a:r>
            <a:endParaRPr b="0" i="0" sz="1200" u="none" cap="none" strike="noStrike">
              <a:solidFill>
                <a:schemeClr val="dk1"/>
              </a:solidFill>
              <a:latin typeface="Calibri"/>
              <a:ea typeface="Calibri"/>
              <a:cs typeface="Calibri"/>
              <a:sym typeface="Calibri"/>
            </a:endParaRPr>
          </a:p>
        </p:txBody>
      </p:sp>
      <p:sp>
        <p:nvSpPr>
          <p:cNvPr id="30" name="Google Shape;30;p6"/>
          <p:cNvSpPr/>
          <p:nvPr/>
        </p:nvSpPr>
        <p:spPr>
          <a:xfrm>
            <a:off x="812800" y="1959610"/>
            <a:ext cx="5886450" cy="256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300"/>
              <a:buFont typeface="IBM Plex Mono"/>
              <a:buNone/>
            </a:pPr>
            <a:r>
              <a:rPr b="0" i="0" lang="en-US" sz="1300" u="none" cap="none" strike="noStrike">
                <a:solidFill>
                  <a:srgbClr val="2DD4BF"/>
                </a:solidFill>
                <a:latin typeface="IBM Plex Mono"/>
                <a:ea typeface="IBM Plex Mono"/>
                <a:cs typeface="IBM Plex Mono"/>
                <a:sym typeface="IBM Plex Mono"/>
              </a:rPr>
              <a:t>HACKRU FALL 2026 · REGENERON TRACK</a:t>
            </a:r>
            <a:endParaRPr b="0" i="0" sz="1300" u="none" cap="none" strike="noStrike">
              <a:solidFill>
                <a:schemeClr val="dk1"/>
              </a:solidFill>
              <a:latin typeface="Calibri"/>
              <a:ea typeface="Calibri"/>
              <a:cs typeface="Calibri"/>
              <a:sym typeface="Calibri"/>
            </a:endParaRPr>
          </a:p>
        </p:txBody>
      </p:sp>
      <p:sp>
        <p:nvSpPr>
          <p:cNvPr id="31" name="Google Shape;31;p6"/>
          <p:cNvSpPr/>
          <p:nvPr/>
        </p:nvSpPr>
        <p:spPr>
          <a:xfrm>
            <a:off x="812800" y="2419350"/>
            <a:ext cx="6278880" cy="142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6F3EC"/>
              </a:buClr>
              <a:buSzPts val="11000"/>
              <a:buFont typeface="Fraunces"/>
              <a:buNone/>
            </a:pPr>
            <a:r>
              <a:rPr b="1" i="0" lang="en-US" sz="11000" u="none" cap="none" strike="noStrike">
                <a:solidFill>
                  <a:srgbClr val="F6F3EC"/>
                </a:solidFill>
                <a:latin typeface="Fraunces"/>
                <a:ea typeface="Fraunces"/>
                <a:cs typeface="Fraunces"/>
                <a:sym typeface="Fraunces"/>
              </a:rPr>
              <a:t>Sourced</a:t>
            </a:r>
            <a:endParaRPr b="0" i="0" sz="11000" u="none" cap="none" strike="noStrike">
              <a:solidFill>
                <a:schemeClr val="dk1"/>
              </a:solidFill>
              <a:latin typeface="Calibri"/>
              <a:ea typeface="Calibri"/>
              <a:cs typeface="Calibri"/>
              <a:sym typeface="Calibri"/>
            </a:endParaRPr>
          </a:p>
        </p:txBody>
      </p:sp>
      <p:sp>
        <p:nvSpPr>
          <p:cNvPr id="32" name="Google Shape;32;p6"/>
          <p:cNvSpPr/>
          <p:nvPr/>
        </p:nvSpPr>
        <p:spPr>
          <a:xfrm>
            <a:off x="812800" y="4044950"/>
            <a:ext cx="5886450" cy="8788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3EC"/>
              </a:buClr>
              <a:buSzPts val="2800"/>
              <a:buFont typeface="Fraunces"/>
              <a:buNone/>
            </a:pPr>
            <a:r>
              <a:rPr b="0" i="1" lang="en-US" sz="2800" u="none" cap="none" strike="noStrike">
                <a:solidFill>
                  <a:srgbClr val="F6F3EC"/>
                </a:solidFill>
                <a:latin typeface="Fraunces"/>
                <a:ea typeface="Fraunces"/>
                <a:cs typeface="Fraunces"/>
                <a:sym typeface="Fraunces"/>
              </a:rPr>
              <a:t>Clinical data that manages itself, </a:t>
            </a:r>
            <a:r>
              <a:rPr b="0" i="1" lang="en-US" sz="2800" u="none" cap="none" strike="noStrike">
                <a:solidFill>
                  <a:srgbClr val="F2C14E"/>
                </a:solidFill>
                <a:latin typeface="Fraunces"/>
                <a:ea typeface="Fraunces"/>
                <a:cs typeface="Fraunces"/>
                <a:sym typeface="Fraunces"/>
              </a:rPr>
              <a:t>with receipts</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EC"/>
        </a:solidFill>
      </p:bgPr>
    </p:bg>
    <p:spTree>
      <p:nvGrpSpPr>
        <p:cNvPr id="37" name="Shape 37"/>
        <p:cNvGrpSpPr/>
        <p:nvPr/>
      </p:nvGrpSpPr>
      <p:grpSpPr>
        <a:xfrm>
          <a:off x="0" y="0"/>
          <a:ext cx="0" cy="0"/>
          <a:chOff x="0" y="0"/>
          <a:chExt cx="0" cy="0"/>
        </a:xfrm>
      </p:grpSpPr>
      <p:sp>
        <p:nvSpPr>
          <p:cNvPr id="38" name="Google Shape;38;p7"/>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Mono"/>
              <a:buNone/>
            </a:pPr>
            <a:r>
              <a:rPr b="0" i="0" lang="en-US" sz="1200" u="none" cap="none" strike="noStrike">
                <a:solidFill>
                  <a:srgbClr val="0F766E"/>
                </a:solidFill>
                <a:latin typeface="IBM Plex Mono"/>
                <a:ea typeface="IBM Plex Mono"/>
                <a:cs typeface="IBM Plex Mono"/>
                <a:sym typeface="IBM Plex Mono"/>
              </a:rPr>
              <a:t>01 · THE PROBLEM</a:t>
            </a:r>
            <a:endParaRPr b="0" i="0" sz="1200" u="none" cap="none" strike="noStrike">
              <a:solidFill>
                <a:schemeClr val="dk1"/>
              </a:solidFill>
              <a:latin typeface="Calibri"/>
              <a:ea typeface="Calibri"/>
              <a:cs typeface="Calibri"/>
              <a:sym typeface="Calibri"/>
            </a:endParaRPr>
          </a:p>
        </p:txBody>
      </p:sp>
      <p:sp>
        <p:nvSpPr>
          <p:cNvPr id="39" name="Google Shape;39;p7"/>
          <p:cNvSpPr/>
          <p:nvPr/>
        </p:nvSpPr>
        <p:spPr>
          <a:xfrm>
            <a:off x="812800" y="1280160"/>
            <a:ext cx="10883392"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B2A3B"/>
              </a:buClr>
              <a:buSzPts val="3600"/>
              <a:buFont typeface="Fraunces"/>
              <a:buNone/>
            </a:pPr>
            <a:r>
              <a:rPr b="0" i="0" lang="en-US" sz="3600" u="none" cap="none" strike="noStrike">
                <a:solidFill>
                  <a:srgbClr val="0B2A3B"/>
                </a:solidFill>
                <a:latin typeface="Fraunces"/>
                <a:ea typeface="Fraunces"/>
                <a:cs typeface="Fraunces"/>
                <a:sym typeface="Fraunces"/>
              </a:rPr>
              <a:t>Every trial value is typed twice</a:t>
            </a:r>
            <a:endParaRPr b="0" i="0" sz="3600" u="none" cap="none" strike="noStrike">
              <a:solidFill>
                <a:schemeClr val="dk1"/>
              </a:solidFill>
              <a:latin typeface="Calibri"/>
              <a:ea typeface="Calibri"/>
              <a:cs typeface="Calibri"/>
              <a:sym typeface="Calibri"/>
            </a:endParaRPr>
          </a:p>
        </p:txBody>
      </p:sp>
      <p:sp>
        <p:nvSpPr>
          <p:cNvPr id="40" name="Google Shape;40;p7"/>
          <p:cNvSpPr/>
          <p:nvPr/>
        </p:nvSpPr>
        <p:spPr>
          <a:xfrm>
            <a:off x="371600" y="2969275"/>
            <a:ext cx="6356100" cy="142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2A3B"/>
              </a:buClr>
              <a:buSzPts val="11000"/>
              <a:buFont typeface="Fraunces"/>
              <a:buNone/>
            </a:pPr>
            <a:r>
              <a:rPr b="1" i="0" lang="en-US" sz="9400" u="none" cap="none" strike="noStrike">
                <a:solidFill>
                  <a:srgbClr val="0B2A3B"/>
                </a:solidFill>
                <a:latin typeface="Fraunces"/>
                <a:ea typeface="Fraunces"/>
                <a:cs typeface="Fraunces"/>
                <a:sym typeface="Fraunces"/>
              </a:rPr>
              <a:t>290,000</a:t>
            </a:r>
            <a:endParaRPr b="0" i="0" sz="9400" u="none" cap="none" strike="noStrike">
              <a:solidFill>
                <a:schemeClr val="dk1"/>
              </a:solidFill>
              <a:latin typeface="Calibri"/>
              <a:ea typeface="Calibri"/>
              <a:cs typeface="Calibri"/>
              <a:sym typeface="Calibri"/>
            </a:endParaRPr>
          </a:p>
        </p:txBody>
      </p:sp>
      <p:sp>
        <p:nvSpPr>
          <p:cNvPr id="41" name="Google Shape;41;p7"/>
          <p:cNvSpPr/>
          <p:nvPr/>
        </p:nvSpPr>
        <p:spPr>
          <a:xfrm>
            <a:off x="812800" y="4516120"/>
            <a:ext cx="5914901"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D4B55"/>
              </a:buClr>
              <a:buSzPts val="1800"/>
              <a:buFont typeface="IBM Plex Sans"/>
              <a:buNone/>
            </a:pPr>
            <a:r>
              <a:rPr b="0" i="0" lang="en-US" sz="1800" u="none" cap="none" strike="noStrike">
                <a:solidFill>
                  <a:srgbClr val="3D4B55"/>
                </a:solidFill>
                <a:latin typeface="IBM Plex Sans"/>
                <a:ea typeface="IBM Plex Sans"/>
                <a:cs typeface="IBM Plex Sans"/>
                <a:sym typeface="IBM Plex Sans"/>
              </a:rPr>
              <a:t>data points in one Phase 3 trial</a:t>
            </a:r>
            <a:endParaRPr b="0" i="0" sz="1800" u="none" cap="none" strike="noStrike">
              <a:solidFill>
                <a:schemeClr val="dk1"/>
              </a:solidFill>
              <a:latin typeface="Calibri"/>
              <a:ea typeface="Calibri"/>
              <a:cs typeface="Calibri"/>
              <a:sym typeface="Calibri"/>
            </a:endParaRPr>
          </a:p>
        </p:txBody>
      </p:sp>
      <p:sp>
        <p:nvSpPr>
          <p:cNvPr id="42" name="Google Shape;42;p7"/>
          <p:cNvSpPr/>
          <p:nvPr/>
        </p:nvSpPr>
        <p:spPr>
          <a:xfrm>
            <a:off x="6968172" y="2650490"/>
            <a:ext cx="4404678" cy="1193800"/>
          </a:xfrm>
          <a:prstGeom prst="roundRect">
            <a:avLst>
              <a:gd fmla="val 5851" name="adj"/>
            </a:avLst>
          </a:prstGeom>
          <a:solidFill>
            <a:srgbClr val="FFFDF8"/>
          </a:solidFill>
          <a:ln cap="flat" cmpd="sng" w="12700">
            <a:solidFill>
              <a:srgbClr val="E2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7"/>
          <p:cNvSpPr/>
          <p:nvPr/>
        </p:nvSpPr>
        <p:spPr>
          <a:xfrm>
            <a:off x="7203122" y="2860040"/>
            <a:ext cx="4052821" cy="48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766E"/>
              </a:buClr>
              <a:buSzPts val="3600"/>
              <a:buFont typeface="Fraunces"/>
              <a:buNone/>
            </a:pPr>
            <a:r>
              <a:rPr b="1" i="0" lang="en-US" sz="3600" u="none" cap="none" strike="noStrike">
                <a:solidFill>
                  <a:srgbClr val="0F766E"/>
                </a:solidFill>
                <a:latin typeface="Fraunces"/>
                <a:ea typeface="Fraunces"/>
                <a:cs typeface="Fraunces"/>
                <a:sym typeface="Fraunces"/>
              </a:rPr>
              <a:t>15–30%</a:t>
            </a:r>
            <a:endParaRPr b="0" i="0" sz="3600" u="none" cap="none" strike="noStrike">
              <a:solidFill>
                <a:schemeClr val="dk1"/>
              </a:solidFill>
              <a:latin typeface="Calibri"/>
              <a:ea typeface="Calibri"/>
              <a:cs typeface="Calibri"/>
              <a:sym typeface="Calibri"/>
            </a:endParaRPr>
          </a:p>
        </p:txBody>
      </p:sp>
      <p:sp>
        <p:nvSpPr>
          <p:cNvPr id="44" name="Google Shape;44;p7"/>
          <p:cNvSpPr/>
          <p:nvPr/>
        </p:nvSpPr>
        <p:spPr>
          <a:xfrm>
            <a:off x="7203122" y="3368040"/>
            <a:ext cx="4052821"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D4B55"/>
              </a:buClr>
              <a:buSzPts val="1500"/>
              <a:buFont typeface="IBM Plex Sans"/>
              <a:buNone/>
            </a:pPr>
            <a:r>
              <a:rPr b="0" i="0" lang="en-US" sz="1500" u="none" cap="none" strike="noStrike">
                <a:solidFill>
                  <a:srgbClr val="3D4B55"/>
                </a:solidFill>
                <a:latin typeface="IBM Plex Sans"/>
                <a:ea typeface="IBM Plex Sans"/>
                <a:cs typeface="IBM Plex Sans"/>
                <a:sym typeface="IBM Plex Sans"/>
              </a:rPr>
              <a:t>of trial cost is checking</a:t>
            </a:r>
            <a:endParaRPr b="0" i="0" sz="1500" u="none" cap="none" strike="noStrike">
              <a:solidFill>
                <a:schemeClr val="dk1"/>
              </a:solidFill>
              <a:latin typeface="Calibri"/>
              <a:ea typeface="Calibri"/>
              <a:cs typeface="Calibri"/>
              <a:sym typeface="Calibri"/>
            </a:endParaRPr>
          </a:p>
        </p:txBody>
      </p:sp>
      <p:sp>
        <p:nvSpPr>
          <p:cNvPr id="45" name="Google Shape;45;p7"/>
          <p:cNvSpPr/>
          <p:nvPr/>
        </p:nvSpPr>
        <p:spPr>
          <a:xfrm>
            <a:off x="6968172" y="4034790"/>
            <a:ext cx="4404678" cy="1193800"/>
          </a:xfrm>
          <a:prstGeom prst="roundRect">
            <a:avLst>
              <a:gd fmla="val 5851" name="adj"/>
            </a:avLst>
          </a:prstGeom>
          <a:solidFill>
            <a:srgbClr val="FFFDF8"/>
          </a:solidFill>
          <a:ln cap="flat" cmpd="sng" w="12700">
            <a:solidFill>
              <a:srgbClr val="E2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7"/>
          <p:cNvSpPr/>
          <p:nvPr/>
        </p:nvSpPr>
        <p:spPr>
          <a:xfrm>
            <a:off x="7203122" y="4244340"/>
            <a:ext cx="4052821" cy="48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2410C"/>
              </a:buClr>
              <a:buSzPts val="3600"/>
              <a:buFont typeface="Fraunces"/>
              <a:buNone/>
            </a:pPr>
            <a:r>
              <a:rPr b="1" i="0" lang="en-US" sz="3600" u="none" cap="none" strike="noStrike">
                <a:solidFill>
                  <a:srgbClr val="C2410C"/>
                </a:solidFill>
                <a:latin typeface="Fraunces"/>
                <a:ea typeface="Fraunces"/>
                <a:cs typeface="Fraunces"/>
                <a:sym typeface="Fraunces"/>
              </a:rPr>
              <a:t>8 days</a:t>
            </a:r>
            <a:endParaRPr b="0" i="0" sz="3600" u="none" cap="none" strike="noStrike">
              <a:solidFill>
                <a:schemeClr val="dk1"/>
              </a:solidFill>
              <a:latin typeface="Calibri"/>
              <a:ea typeface="Calibri"/>
              <a:cs typeface="Calibri"/>
              <a:sym typeface="Calibri"/>
            </a:endParaRPr>
          </a:p>
        </p:txBody>
      </p:sp>
      <p:sp>
        <p:nvSpPr>
          <p:cNvPr id="47" name="Google Shape;47;p7"/>
          <p:cNvSpPr/>
          <p:nvPr/>
        </p:nvSpPr>
        <p:spPr>
          <a:xfrm>
            <a:off x="7203122" y="4752340"/>
            <a:ext cx="4052821"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D4B55"/>
              </a:buClr>
              <a:buSzPts val="1500"/>
              <a:buFont typeface="IBM Plex Sans"/>
              <a:buNone/>
            </a:pPr>
            <a:r>
              <a:rPr b="0" i="0" lang="en-US" sz="1500" u="none" cap="none" strike="noStrike">
                <a:solidFill>
                  <a:srgbClr val="3D4B55"/>
                </a:solidFill>
                <a:latin typeface="IBM Plex Sans"/>
                <a:ea typeface="IBM Plex Sans"/>
                <a:cs typeface="IBM Plex Sans"/>
                <a:sym typeface="IBM Plex Sans"/>
              </a:rPr>
              <a:t>from visit to data entry</a:t>
            </a:r>
            <a:endParaRPr b="0" i="0" sz="1500" u="none" cap="none" strike="noStrike">
              <a:solidFill>
                <a:schemeClr val="dk1"/>
              </a:solidFill>
              <a:latin typeface="Calibri"/>
              <a:ea typeface="Calibri"/>
              <a:cs typeface="Calibri"/>
              <a:sym typeface="Calibri"/>
            </a:endParaRPr>
          </a:p>
        </p:txBody>
      </p:sp>
      <p:sp>
        <p:nvSpPr>
          <p:cNvPr id="48" name="Google Shape;48;p7"/>
          <p:cNvSpPr/>
          <p:nvPr/>
        </p:nvSpPr>
        <p:spPr>
          <a:xfrm>
            <a:off x="10312400" y="6238241"/>
            <a:ext cx="106680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9AA5AA"/>
              </a:buClr>
              <a:buSzPts val="1200"/>
              <a:buFont typeface="IBM Plex Mono"/>
              <a:buNone/>
            </a:pPr>
            <a:r>
              <a:rPr b="0" i="0" lang="en-US" sz="1200" u="none" cap="none" strike="noStrike">
                <a:solidFill>
                  <a:srgbClr val="9AA5AA"/>
                </a:solidFill>
                <a:latin typeface="IBM Plex Mono"/>
                <a:ea typeface="IBM Plex Mono"/>
                <a:cs typeface="IBM Plex Mono"/>
                <a:sym typeface="IBM Plex Mono"/>
              </a:rPr>
              <a:t>02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8"/>
          <p:cNvSpPr/>
          <p:nvPr/>
        </p:nvSpPr>
        <p:spPr>
          <a:xfrm>
            <a:off x="7505700" y="14922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a:off x="7899400" y="14922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a:off x="8293100" y="14922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8"/>
          <p:cNvSpPr/>
          <p:nvPr/>
        </p:nvSpPr>
        <p:spPr>
          <a:xfrm>
            <a:off x="8686800" y="14922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a:off x="9080500" y="14922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8"/>
          <p:cNvSpPr/>
          <p:nvPr/>
        </p:nvSpPr>
        <p:spPr>
          <a:xfrm>
            <a:off x="9474200" y="14922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8"/>
          <p:cNvSpPr/>
          <p:nvPr/>
        </p:nvSpPr>
        <p:spPr>
          <a:xfrm>
            <a:off x="9867900" y="14922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8"/>
          <p:cNvSpPr/>
          <p:nvPr/>
        </p:nvSpPr>
        <p:spPr>
          <a:xfrm>
            <a:off x="10261600" y="14922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8"/>
          <p:cNvSpPr/>
          <p:nvPr/>
        </p:nvSpPr>
        <p:spPr>
          <a:xfrm>
            <a:off x="10655300" y="14922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8"/>
          <p:cNvSpPr/>
          <p:nvPr/>
        </p:nvSpPr>
        <p:spPr>
          <a:xfrm>
            <a:off x="11049000" y="14922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8"/>
          <p:cNvSpPr/>
          <p:nvPr/>
        </p:nvSpPr>
        <p:spPr>
          <a:xfrm>
            <a:off x="7505700" y="18859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8"/>
          <p:cNvSpPr/>
          <p:nvPr/>
        </p:nvSpPr>
        <p:spPr>
          <a:xfrm>
            <a:off x="7899400" y="18859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8"/>
          <p:cNvSpPr/>
          <p:nvPr/>
        </p:nvSpPr>
        <p:spPr>
          <a:xfrm>
            <a:off x="8293100" y="18859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8"/>
          <p:cNvSpPr/>
          <p:nvPr/>
        </p:nvSpPr>
        <p:spPr>
          <a:xfrm>
            <a:off x="8686800" y="18859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8"/>
          <p:cNvSpPr/>
          <p:nvPr/>
        </p:nvSpPr>
        <p:spPr>
          <a:xfrm>
            <a:off x="9080500" y="18859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8"/>
          <p:cNvSpPr/>
          <p:nvPr/>
        </p:nvSpPr>
        <p:spPr>
          <a:xfrm>
            <a:off x="9474200" y="18859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8"/>
          <p:cNvSpPr/>
          <p:nvPr/>
        </p:nvSpPr>
        <p:spPr>
          <a:xfrm>
            <a:off x="9867900" y="18859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8"/>
          <p:cNvSpPr/>
          <p:nvPr/>
        </p:nvSpPr>
        <p:spPr>
          <a:xfrm>
            <a:off x="10261600" y="18859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a:off x="10655300" y="18859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a:off x="11049000" y="18859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a:off x="7505700" y="22796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a:off x="7899400" y="22796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a:off x="8293100" y="22796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a:off x="8686800" y="22796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a:off x="9080500" y="22796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a:off x="9474200" y="22796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a:off x="9867900" y="22796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a:off x="10261600" y="22796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10655300" y="22796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11049000" y="22796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a:off x="7505700" y="26733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7899400" y="26733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a:off x="8293100" y="26733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8686800" y="26733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9080500" y="26733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a:off x="9474200" y="26733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a:off x="9867900" y="26733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10261600" y="26733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10655300" y="26733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a:off x="11049000" y="26733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a:off x="7505700" y="30670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a:off x="7899400" y="30670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a:off x="8293100" y="30670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8"/>
          <p:cNvSpPr/>
          <p:nvPr/>
        </p:nvSpPr>
        <p:spPr>
          <a:xfrm>
            <a:off x="8686800" y="30670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9080500" y="30670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8"/>
          <p:cNvSpPr/>
          <p:nvPr/>
        </p:nvSpPr>
        <p:spPr>
          <a:xfrm>
            <a:off x="9474200" y="30670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p:nvPr/>
        </p:nvSpPr>
        <p:spPr>
          <a:xfrm>
            <a:off x="9867900" y="30670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8"/>
          <p:cNvSpPr/>
          <p:nvPr/>
        </p:nvSpPr>
        <p:spPr>
          <a:xfrm>
            <a:off x="10261600" y="30670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8"/>
          <p:cNvSpPr/>
          <p:nvPr/>
        </p:nvSpPr>
        <p:spPr>
          <a:xfrm>
            <a:off x="10655300" y="30670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8"/>
          <p:cNvSpPr/>
          <p:nvPr/>
        </p:nvSpPr>
        <p:spPr>
          <a:xfrm>
            <a:off x="11049000" y="30670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8"/>
          <p:cNvSpPr/>
          <p:nvPr/>
        </p:nvSpPr>
        <p:spPr>
          <a:xfrm>
            <a:off x="7505700" y="34607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
          <p:cNvSpPr/>
          <p:nvPr/>
        </p:nvSpPr>
        <p:spPr>
          <a:xfrm>
            <a:off x="7899400" y="34607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p:cNvSpPr/>
          <p:nvPr/>
        </p:nvSpPr>
        <p:spPr>
          <a:xfrm>
            <a:off x="8293100" y="34607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8"/>
          <p:cNvSpPr/>
          <p:nvPr/>
        </p:nvSpPr>
        <p:spPr>
          <a:xfrm>
            <a:off x="8686800" y="34607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8"/>
          <p:cNvSpPr/>
          <p:nvPr/>
        </p:nvSpPr>
        <p:spPr>
          <a:xfrm>
            <a:off x="9080500" y="34607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p:nvPr/>
        </p:nvSpPr>
        <p:spPr>
          <a:xfrm>
            <a:off x="9474200" y="34607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8"/>
          <p:cNvSpPr/>
          <p:nvPr/>
        </p:nvSpPr>
        <p:spPr>
          <a:xfrm>
            <a:off x="9867900" y="34607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8"/>
          <p:cNvSpPr/>
          <p:nvPr/>
        </p:nvSpPr>
        <p:spPr>
          <a:xfrm>
            <a:off x="10261600" y="34607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8"/>
          <p:cNvSpPr/>
          <p:nvPr/>
        </p:nvSpPr>
        <p:spPr>
          <a:xfrm>
            <a:off x="10655300" y="34607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8"/>
          <p:cNvSpPr/>
          <p:nvPr/>
        </p:nvSpPr>
        <p:spPr>
          <a:xfrm>
            <a:off x="11049000" y="34607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8"/>
          <p:cNvSpPr/>
          <p:nvPr/>
        </p:nvSpPr>
        <p:spPr>
          <a:xfrm>
            <a:off x="7505700" y="38544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7899400" y="38544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a:off x="8293100" y="38544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a:off x="8686800" y="38544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8"/>
          <p:cNvSpPr/>
          <p:nvPr/>
        </p:nvSpPr>
        <p:spPr>
          <a:xfrm>
            <a:off x="9080500" y="38544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
          <p:cNvSpPr/>
          <p:nvPr/>
        </p:nvSpPr>
        <p:spPr>
          <a:xfrm>
            <a:off x="9474200" y="38544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a:off x="9867900" y="38544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a:off x="10261600" y="38544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a:off x="10655300" y="38544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p:nvPr/>
        </p:nvSpPr>
        <p:spPr>
          <a:xfrm>
            <a:off x="11049000" y="38544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7505700" y="42481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7899400" y="42481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p:nvPr/>
        </p:nvSpPr>
        <p:spPr>
          <a:xfrm>
            <a:off x="8293100" y="42481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p:nvPr/>
        </p:nvSpPr>
        <p:spPr>
          <a:xfrm>
            <a:off x="8686800" y="42481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9080500" y="42481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p:nvPr/>
        </p:nvSpPr>
        <p:spPr>
          <a:xfrm>
            <a:off x="9474200" y="42481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9867900" y="42481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10261600" y="42481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10655300" y="42481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p:nvPr/>
        </p:nvSpPr>
        <p:spPr>
          <a:xfrm>
            <a:off x="11049000" y="42481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7505700" y="46418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7899400" y="46418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8293100" y="4641850"/>
            <a:ext cx="330200" cy="330200"/>
          </a:xfrm>
          <a:prstGeom prst="roundRect">
            <a:avLst>
              <a:gd fmla="val 15385" name="adj"/>
            </a:avLst>
          </a:prstGeom>
          <a:solidFill>
            <a:srgbClr val="F2C14E"/>
          </a:solidFill>
          <a:ln>
            <a:noFill/>
          </a:ln>
          <a:effectLst>
            <a:outerShdw blurRad="101600" rotWithShape="0" algn="bl">
              <a:srgbClr val="F2C14E">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8693150" y="4648200"/>
            <a:ext cx="317500" cy="317500"/>
          </a:xfrm>
          <a:prstGeom prst="roundRect">
            <a:avLst>
              <a:gd fmla="val 14000"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9086850" y="4648200"/>
            <a:ext cx="317500" cy="317500"/>
          </a:xfrm>
          <a:prstGeom prst="roundRect">
            <a:avLst>
              <a:gd fmla="val 14000"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9480550" y="4648200"/>
            <a:ext cx="317500" cy="317500"/>
          </a:xfrm>
          <a:prstGeom prst="roundRect">
            <a:avLst>
              <a:gd fmla="val 14000"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9874250" y="4648200"/>
            <a:ext cx="317500" cy="317500"/>
          </a:xfrm>
          <a:prstGeom prst="roundRect">
            <a:avLst>
              <a:gd fmla="val 14000"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10267950" y="4648200"/>
            <a:ext cx="317500" cy="317500"/>
          </a:xfrm>
          <a:prstGeom prst="roundRect">
            <a:avLst>
              <a:gd fmla="val 14000"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10661650" y="4648200"/>
            <a:ext cx="317500" cy="317500"/>
          </a:xfrm>
          <a:prstGeom prst="roundRect">
            <a:avLst>
              <a:gd fmla="val 14000"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11055350" y="4648200"/>
            <a:ext cx="317500" cy="317500"/>
          </a:xfrm>
          <a:prstGeom prst="roundRect">
            <a:avLst>
              <a:gd fmla="val 14000"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7512050" y="5041900"/>
            <a:ext cx="317500" cy="317500"/>
          </a:xfrm>
          <a:prstGeom prst="roundRect">
            <a:avLst>
              <a:gd fmla="val 14000"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7905750" y="5041900"/>
            <a:ext cx="317500" cy="317500"/>
          </a:xfrm>
          <a:prstGeom prst="roundRect">
            <a:avLst>
              <a:gd fmla="val 14000"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8299450" y="5041900"/>
            <a:ext cx="317500" cy="317500"/>
          </a:xfrm>
          <a:prstGeom prst="roundRect">
            <a:avLst>
              <a:gd fmla="val 14000"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8693150" y="5041900"/>
            <a:ext cx="317500" cy="317500"/>
          </a:xfrm>
          <a:prstGeom prst="roundRect">
            <a:avLst>
              <a:gd fmla="val 14000"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9086850" y="5041900"/>
            <a:ext cx="317500" cy="317500"/>
          </a:xfrm>
          <a:prstGeom prst="roundRect">
            <a:avLst>
              <a:gd fmla="val 14000"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9480550" y="5041900"/>
            <a:ext cx="317500" cy="317500"/>
          </a:xfrm>
          <a:prstGeom prst="roundRect">
            <a:avLst>
              <a:gd fmla="val 14000"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9874250" y="5041900"/>
            <a:ext cx="317500" cy="317500"/>
          </a:xfrm>
          <a:prstGeom prst="roundRect">
            <a:avLst>
              <a:gd fmla="val 14000"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p:nvPr/>
        </p:nvSpPr>
        <p:spPr>
          <a:xfrm>
            <a:off x="10267950" y="5041900"/>
            <a:ext cx="317500" cy="317500"/>
          </a:xfrm>
          <a:prstGeom prst="roundRect">
            <a:avLst>
              <a:gd fmla="val 14000"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
          <p:cNvSpPr/>
          <p:nvPr/>
        </p:nvSpPr>
        <p:spPr>
          <a:xfrm>
            <a:off x="10661650" y="5041900"/>
            <a:ext cx="317500" cy="317500"/>
          </a:xfrm>
          <a:prstGeom prst="roundRect">
            <a:avLst>
              <a:gd fmla="val 14000"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11055350" y="5041900"/>
            <a:ext cx="317500" cy="317500"/>
          </a:xfrm>
          <a:prstGeom prst="roundRect">
            <a:avLst>
              <a:gd fmla="val 14000"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ne" id="154" name="Google Shape;154;p8"/>
          <p:cNvPicPr preferRelativeResize="0"/>
          <p:nvPr/>
        </p:nvPicPr>
        <p:blipFill rotWithShape="1">
          <a:blip r:embed="rId3">
            <a:alphaModFix/>
          </a:blip>
          <a:srcRect b="0" l="0" r="0" t="0"/>
          <a:stretch/>
        </p:blipFill>
        <p:spPr>
          <a:xfrm>
            <a:off x="7442200" y="4578350"/>
            <a:ext cx="4000500" cy="50800"/>
          </a:xfrm>
          <a:prstGeom prst="rect">
            <a:avLst/>
          </a:prstGeom>
          <a:noFill/>
          <a:ln>
            <a:noFill/>
          </a:ln>
        </p:spPr>
      </p:pic>
      <p:sp>
        <p:nvSpPr>
          <p:cNvPr id="155" name="Google Shape;155;p8"/>
          <p:cNvSpPr/>
          <p:nvPr/>
        </p:nvSpPr>
        <p:spPr>
          <a:xfrm>
            <a:off x="5536565" y="4381500"/>
            <a:ext cx="1765935" cy="42164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F6F3EC"/>
              </a:buClr>
              <a:buSzPts val="1200"/>
              <a:buFont typeface="IBM Plex Mono"/>
              <a:buNone/>
            </a:pPr>
            <a:r>
              <a:rPr b="1" i="0" lang="en-US" sz="1200" u="none" cap="none" strike="noStrike">
                <a:solidFill>
                  <a:srgbClr val="F6F3EC"/>
                </a:solidFill>
                <a:latin typeface="IBM Plex Mono"/>
                <a:ea typeface="IBM Plex Mono"/>
                <a:cs typeface="IBM Plex Mono"/>
                <a:sym typeface="IBM Plex Mono"/>
              </a:rPr>
              <a:t>CONNECTORS STOP HERE →</a:t>
            </a:r>
            <a:endParaRPr b="0" i="0" sz="1200" u="none" cap="none" strike="noStrike">
              <a:solidFill>
                <a:schemeClr val="dk1"/>
              </a:solidFill>
              <a:latin typeface="Calibri"/>
              <a:ea typeface="Calibri"/>
              <a:cs typeface="Calibri"/>
              <a:sym typeface="Calibri"/>
            </a:endParaRPr>
          </a:p>
        </p:txBody>
      </p:sp>
      <p:sp>
        <p:nvSpPr>
          <p:cNvPr id="156" name="Google Shape;156;p8"/>
          <p:cNvSpPr/>
          <p:nvPr/>
        </p:nvSpPr>
        <p:spPr>
          <a:xfrm>
            <a:off x="7505700" y="5554980"/>
            <a:ext cx="165100" cy="165100"/>
          </a:xfrm>
          <a:prstGeom prst="roundRect">
            <a:avLst>
              <a:gd fmla="val 23077" name="adj"/>
            </a:avLst>
          </a:prstGeom>
          <a:solidFill>
            <a:srgbClr val="F2C1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
          <p:cNvSpPr/>
          <p:nvPr/>
        </p:nvSpPr>
        <p:spPr>
          <a:xfrm>
            <a:off x="7734300" y="5530850"/>
            <a:ext cx="1195340"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DD3"/>
              </a:buClr>
              <a:buSzPts val="1200"/>
              <a:buFont typeface="IBM Plex Sans"/>
              <a:buNone/>
            </a:pPr>
            <a:r>
              <a:rPr b="0" i="0" lang="en-US" sz="1200" u="none" cap="none" strike="noStrike">
                <a:solidFill>
                  <a:srgbClr val="B9CDD3"/>
                </a:solidFill>
                <a:latin typeface="IBM Plex Sans"/>
                <a:ea typeface="IBM Plex Sans"/>
                <a:cs typeface="IBM Plex Sans"/>
                <a:sym typeface="IBM Plex Sans"/>
              </a:rPr>
              <a:t>Typed by hand</a:t>
            </a:r>
            <a:endParaRPr b="0" i="0" sz="1200" u="none" cap="none" strike="noStrike">
              <a:solidFill>
                <a:schemeClr val="dk1"/>
              </a:solidFill>
              <a:latin typeface="Calibri"/>
              <a:ea typeface="Calibri"/>
              <a:cs typeface="Calibri"/>
              <a:sym typeface="Calibri"/>
            </a:endParaRPr>
          </a:p>
        </p:txBody>
      </p:sp>
      <p:sp>
        <p:nvSpPr>
          <p:cNvPr id="158" name="Google Shape;158;p8"/>
          <p:cNvSpPr/>
          <p:nvPr/>
        </p:nvSpPr>
        <p:spPr>
          <a:xfrm>
            <a:off x="8939967" y="5561330"/>
            <a:ext cx="152400" cy="152400"/>
          </a:xfrm>
          <a:prstGeom prst="roundRect">
            <a:avLst>
              <a:gd fmla="val 20833" name="adj"/>
            </a:avLst>
          </a:prstGeom>
          <a:solidFill>
            <a:srgbClr val="13394B"/>
          </a:solidFill>
          <a:ln cap="flat" cmpd="sng" w="12700">
            <a:solidFill>
              <a:srgbClr val="2A7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
          <p:cNvSpPr/>
          <p:nvPr/>
        </p:nvSpPr>
        <p:spPr>
          <a:xfrm>
            <a:off x="9162217" y="5530850"/>
            <a:ext cx="914257"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DD3"/>
              </a:buClr>
              <a:buSzPts val="1200"/>
              <a:buFont typeface="IBM Plex Sans"/>
              <a:buNone/>
            </a:pPr>
            <a:r>
              <a:rPr b="0" i="0" lang="en-US" sz="1200" u="none" cap="none" strike="noStrike">
                <a:solidFill>
                  <a:srgbClr val="B9CDD3"/>
                </a:solidFill>
                <a:latin typeface="IBM Plex Sans"/>
                <a:ea typeface="IBM Plex Sans"/>
                <a:cs typeface="IBM Plex Sans"/>
                <a:sym typeface="IBM Plex Sans"/>
              </a:rPr>
              <a:t>Automated</a:t>
            </a:r>
            <a:endParaRPr b="0" i="0" sz="1200" u="none" cap="none" strike="noStrike">
              <a:solidFill>
                <a:schemeClr val="dk1"/>
              </a:solidFill>
              <a:latin typeface="Calibri"/>
              <a:ea typeface="Calibri"/>
              <a:cs typeface="Calibri"/>
              <a:sym typeface="Calibri"/>
            </a:endParaRPr>
          </a:p>
        </p:txBody>
      </p:sp>
      <p:sp>
        <p:nvSpPr>
          <p:cNvPr id="160" name="Google Shape;160;p8"/>
          <p:cNvSpPr/>
          <p:nvPr/>
        </p:nvSpPr>
        <p:spPr>
          <a:xfrm>
            <a:off x="812800" y="985520"/>
            <a:ext cx="4970780"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Mono"/>
              <a:buNone/>
            </a:pPr>
            <a:r>
              <a:rPr b="0" i="0" lang="en-US" sz="1200" u="none" cap="none" strike="noStrike">
                <a:solidFill>
                  <a:srgbClr val="2DD4BF"/>
                </a:solidFill>
                <a:latin typeface="IBM Plex Mono"/>
                <a:ea typeface="IBM Plex Mono"/>
                <a:cs typeface="IBM Plex Mono"/>
                <a:sym typeface="IBM Plex Mono"/>
              </a:rPr>
              <a:t>02 · THE GAP</a:t>
            </a:r>
            <a:endParaRPr b="0" i="0" sz="1200" u="none" cap="none" strike="noStrike">
              <a:solidFill>
                <a:schemeClr val="dk1"/>
              </a:solidFill>
              <a:latin typeface="Calibri"/>
              <a:ea typeface="Calibri"/>
              <a:cs typeface="Calibri"/>
              <a:sym typeface="Calibri"/>
            </a:endParaRPr>
          </a:p>
        </p:txBody>
      </p:sp>
      <p:sp>
        <p:nvSpPr>
          <p:cNvPr id="161" name="Google Shape;161;p8"/>
          <p:cNvSpPr/>
          <p:nvPr/>
        </p:nvSpPr>
        <p:spPr>
          <a:xfrm>
            <a:off x="812800" y="1376680"/>
            <a:ext cx="4970780" cy="193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2C14E"/>
              </a:buClr>
              <a:buSzPts val="15000"/>
              <a:buFont typeface="Fraunces"/>
              <a:buNone/>
            </a:pPr>
            <a:r>
              <a:rPr b="1" i="0" lang="en-US" sz="15000" u="none" cap="none" strike="noStrike">
                <a:solidFill>
                  <a:srgbClr val="F2C14E"/>
                </a:solidFill>
                <a:latin typeface="Fraunces"/>
                <a:ea typeface="Fraunces"/>
                <a:cs typeface="Fraunces"/>
                <a:sym typeface="Fraunces"/>
              </a:rPr>
              <a:t>83%</a:t>
            </a:r>
            <a:endParaRPr b="0" i="0" sz="15000" u="none" cap="none" strike="noStrike">
              <a:solidFill>
                <a:schemeClr val="dk1"/>
              </a:solidFill>
              <a:latin typeface="Calibri"/>
              <a:ea typeface="Calibri"/>
              <a:cs typeface="Calibri"/>
              <a:sym typeface="Calibri"/>
            </a:endParaRPr>
          </a:p>
        </p:txBody>
      </p:sp>
      <p:sp>
        <p:nvSpPr>
          <p:cNvPr id="162" name="Google Shape;162;p8"/>
          <p:cNvSpPr/>
          <p:nvPr/>
        </p:nvSpPr>
        <p:spPr>
          <a:xfrm>
            <a:off x="812800" y="3459480"/>
            <a:ext cx="4709160" cy="9194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3EC"/>
              </a:buClr>
              <a:buSzPts val="3200"/>
              <a:buFont typeface="Fraunces"/>
              <a:buNone/>
            </a:pPr>
            <a:r>
              <a:rPr b="0" i="0" lang="en-US" sz="3200" u="none" cap="none" strike="noStrike">
                <a:solidFill>
                  <a:srgbClr val="F6F3EC"/>
                </a:solidFill>
                <a:latin typeface="Fraunces"/>
                <a:ea typeface="Fraunces"/>
                <a:cs typeface="Fraunces"/>
                <a:sym typeface="Fraunces"/>
              </a:rPr>
              <a:t>of trial data is still typed by hand</a:t>
            </a:r>
            <a:endParaRPr b="0" i="0" sz="3200" u="none" cap="none" strike="noStrike">
              <a:solidFill>
                <a:schemeClr val="dk1"/>
              </a:solidFill>
              <a:latin typeface="Calibri"/>
              <a:ea typeface="Calibri"/>
              <a:cs typeface="Calibri"/>
              <a:sym typeface="Calibri"/>
            </a:endParaRPr>
          </a:p>
        </p:txBody>
      </p:sp>
      <p:sp>
        <p:nvSpPr>
          <p:cNvPr id="163" name="Google Shape;163;p8"/>
          <p:cNvSpPr/>
          <p:nvPr/>
        </p:nvSpPr>
        <p:spPr>
          <a:xfrm>
            <a:off x="812800" y="4531361"/>
            <a:ext cx="4709160"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DD3"/>
              </a:buClr>
              <a:buSzPts val="1500"/>
              <a:buFont typeface="IBM Plex Sans"/>
              <a:buNone/>
            </a:pPr>
            <a:r>
              <a:rPr b="0" i="0" lang="en-US" sz="1500" u="none" cap="none" strike="noStrike">
                <a:solidFill>
                  <a:srgbClr val="B9CDD3"/>
                </a:solidFill>
                <a:latin typeface="IBM Plex Sans"/>
                <a:ea typeface="IBM Plex Sans"/>
                <a:cs typeface="IBM Plex Sans"/>
                <a:sym typeface="IBM Plex Sans"/>
              </a:rPr>
              <a:t>Faxes, scans, clinic notes — beyond what connectors can reach</a:t>
            </a:r>
            <a:endParaRPr b="0" i="0" sz="1500" u="none" cap="none" strike="noStrike">
              <a:solidFill>
                <a:schemeClr val="dk1"/>
              </a:solidFill>
              <a:latin typeface="Calibri"/>
              <a:ea typeface="Calibri"/>
              <a:cs typeface="Calibri"/>
              <a:sym typeface="Calibri"/>
            </a:endParaRPr>
          </a:p>
        </p:txBody>
      </p:sp>
      <p:sp>
        <p:nvSpPr>
          <p:cNvPr id="164" name="Google Shape;164;p8"/>
          <p:cNvSpPr/>
          <p:nvPr/>
        </p:nvSpPr>
        <p:spPr>
          <a:xfrm>
            <a:off x="812800" y="5242561"/>
            <a:ext cx="4709160" cy="4521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FA1AB"/>
              </a:buClr>
              <a:buSzPts val="1200"/>
              <a:buFont typeface="IBM Plex Mono"/>
              <a:buNone/>
            </a:pPr>
            <a:r>
              <a:rPr b="0" i="0" lang="en-US" sz="1200" u="none" cap="none" strike="noStrike">
                <a:solidFill>
                  <a:srgbClr val="7FA1AB"/>
                </a:solidFill>
                <a:latin typeface="IBM Plex Mono"/>
                <a:ea typeface="IBM Plex Mono"/>
                <a:cs typeface="IBM Plex Mono"/>
                <a:sym typeface="IBM Plex Mono"/>
              </a:rPr>
              <a:t>TransFAIR study · BMJ Health &amp; Care Informatics, 2023</a:t>
            </a:r>
            <a:endParaRPr b="0" i="0" sz="1200" u="none" cap="none" strike="noStrike">
              <a:solidFill>
                <a:schemeClr val="dk1"/>
              </a:solidFill>
              <a:latin typeface="Calibri"/>
              <a:ea typeface="Calibri"/>
              <a:cs typeface="Calibri"/>
              <a:sym typeface="Calibri"/>
            </a:endParaRPr>
          </a:p>
        </p:txBody>
      </p:sp>
      <p:sp>
        <p:nvSpPr>
          <p:cNvPr id="165" name="Google Shape;165;p8"/>
          <p:cNvSpPr/>
          <p:nvPr/>
        </p:nvSpPr>
        <p:spPr>
          <a:xfrm>
            <a:off x="10312400" y="6238241"/>
            <a:ext cx="106680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7F89"/>
              </a:buClr>
              <a:buSzPts val="1200"/>
              <a:buFont typeface="IBM Plex Mono"/>
              <a:buNone/>
            </a:pPr>
            <a:r>
              <a:rPr b="0" i="0" lang="en-US" sz="1200" u="none" cap="none" strike="noStrike">
                <a:solidFill>
                  <a:srgbClr val="5E7F89"/>
                </a:solidFill>
                <a:latin typeface="IBM Plex Mono"/>
                <a:ea typeface="IBM Plex Mono"/>
                <a:cs typeface="IBM Plex Mono"/>
                <a:sym typeface="IBM Plex Mono"/>
              </a:rPr>
              <a:t>03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C14E"/>
        </a:solidFill>
      </p:bgPr>
    </p:bg>
    <p:spTree>
      <p:nvGrpSpPr>
        <p:cNvPr id="170" name="Shape 170"/>
        <p:cNvGrpSpPr/>
        <p:nvPr/>
      </p:nvGrpSpPr>
      <p:grpSpPr>
        <a:xfrm>
          <a:off x="0" y="0"/>
          <a:ext cx="0" cy="0"/>
          <a:chOff x="0" y="0"/>
          <a:chExt cx="0" cy="0"/>
        </a:xfrm>
      </p:grpSpPr>
      <p:sp>
        <p:nvSpPr>
          <p:cNvPr id="171" name="Google Shape;171;p9"/>
          <p:cNvSpPr/>
          <p:nvPr/>
        </p:nvSpPr>
        <p:spPr>
          <a:xfrm>
            <a:off x="812800" y="1439545"/>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4410"/>
              </a:buClr>
              <a:buSzPts val="1200"/>
              <a:buFont typeface="IBM Plex Mono"/>
              <a:buNone/>
            </a:pPr>
            <a:r>
              <a:rPr b="0" i="0" lang="en-US" sz="1200" u="none" cap="none" strike="noStrike">
                <a:solidFill>
                  <a:srgbClr val="5A4410"/>
                </a:solidFill>
                <a:latin typeface="IBM Plex Mono"/>
                <a:ea typeface="IBM Plex Mono"/>
                <a:cs typeface="IBM Plex Mono"/>
                <a:sym typeface="IBM Plex Mono"/>
              </a:rPr>
              <a:t>03 · OUR ANSWER</a:t>
            </a:r>
            <a:endParaRPr b="0" i="0" sz="1200" u="none" cap="none" strike="noStrike">
              <a:solidFill>
                <a:schemeClr val="dk1"/>
              </a:solidFill>
              <a:latin typeface="Calibri"/>
              <a:ea typeface="Calibri"/>
              <a:cs typeface="Calibri"/>
              <a:sym typeface="Calibri"/>
            </a:endParaRPr>
          </a:p>
        </p:txBody>
      </p:sp>
      <p:sp>
        <p:nvSpPr>
          <p:cNvPr id="172" name="Google Shape;172;p9"/>
          <p:cNvSpPr/>
          <p:nvPr/>
        </p:nvSpPr>
        <p:spPr>
          <a:xfrm>
            <a:off x="812800" y="1957705"/>
            <a:ext cx="10464800" cy="16256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0B2A3B"/>
              </a:buClr>
              <a:buSzPts val="6000"/>
              <a:buFont typeface="Fraunces"/>
              <a:buNone/>
            </a:pPr>
            <a:r>
              <a:rPr b="1" i="0" lang="en-US" sz="6000" u="none" cap="none" strike="noStrike">
                <a:solidFill>
                  <a:srgbClr val="0B2A3B"/>
                </a:solidFill>
                <a:latin typeface="Fraunces"/>
                <a:ea typeface="Fraunces"/>
                <a:cs typeface="Fraunces"/>
                <a:sym typeface="Fraunces"/>
              </a:rPr>
              <a:t>One rule: every value is cited and </a:t>
            </a:r>
            <a:r>
              <a:rPr b="1" i="1" lang="en-US" sz="6000" u="none" cap="none" strike="noStrike">
                <a:solidFill>
                  <a:srgbClr val="0B2A3B"/>
                </a:solidFill>
                <a:latin typeface="Fraunces"/>
                <a:ea typeface="Fraunces"/>
                <a:cs typeface="Fraunces"/>
                <a:sym typeface="Fraunces"/>
              </a:rPr>
              <a:t>traceable</a:t>
            </a:r>
            <a:endParaRPr b="0" i="0" sz="6000" u="none" cap="none" strike="noStrike">
              <a:solidFill>
                <a:schemeClr val="dk1"/>
              </a:solidFill>
              <a:latin typeface="Calibri"/>
              <a:ea typeface="Calibri"/>
              <a:cs typeface="Calibri"/>
              <a:sym typeface="Calibri"/>
            </a:endParaRPr>
          </a:p>
        </p:txBody>
      </p:sp>
      <p:sp>
        <p:nvSpPr>
          <p:cNvPr id="173" name="Google Shape;173;p9"/>
          <p:cNvSpPr/>
          <p:nvPr/>
        </p:nvSpPr>
        <p:spPr>
          <a:xfrm>
            <a:off x="812800" y="3862705"/>
            <a:ext cx="10883392"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B2E0C"/>
              </a:buClr>
              <a:buSzPts val="2000"/>
              <a:buFont typeface="IBM Plex Sans"/>
              <a:buNone/>
            </a:pPr>
            <a:r>
              <a:rPr b="0" i="0" lang="en-US" sz="2000" u="none" cap="none" strike="noStrike">
                <a:solidFill>
                  <a:srgbClr val="3B2E0C"/>
                </a:solidFill>
                <a:latin typeface="IBM Plex Sans"/>
                <a:ea typeface="IBM Plex Sans"/>
                <a:cs typeface="IBM Plex Sans"/>
                <a:sym typeface="IBM Plex Sans"/>
              </a:rPr>
              <a:t>Sourced reads the other 83% — no receipt, no value</a:t>
            </a:r>
            <a:endParaRPr b="0" i="0" sz="2000" u="none" cap="none" strike="noStrike">
              <a:solidFill>
                <a:schemeClr val="dk1"/>
              </a:solidFill>
              <a:latin typeface="Calibri"/>
              <a:ea typeface="Calibri"/>
              <a:cs typeface="Calibri"/>
              <a:sym typeface="Calibri"/>
            </a:endParaRPr>
          </a:p>
        </p:txBody>
      </p:sp>
      <p:sp>
        <p:nvSpPr>
          <p:cNvPr id="174" name="Google Shape;174;p9"/>
          <p:cNvSpPr/>
          <p:nvPr/>
        </p:nvSpPr>
        <p:spPr>
          <a:xfrm>
            <a:off x="812800" y="4523105"/>
            <a:ext cx="8001000" cy="692150"/>
          </a:xfrm>
          <a:prstGeom prst="roundRect">
            <a:avLst>
              <a:gd fmla="val 11009" name="adj"/>
            </a:avLst>
          </a:prstGeom>
          <a:solidFill>
            <a:srgbClr val="0B2A3B"/>
          </a:solidFill>
          <a:ln>
            <a:noFill/>
          </a:ln>
        </p:spPr>
        <p:txBody>
          <a:bodyPr anchorCtr="0" anchor="t" bIns="155475" lIns="231675" spcFirstLastPara="1" rIns="6875" wrap="square" tIns="180875">
            <a:noAutofit/>
          </a:bodyPr>
          <a:lstStyle/>
          <a:p>
            <a:pPr indent="0" lvl="0" marL="0" marR="0" rtl="0" algn="l">
              <a:lnSpc>
                <a:spcPct val="150000"/>
              </a:lnSpc>
              <a:spcBef>
                <a:spcPts val="0"/>
              </a:spcBef>
              <a:spcAft>
                <a:spcPts val="0"/>
              </a:spcAft>
              <a:buClr>
                <a:srgbClr val="2DD4BF"/>
              </a:buClr>
              <a:buSzPts val="1500"/>
              <a:buFont typeface="IBM Plex Mono"/>
              <a:buNone/>
            </a:pPr>
            <a:r>
              <a:rPr b="0" i="0" lang="en-US" sz="1500" u="none" cap="none" strike="noStrike">
                <a:solidFill>
                  <a:srgbClr val="2DD4BF"/>
                </a:solidFill>
                <a:latin typeface="IBM Plex Mono"/>
                <a:ea typeface="IBM Plex Mono"/>
                <a:cs typeface="IBM Plex Mono"/>
                <a:sym typeface="IBM Plex Mono"/>
              </a:rPr>
              <a:t>weight</a:t>
            </a:r>
            <a:r>
              <a:rPr b="0" i="0" lang="en-US" sz="1500" u="none" cap="none" strike="noStrike">
                <a:solidFill>
                  <a:srgbClr val="F6F3EC"/>
                </a:solidFill>
                <a:latin typeface="IBM Plex Mono"/>
                <a:ea typeface="IBM Plex Mono"/>
                <a:cs typeface="IBM Plex Mono"/>
                <a:sym typeface="IBM Plex Mono"/>
              </a:rPr>
              <a:t> 78.0 kg ← </a:t>
            </a:r>
            <a:r>
              <a:rPr b="0" i="0" lang="en-US" sz="1500" u="none" cap="none" strike="noStrike">
                <a:solidFill>
                  <a:srgbClr val="B9CDD3"/>
                </a:solidFill>
                <a:latin typeface="IBM Plex Mono"/>
                <a:ea typeface="IBM Plex Mono"/>
                <a:cs typeface="IBM Plex Mono"/>
                <a:sym typeface="IBM Plex Mono"/>
              </a:rPr>
              <a:t>fax · page 1 ·</a:t>
            </a:r>
            <a:r>
              <a:rPr b="0" i="0" lang="en-US" sz="1500" u="none" cap="none" strike="noStrike">
                <a:solidFill>
                  <a:srgbClr val="F6F3EC"/>
                </a:solidFill>
                <a:latin typeface="IBM Plex Mono"/>
                <a:ea typeface="IBM Plex Mono"/>
                <a:cs typeface="IBM Plex Mono"/>
                <a:sym typeface="IBM Plex Mono"/>
              </a:rPr>
              <a:t> </a:t>
            </a:r>
            <a:r>
              <a:rPr b="0" i="0" lang="en-US" sz="1500" u="none" cap="none" strike="noStrike">
                <a:solidFill>
                  <a:srgbClr val="F2C14E"/>
                </a:solidFill>
                <a:latin typeface="IBM Plex Mono"/>
                <a:ea typeface="IBM Plex Mono"/>
                <a:cs typeface="IBM Plex Mono"/>
                <a:sym typeface="IBM Plex Mono"/>
              </a:rPr>
              <a:t>“Wt 172 lbs”</a:t>
            </a:r>
            <a:endParaRPr b="0" i="0" sz="1500" u="none" cap="none" strike="noStrike">
              <a:solidFill>
                <a:schemeClr val="dk1"/>
              </a:solidFill>
              <a:latin typeface="Calibri"/>
              <a:ea typeface="Calibri"/>
              <a:cs typeface="Calibri"/>
              <a:sym typeface="Calibri"/>
            </a:endParaRPr>
          </a:p>
        </p:txBody>
      </p:sp>
      <p:sp>
        <p:nvSpPr>
          <p:cNvPr id="175" name="Google Shape;175;p9"/>
          <p:cNvSpPr/>
          <p:nvPr/>
        </p:nvSpPr>
        <p:spPr>
          <a:xfrm>
            <a:off x="10312400" y="6238239"/>
            <a:ext cx="106680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8A6A1C"/>
              </a:buClr>
              <a:buSzPts val="1200"/>
              <a:buFont typeface="IBM Plex Mono"/>
              <a:buNone/>
            </a:pPr>
            <a:r>
              <a:rPr b="0" i="0" lang="en-US" sz="1200" u="none" cap="none" strike="noStrike">
                <a:solidFill>
                  <a:srgbClr val="8A6A1C"/>
                </a:solidFill>
                <a:latin typeface="IBM Plex Mono"/>
                <a:ea typeface="IBM Plex Mono"/>
                <a:cs typeface="IBM Plex Mono"/>
                <a:sym typeface="IBM Plex Mono"/>
              </a:rPr>
              <a:t>04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EC"/>
        </a:solidFill>
      </p:bgPr>
    </p:bg>
    <p:spTree>
      <p:nvGrpSpPr>
        <p:cNvPr id="180" name="Shape 180"/>
        <p:cNvGrpSpPr/>
        <p:nvPr/>
      </p:nvGrpSpPr>
      <p:grpSpPr>
        <a:xfrm>
          <a:off x="0" y="0"/>
          <a:ext cx="0" cy="0"/>
          <a:chOff x="0" y="0"/>
          <a:chExt cx="0" cy="0"/>
        </a:xfrm>
      </p:grpSpPr>
      <p:sp>
        <p:nvSpPr>
          <p:cNvPr id="181" name="Google Shape;181;p10"/>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Mono"/>
              <a:buNone/>
            </a:pPr>
            <a:r>
              <a:rPr b="0" i="0" lang="en-US" sz="1200" u="none" cap="none" strike="noStrike">
                <a:solidFill>
                  <a:srgbClr val="0F766E"/>
                </a:solidFill>
                <a:latin typeface="IBM Plex Mono"/>
                <a:ea typeface="IBM Plex Mono"/>
                <a:cs typeface="IBM Plex Mono"/>
                <a:sym typeface="IBM Plex Mono"/>
              </a:rPr>
              <a:t>04 · LIVE DEMO</a:t>
            </a:r>
            <a:endParaRPr b="0" i="0" sz="1200" u="none" cap="none" strike="noStrike">
              <a:solidFill>
                <a:schemeClr val="dk1"/>
              </a:solidFill>
              <a:latin typeface="Calibri"/>
              <a:ea typeface="Calibri"/>
              <a:cs typeface="Calibri"/>
              <a:sym typeface="Calibri"/>
            </a:endParaRPr>
          </a:p>
        </p:txBody>
      </p:sp>
      <p:sp>
        <p:nvSpPr>
          <p:cNvPr id="182" name="Google Shape;182;p10"/>
          <p:cNvSpPr/>
          <p:nvPr/>
        </p:nvSpPr>
        <p:spPr>
          <a:xfrm>
            <a:off x="812800" y="1280161"/>
            <a:ext cx="10883392"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B2A3B"/>
              </a:buClr>
              <a:buSzPts val="3600"/>
              <a:buFont typeface="Fraunces"/>
              <a:buNone/>
            </a:pPr>
            <a:r>
              <a:rPr b="0" i="0" lang="en-US" sz="3600" u="none" cap="none" strike="noStrike">
                <a:solidFill>
                  <a:srgbClr val="0B2A3B"/>
                </a:solidFill>
                <a:latin typeface="Fraunces"/>
                <a:ea typeface="Fraunces"/>
                <a:cs typeface="Fraunces"/>
                <a:sym typeface="Fraunces"/>
              </a:rPr>
              <a:t>A faxed photo → 10 cited facts in </a:t>
            </a:r>
            <a:r>
              <a:rPr b="0" i="0" lang="en-US" sz="3600" u="none" cap="none" strike="noStrike">
                <a:solidFill>
                  <a:srgbClr val="0F766E"/>
                </a:solidFill>
                <a:latin typeface="Fraunces"/>
                <a:ea typeface="Fraunces"/>
                <a:cs typeface="Fraunces"/>
                <a:sym typeface="Fraunces"/>
              </a:rPr>
              <a:t>8 seconds</a:t>
            </a:r>
            <a:endParaRPr b="0" i="0" sz="3600" u="none" cap="none" strike="noStrike">
              <a:solidFill>
                <a:schemeClr val="dk1"/>
              </a:solidFill>
              <a:latin typeface="Calibri"/>
              <a:ea typeface="Calibri"/>
              <a:cs typeface="Calibri"/>
              <a:sym typeface="Calibri"/>
            </a:endParaRPr>
          </a:p>
        </p:txBody>
      </p:sp>
      <p:pic>
        <p:nvPicPr>
          <p:cNvPr descr="Photographed fax: a Riverside Walk-In Clinic progress note with vitals, labs and medications" id="183" name="Google Shape;183;p10"/>
          <p:cNvPicPr preferRelativeResize="0"/>
          <p:nvPr/>
        </p:nvPicPr>
        <p:blipFill rotWithShape="1">
          <a:blip r:embed="rId3">
            <a:alphaModFix/>
          </a:blip>
          <a:srcRect b="0" l="0" r="0" t="0"/>
          <a:stretch/>
        </p:blipFill>
        <p:spPr>
          <a:xfrm rot="-90000">
            <a:off x="812879" y="2702826"/>
            <a:ext cx="3067050" cy="2473427"/>
          </a:xfrm>
          <a:prstGeom prst="rect">
            <a:avLst/>
          </a:prstGeom>
          <a:noFill/>
          <a:ln>
            <a:noFill/>
          </a:ln>
          <a:effectLst>
            <a:outerShdw blurRad="317500" rotWithShape="0" algn="bl" dir="5400000" dist="127000">
              <a:srgbClr val="0B2A3B">
                <a:alpha val="25098"/>
              </a:srgbClr>
            </a:outerShdw>
          </a:effectLst>
        </p:spPr>
      </p:pic>
      <p:graphicFrame>
        <p:nvGraphicFramePr>
          <p:cNvPr id="184" name="Google Shape;184;p10"/>
          <p:cNvGraphicFramePr/>
          <p:nvPr/>
        </p:nvGraphicFramePr>
        <p:xfrm>
          <a:off x="4299109" y="2594611"/>
          <a:ext cx="3000000" cy="3000000"/>
        </p:xfrm>
        <a:graphic>
          <a:graphicData uri="http://schemas.openxmlformats.org/drawingml/2006/table">
            <a:tbl>
              <a:tblPr>
                <a:noFill/>
                <a:tableStyleId>{5CF50E43-EC10-4135-BEF6-DD3318AC7510}</a:tableStyleId>
              </a:tblPr>
              <a:tblGrid>
                <a:gridCol w="2124025"/>
                <a:gridCol w="2124025"/>
                <a:gridCol w="2832025"/>
              </a:tblGrid>
              <a:tr h="386075">
                <a:tc>
                  <a:txBody>
                    <a:bodyPr/>
                    <a:lstStyle/>
                    <a:p>
                      <a:pPr indent="0" lvl="0" marL="0" marR="0" rtl="0" algn="l">
                        <a:lnSpc>
                          <a:spcPct val="140000"/>
                        </a:lnSpc>
                        <a:spcBef>
                          <a:spcPts val="0"/>
                        </a:spcBef>
                        <a:spcAft>
                          <a:spcPts val="0"/>
                        </a:spcAft>
                        <a:buClr>
                          <a:srgbClr val="6B7B83"/>
                        </a:buClr>
                        <a:buSzPts val="1400"/>
                        <a:buFont typeface="IBM Plex Sans"/>
                        <a:buNone/>
                      </a:pPr>
                      <a:r>
                        <a:rPr b="1" lang="en-US" sz="1400" u="none" cap="none" strike="noStrike">
                          <a:solidFill>
                            <a:srgbClr val="6B7B83"/>
                          </a:solidFill>
                          <a:latin typeface="IBM Plex Sans"/>
                          <a:ea typeface="IBM Plex Sans"/>
                          <a:cs typeface="IBM Plex Sans"/>
                          <a:sym typeface="IBM Plex Sans"/>
                        </a:rPr>
                        <a:t>Field</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2BC"/>
                      </a:solidFill>
                      <a:prstDash val="solid"/>
                      <a:round/>
                      <a:headEnd len="sm" w="sm" type="none"/>
                      <a:tailEnd len="sm" w="sm" type="none"/>
                    </a:lnL>
                    <a:lnR cap="flat" cmpd="sng" w="12700">
                      <a:solidFill>
                        <a:srgbClr val="B6B4AF"/>
                      </a:solidFill>
                      <a:prstDash val="solid"/>
                      <a:round/>
                      <a:headEnd len="sm" w="sm" type="none"/>
                      <a:tailEnd len="sm" w="sm" type="none"/>
                    </a:lnR>
                    <a:lnT cap="flat" cmpd="sng" w="12700">
                      <a:solidFill>
                        <a:srgbClr val="C4C2BC"/>
                      </a:solidFill>
                      <a:prstDash val="solid"/>
                      <a:round/>
                      <a:headEnd len="sm" w="sm" type="none"/>
                      <a:tailEnd len="sm" w="sm" type="none"/>
                    </a:lnT>
                    <a:lnB cap="flat" cmpd="sng" w="12700">
                      <a:solidFill>
                        <a:srgbClr val="B6B4AF"/>
                      </a:solidFill>
                      <a:prstDash val="solid"/>
                      <a:round/>
                      <a:headEnd len="sm" w="sm" type="none"/>
                      <a:tailEnd len="sm" w="sm" type="none"/>
                    </a:lnB>
                    <a:solidFill>
                      <a:srgbClr val="E4E1DB"/>
                    </a:solidFill>
                  </a:tcPr>
                </a:tc>
                <a:tc>
                  <a:txBody>
                    <a:bodyPr/>
                    <a:lstStyle/>
                    <a:p>
                      <a:pPr indent="0" lvl="0" marL="0" marR="0" rtl="0" algn="l">
                        <a:lnSpc>
                          <a:spcPct val="140000"/>
                        </a:lnSpc>
                        <a:spcBef>
                          <a:spcPts val="0"/>
                        </a:spcBef>
                        <a:spcAft>
                          <a:spcPts val="0"/>
                        </a:spcAft>
                        <a:buClr>
                          <a:srgbClr val="6B7B83"/>
                        </a:buClr>
                        <a:buSzPts val="1400"/>
                        <a:buFont typeface="IBM Plex Sans"/>
                        <a:buNone/>
                      </a:pPr>
                      <a:r>
                        <a:rPr b="1" lang="en-US" sz="1400" u="none" cap="none" strike="noStrike">
                          <a:solidFill>
                            <a:srgbClr val="6B7B83"/>
                          </a:solidFill>
                          <a:latin typeface="IBM Plex Sans"/>
                          <a:ea typeface="IBM Plex Sans"/>
                          <a:cs typeface="IBM Plex Sans"/>
                          <a:sym typeface="IBM Plex Sans"/>
                        </a:rPr>
                        <a:t>On the form</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6B4AF"/>
                      </a:solidFill>
                      <a:prstDash val="solid"/>
                      <a:round/>
                      <a:headEnd len="sm" w="sm" type="none"/>
                      <a:tailEnd len="sm" w="sm" type="none"/>
                    </a:lnL>
                    <a:lnR cap="flat" cmpd="sng" w="12700">
                      <a:solidFill>
                        <a:srgbClr val="B6B4AF"/>
                      </a:solidFill>
                      <a:prstDash val="solid"/>
                      <a:round/>
                      <a:headEnd len="sm" w="sm" type="none"/>
                      <a:tailEnd len="sm" w="sm" type="none"/>
                    </a:lnR>
                    <a:lnT cap="flat" cmpd="sng" w="12700">
                      <a:solidFill>
                        <a:srgbClr val="C4C2BC"/>
                      </a:solidFill>
                      <a:prstDash val="solid"/>
                      <a:round/>
                      <a:headEnd len="sm" w="sm" type="none"/>
                      <a:tailEnd len="sm" w="sm" type="none"/>
                    </a:lnT>
                    <a:lnB cap="flat" cmpd="sng" w="12700">
                      <a:solidFill>
                        <a:srgbClr val="B6B4AF"/>
                      </a:solidFill>
                      <a:prstDash val="solid"/>
                      <a:round/>
                      <a:headEnd len="sm" w="sm" type="none"/>
                      <a:tailEnd len="sm" w="sm" type="none"/>
                    </a:lnB>
                    <a:solidFill>
                      <a:srgbClr val="E4E1DB"/>
                    </a:solidFill>
                  </a:tcPr>
                </a:tc>
                <a:tc>
                  <a:txBody>
                    <a:bodyPr/>
                    <a:lstStyle/>
                    <a:p>
                      <a:pPr indent="0" lvl="0" marL="0" marR="0" rtl="0" algn="l">
                        <a:lnSpc>
                          <a:spcPct val="140000"/>
                        </a:lnSpc>
                        <a:spcBef>
                          <a:spcPts val="0"/>
                        </a:spcBef>
                        <a:spcAft>
                          <a:spcPts val="0"/>
                        </a:spcAft>
                        <a:buClr>
                          <a:srgbClr val="6B7B83"/>
                        </a:buClr>
                        <a:buSzPts val="1400"/>
                        <a:buFont typeface="IBM Plex Sans"/>
                        <a:buNone/>
                      </a:pPr>
                      <a:r>
                        <a:rPr b="1" lang="en-US" sz="1400" u="none" cap="none" strike="noStrike">
                          <a:solidFill>
                            <a:srgbClr val="6B7B83"/>
                          </a:solidFill>
                          <a:latin typeface="IBM Plex Sans"/>
                          <a:ea typeface="IBM Plex Sans"/>
                          <a:cs typeface="IBM Plex Sans"/>
                          <a:sym typeface="IBM Plex Sans"/>
                        </a:rPr>
                        <a:t>Quote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6B4AF"/>
                      </a:solidFill>
                      <a:prstDash val="solid"/>
                      <a:round/>
                      <a:headEnd len="sm" w="sm" type="none"/>
                      <a:tailEnd len="sm" w="sm" type="none"/>
                    </a:lnL>
                    <a:lnR cap="flat" cmpd="sng" w="12700">
                      <a:solidFill>
                        <a:srgbClr val="B6B4AF"/>
                      </a:solidFill>
                      <a:prstDash val="solid"/>
                      <a:round/>
                      <a:headEnd len="sm" w="sm" type="none"/>
                      <a:tailEnd len="sm" w="sm" type="none"/>
                    </a:lnR>
                    <a:lnT cap="flat" cmpd="sng" w="12700">
                      <a:solidFill>
                        <a:srgbClr val="C4C2BC"/>
                      </a:solidFill>
                      <a:prstDash val="solid"/>
                      <a:round/>
                      <a:headEnd len="sm" w="sm" type="none"/>
                      <a:tailEnd len="sm" w="sm" type="none"/>
                    </a:lnT>
                    <a:lnB cap="flat" cmpd="sng" w="12700">
                      <a:solidFill>
                        <a:srgbClr val="B6B4AF"/>
                      </a:solidFill>
                      <a:prstDash val="solid"/>
                      <a:round/>
                      <a:headEnd len="sm" w="sm" type="none"/>
                      <a:tailEnd len="sm" w="sm" type="none"/>
                    </a:lnB>
                    <a:solidFill>
                      <a:srgbClr val="E4E1DB"/>
                    </a:solidFill>
                  </a:tcPr>
                </a:tc>
              </a:tr>
              <a:tr h="386075">
                <a:tc>
                  <a:txBody>
                    <a:bodyPr/>
                    <a:lstStyle/>
                    <a:p>
                      <a:pPr indent="0" lvl="0" marL="0" marR="0" rtl="0" algn="l">
                        <a:lnSpc>
                          <a:spcPct val="140000"/>
                        </a:lnSpc>
                        <a:spcBef>
                          <a:spcPts val="0"/>
                        </a:spcBef>
                        <a:spcAft>
                          <a:spcPts val="0"/>
                        </a:spcAft>
                        <a:buClr>
                          <a:srgbClr val="0B2A3B"/>
                        </a:buClr>
                        <a:buSzPts val="1400"/>
                        <a:buFont typeface="IBM Plex Sans"/>
                        <a:buNone/>
                      </a:pPr>
                      <a:r>
                        <a:rPr lang="en-US" sz="1400" u="none" cap="none" strike="noStrike">
                          <a:solidFill>
                            <a:srgbClr val="0B2A3B"/>
                          </a:solidFill>
                          <a:latin typeface="IBM Plex Sans"/>
                          <a:ea typeface="IBM Plex Sans"/>
                          <a:cs typeface="IBM Plex Sans"/>
                          <a:sym typeface="IBM Plex Sans"/>
                        </a:rPr>
                        <a:t>BP</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2BC"/>
                      </a:solidFill>
                      <a:prstDash val="solid"/>
                      <a:round/>
                      <a:headEnd len="sm" w="sm" type="none"/>
                      <a:tailEnd len="sm" w="sm" type="none"/>
                    </a:lnL>
                    <a:lnR cap="flat" cmpd="sng" w="12700">
                      <a:solidFill>
                        <a:srgbClr val="C4C2BC"/>
                      </a:solidFill>
                      <a:prstDash val="solid"/>
                      <a:round/>
                      <a:headEnd len="sm" w="sm" type="none"/>
                      <a:tailEnd len="sm" w="sm" type="none"/>
                    </a:lnR>
                    <a:lnT cap="flat" cmpd="sng" w="12700">
                      <a:solidFill>
                        <a:srgbClr val="B6B4AF"/>
                      </a:solidFill>
                      <a:prstDash val="solid"/>
                      <a:round/>
                      <a:headEnd len="sm" w="sm" type="none"/>
                      <a:tailEnd len="sm" w="sm" type="none"/>
                    </a:lnT>
                    <a:lnB cap="flat" cmpd="sng" w="12700">
                      <a:solidFill>
                        <a:srgbClr val="C4C2BC"/>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B2A3B"/>
                        </a:buClr>
                        <a:buSzPts val="1400"/>
                        <a:buFont typeface="IBM Plex Sans"/>
                        <a:buNone/>
                      </a:pPr>
                      <a:r>
                        <a:rPr lang="en-US" sz="1400" u="none" cap="none" strike="noStrike">
                          <a:solidFill>
                            <a:srgbClr val="0B2A3B"/>
                          </a:solidFill>
                          <a:latin typeface="IBM Plex Sans"/>
                          <a:ea typeface="IBM Plex Sans"/>
                          <a:cs typeface="IBM Plex Sans"/>
                          <a:sym typeface="IBM Plex Sans"/>
                        </a:rPr>
                        <a:t>128/82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2BC"/>
                      </a:solidFill>
                      <a:prstDash val="solid"/>
                      <a:round/>
                      <a:headEnd len="sm" w="sm" type="none"/>
                      <a:tailEnd len="sm" w="sm" type="none"/>
                    </a:lnL>
                    <a:lnR cap="flat" cmpd="sng" w="12700">
                      <a:solidFill>
                        <a:srgbClr val="C4C2BC"/>
                      </a:solidFill>
                      <a:prstDash val="solid"/>
                      <a:round/>
                      <a:headEnd len="sm" w="sm" type="none"/>
                      <a:tailEnd len="sm" w="sm" type="none"/>
                    </a:lnR>
                    <a:lnT cap="flat" cmpd="sng" w="12700">
                      <a:solidFill>
                        <a:srgbClr val="B6B4AF"/>
                      </a:solidFill>
                      <a:prstDash val="solid"/>
                      <a:round/>
                      <a:headEnd len="sm" w="sm" type="none"/>
                      <a:tailEnd len="sm" w="sm" type="none"/>
                    </a:lnT>
                    <a:lnB cap="flat" cmpd="sng" w="12700">
                      <a:solidFill>
                        <a:srgbClr val="C4C2BC"/>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766E"/>
                        </a:buClr>
                        <a:buSzPts val="1400"/>
                        <a:buFont typeface="IBM Plex Sans"/>
                        <a:buNone/>
                      </a:pPr>
                      <a:r>
                        <a:rPr lang="en-US" sz="1400" u="none" cap="none" strike="noStrike">
                          <a:solidFill>
                            <a:srgbClr val="0F766E"/>
                          </a:solidFill>
                          <a:latin typeface="IBM Plex Sans"/>
                          <a:ea typeface="IBM Plex Sans"/>
                          <a:cs typeface="IBM Plex Sans"/>
                          <a:sym typeface="IBM Plex Sans"/>
                        </a:rPr>
                        <a:t>“B/P 128/82”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2BC"/>
                      </a:solidFill>
                      <a:prstDash val="solid"/>
                      <a:round/>
                      <a:headEnd len="sm" w="sm" type="none"/>
                      <a:tailEnd len="sm" w="sm" type="none"/>
                    </a:lnL>
                    <a:lnR cap="flat" cmpd="sng" w="12700">
                      <a:solidFill>
                        <a:srgbClr val="C4C2BC"/>
                      </a:solidFill>
                      <a:prstDash val="solid"/>
                      <a:round/>
                      <a:headEnd len="sm" w="sm" type="none"/>
                      <a:tailEnd len="sm" w="sm" type="none"/>
                    </a:lnR>
                    <a:lnT cap="flat" cmpd="sng" w="12700">
                      <a:solidFill>
                        <a:srgbClr val="B6B4AF"/>
                      </a:solidFill>
                      <a:prstDash val="solid"/>
                      <a:round/>
                      <a:headEnd len="sm" w="sm" type="none"/>
                      <a:tailEnd len="sm" w="sm" type="none"/>
                    </a:lnT>
                    <a:lnB cap="flat" cmpd="sng" w="12700">
                      <a:solidFill>
                        <a:srgbClr val="C4C2BC"/>
                      </a:solidFill>
                      <a:prstDash val="solid"/>
                      <a:round/>
                      <a:headEnd len="sm" w="sm" type="none"/>
                      <a:tailEnd len="sm" w="sm" type="none"/>
                    </a:lnB>
                  </a:tcPr>
                </a:tc>
              </a:tr>
              <a:tr h="386075">
                <a:tc>
                  <a:txBody>
                    <a:bodyPr/>
                    <a:lstStyle/>
                    <a:p>
                      <a:pPr indent="0" lvl="0" marL="0" marR="0" rtl="0" algn="l">
                        <a:lnSpc>
                          <a:spcPct val="140000"/>
                        </a:lnSpc>
                        <a:spcBef>
                          <a:spcPts val="0"/>
                        </a:spcBef>
                        <a:spcAft>
                          <a:spcPts val="0"/>
                        </a:spcAft>
                        <a:buClr>
                          <a:srgbClr val="0B2A3B"/>
                        </a:buClr>
                        <a:buSzPts val="1400"/>
                        <a:buFont typeface="IBM Plex Sans"/>
                        <a:buNone/>
                      </a:pPr>
                      <a:r>
                        <a:rPr lang="en-US" sz="1400" u="none" cap="none" strike="noStrike">
                          <a:solidFill>
                            <a:srgbClr val="0B2A3B"/>
                          </a:solidFill>
                          <a:latin typeface="IBM Plex Sans"/>
                          <a:ea typeface="IBM Plex Sans"/>
                          <a:cs typeface="IBM Plex Sans"/>
                          <a:sym typeface="IBM Plex Sans"/>
                        </a:rPr>
                        <a:t>Pulse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2BC"/>
                      </a:solidFill>
                      <a:prstDash val="solid"/>
                      <a:round/>
                      <a:headEnd len="sm" w="sm" type="none"/>
                      <a:tailEnd len="sm" w="sm" type="none"/>
                    </a:lnL>
                    <a:lnR cap="flat" cmpd="sng" w="12700">
                      <a:solidFill>
                        <a:srgbClr val="C4C2BC"/>
                      </a:solidFill>
                      <a:prstDash val="solid"/>
                      <a:round/>
                      <a:headEnd len="sm" w="sm" type="none"/>
                      <a:tailEnd len="sm" w="sm" type="none"/>
                    </a:lnR>
                    <a:lnT cap="flat" cmpd="sng" w="12700">
                      <a:solidFill>
                        <a:srgbClr val="C4C2BC"/>
                      </a:solidFill>
                      <a:prstDash val="solid"/>
                      <a:round/>
                      <a:headEnd len="sm" w="sm" type="none"/>
                      <a:tailEnd len="sm" w="sm" type="none"/>
                    </a:lnT>
                    <a:lnB cap="flat" cmpd="sng" w="12700">
                      <a:solidFill>
                        <a:srgbClr val="C4C2BC"/>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B2A3B"/>
                        </a:buClr>
                        <a:buSzPts val="1400"/>
                        <a:buFont typeface="IBM Plex Sans"/>
                        <a:buNone/>
                      </a:pPr>
                      <a:r>
                        <a:rPr lang="en-US" sz="1400" u="none" cap="none" strike="noStrike">
                          <a:solidFill>
                            <a:srgbClr val="0B2A3B"/>
                          </a:solidFill>
                          <a:latin typeface="IBM Plex Sans"/>
                          <a:ea typeface="IBM Plex Sans"/>
                          <a:cs typeface="IBM Plex Sans"/>
                          <a:sym typeface="IBM Plex Sans"/>
                        </a:rPr>
                        <a:t>72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2BC"/>
                      </a:solidFill>
                      <a:prstDash val="solid"/>
                      <a:round/>
                      <a:headEnd len="sm" w="sm" type="none"/>
                      <a:tailEnd len="sm" w="sm" type="none"/>
                    </a:lnL>
                    <a:lnR cap="flat" cmpd="sng" w="12700">
                      <a:solidFill>
                        <a:srgbClr val="C4C2BC"/>
                      </a:solidFill>
                      <a:prstDash val="solid"/>
                      <a:round/>
                      <a:headEnd len="sm" w="sm" type="none"/>
                      <a:tailEnd len="sm" w="sm" type="none"/>
                    </a:lnR>
                    <a:lnT cap="flat" cmpd="sng" w="12700">
                      <a:solidFill>
                        <a:srgbClr val="C4C2BC"/>
                      </a:solidFill>
                      <a:prstDash val="solid"/>
                      <a:round/>
                      <a:headEnd len="sm" w="sm" type="none"/>
                      <a:tailEnd len="sm" w="sm" type="none"/>
                    </a:lnT>
                    <a:lnB cap="flat" cmpd="sng" w="12700">
                      <a:solidFill>
                        <a:srgbClr val="C4C2BC"/>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766E"/>
                        </a:buClr>
                        <a:buSzPts val="1400"/>
                        <a:buFont typeface="IBM Plex Sans"/>
                        <a:buNone/>
                      </a:pPr>
                      <a:r>
                        <a:rPr lang="en-US" sz="1400" u="none" cap="none" strike="noStrike">
                          <a:solidFill>
                            <a:srgbClr val="0F766E"/>
                          </a:solidFill>
                          <a:latin typeface="IBM Plex Sans"/>
                          <a:ea typeface="IBM Plex Sans"/>
                          <a:cs typeface="IBM Plex Sans"/>
                          <a:sym typeface="IBM Plex Sans"/>
                        </a:rPr>
                        <a:t>“P 72”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2BC"/>
                      </a:solidFill>
                      <a:prstDash val="solid"/>
                      <a:round/>
                      <a:headEnd len="sm" w="sm" type="none"/>
                      <a:tailEnd len="sm" w="sm" type="none"/>
                    </a:lnL>
                    <a:lnR cap="flat" cmpd="sng" w="12700">
                      <a:solidFill>
                        <a:srgbClr val="C4C2BC"/>
                      </a:solidFill>
                      <a:prstDash val="solid"/>
                      <a:round/>
                      <a:headEnd len="sm" w="sm" type="none"/>
                      <a:tailEnd len="sm" w="sm" type="none"/>
                    </a:lnR>
                    <a:lnT cap="flat" cmpd="sng" w="12700">
                      <a:solidFill>
                        <a:srgbClr val="C4C2BC"/>
                      </a:solidFill>
                      <a:prstDash val="solid"/>
                      <a:round/>
                      <a:headEnd len="sm" w="sm" type="none"/>
                      <a:tailEnd len="sm" w="sm" type="none"/>
                    </a:lnT>
                    <a:lnB cap="flat" cmpd="sng" w="12700">
                      <a:solidFill>
                        <a:srgbClr val="C4C2BC"/>
                      </a:solidFill>
                      <a:prstDash val="solid"/>
                      <a:round/>
                      <a:headEnd len="sm" w="sm" type="none"/>
                      <a:tailEnd len="sm" w="sm" type="none"/>
                    </a:lnB>
                  </a:tcPr>
                </a:tc>
              </a:tr>
              <a:tr h="386075">
                <a:tc>
                  <a:txBody>
                    <a:bodyPr/>
                    <a:lstStyle/>
                    <a:p>
                      <a:pPr indent="0" lvl="0" marL="0" marR="0" rtl="0" algn="l">
                        <a:lnSpc>
                          <a:spcPct val="140000"/>
                        </a:lnSpc>
                        <a:spcBef>
                          <a:spcPts val="0"/>
                        </a:spcBef>
                        <a:spcAft>
                          <a:spcPts val="0"/>
                        </a:spcAft>
                        <a:buClr>
                          <a:srgbClr val="0B2A3B"/>
                        </a:buClr>
                        <a:buSzPts val="1400"/>
                        <a:buFont typeface="IBM Plex Sans"/>
                        <a:buNone/>
                      </a:pPr>
                      <a:r>
                        <a:rPr lang="en-US" sz="1400" u="none" cap="none" strike="noStrike">
                          <a:solidFill>
                            <a:srgbClr val="0B2A3B"/>
                          </a:solidFill>
                          <a:latin typeface="IBM Plex Sans"/>
                          <a:ea typeface="IBM Plex Sans"/>
                          <a:cs typeface="IBM Plex Sans"/>
                          <a:sym typeface="IBM Plex Sans"/>
                        </a:rPr>
                        <a:t>Temp</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2BC"/>
                      </a:solidFill>
                      <a:prstDash val="solid"/>
                      <a:round/>
                      <a:headEnd len="sm" w="sm" type="none"/>
                      <a:tailEnd len="sm" w="sm" type="none"/>
                    </a:lnL>
                    <a:lnR cap="flat" cmpd="sng" w="12700">
                      <a:solidFill>
                        <a:srgbClr val="C8BFA1"/>
                      </a:solidFill>
                      <a:prstDash val="solid"/>
                      <a:round/>
                      <a:headEnd len="sm" w="sm" type="none"/>
                      <a:tailEnd len="sm" w="sm" type="none"/>
                    </a:lnR>
                    <a:lnT cap="flat" cmpd="sng" w="12700">
                      <a:solidFill>
                        <a:srgbClr val="C4C2BC"/>
                      </a:solidFill>
                      <a:prstDash val="solid"/>
                      <a:round/>
                      <a:headEnd len="sm" w="sm" type="none"/>
                      <a:tailEnd len="sm" w="sm" type="none"/>
                    </a:lnT>
                    <a:lnB cap="flat" cmpd="sng" w="12700">
                      <a:solidFill>
                        <a:srgbClr val="C8BFA1"/>
                      </a:solidFill>
                      <a:prstDash val="solid"/>
                      <a:round/>
                      <a:headEnd len="sm" w="sm" type="none"/>
                      <a:tailEnd len="sm" w="sm" type="none"/>
                    </a:lnB>
                    <a:solidFill>
                      <a:srgbClr val="FBEFC9"/>
                    </a:solidFill>
                  </a:tcPr>
                </a:tc>
                <a:tc>
                  <a:txBody>
                    <a:bodyPr/>
                    <a:lstStyle/>
                    <a:p>
                      <a:pPr indent="0" lvl="0" marL="0" marR="0" rtl="0" algn="l">
                        <a:lnSpc>
                          <a:spcPct val="140000"/>
                        </a:lnSpc>
                        <a:spcBef>
                          <a:spcPts val="0"/>
                        </a:spcBef>
                        <a:spcAft>
                          <a:spcPts val="0"/>
                        </a:spcAft>
                        <a:buClr>
                          <a:srgbClr val="0B2A3B"/>
                        </a:buClr>
                        <a:buSzPts val="1400"/>
                        <a:buFont typeface="IBM Plex Sans"/>
                        <a:buNone/>
                      </a:pPr>
                      <a:r>
                        <a:rPr lang="en-US" sz="1400" u="none" cap="none" strike="noStrike">
                          <a:solidFill>
                            <a:srgbClr val="0B2A3B"/>
                          </a:solidFill>
                          <a:latin typeface="IBM Plex Sans"/>
                          <a:ea typeface="IBM Plex Sans"/>
                          <a:cs typeface="IBM Plex Sans"/>
                          <a:sym typeface="IBM Plex Sans"/>
                        </a:rPr>
                        <a:t>36.9 °C</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BFA1"/>
                      </a:solidFill>
                      <a:prstDash val="solid"/>
                      <a:round/>
                      <a:headEnd len="sm" w="sm" type="none"/>
                      <a:tailEnd len="sm" w="sm" type="none"/>
                    </a:lnL>
                    <a:lnR cap="flat" cmpd="sng" w="12700">
                      <a:solidFill>
                        <a:srgbClr val="C8BFA1"/>
                      </a:solidFill>
                      <a:prstDash val="solid"/>
                      <a:round/>
                      <a:headEnd len="sm" w="sm" type="none"/>
                      <a:tailEnd len="sm" w="sm" type="none"/>
                    </a:lnR>
                    <a:lnT cap="flat" cmpd="sng" w="12700">
                      <a:solidFill>
                        <a:srgbClr val="C4C2BC"/>
                      </a:solidFill>
                      <a:prstDash val="solid"/>
                      <a:round/>
                      <a:headEnd len="sm" w="sm" type="none"/>
                      <a:tailEnd len="sm" w="sm" type="none"/>
                    </a:lnT>
                    <a:lnB cap="flat" cmpd="sng" w="12700">
                      <a:solidFill>
                        <a:srgbClr val="C8BFA1"/>
                      </a:solidFill>
                      <a:prstDash val="solid"/>
                      <a:round/>
                      <a:headEnd len="sm" w="sm" type="none"/>
                      <a:tailEnd len="sm" w="sm" type="none"/>
                    </a:lnB>
                    <a:solidFill>
                      <a:srgbClr val="FBEFC9"/>
                    </a:solidFill>
                  </a:tcPr>
                </a:tc>
                <a:tc>
                  <a:txBody>
                    <a:bodyPr/>
                    <a:lstStyle/>
                    <a:p>
                      <a:pPr indent="0" lvl="0" marL="0" marR="0" rtl="0" algn="l">
                        <a:lnSpc>
                          <a:spcPct val="140000"/>
                        </a:lnSpc>
                        <a:spcBef>
                          <a:spcPts val="0"/>
                        </a:spcBef>
                        <a:spcAft>
                          <a:spcPts val="0"/>
                        </a:spcAft>
                        <a:buClr>
                          <a:srgbClr val="0F766E"/>
                        </a:buClr>
                        <a:buSzPts val="1400"/>
                        <a:buFont typeface="IBM Plex Sans"/>
                        <a:buNone/>
                      </a:pPr>
                      <a:r>
                        <a:rPr lang="en-US" sz="1400" u="none" cap="none" strike="noStrike">
                          <a:solidFill>
                            <a:srgbClr val="0F766E"/>
                          </a:solidFill>
                          <a:latin typeface="IBM Plex Sans"/>
                          <a:ea typeface="IBM Plex Sans"/>
                          <a:cs typeface="IBM Plex Sans"/>
                          <a:sym typeface="IBM Plex Sans"/>
                        </a:rPr>
                        <a:t>“T 98.4 F”</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BFA1"/>
                      </a:solidFill>
                      <a:prstDash val="solid"/>
                      <a:round/>
                      <a:headEnd len="sm" w="sm" type="none"/>
                      <a:tailEnd len="sm" w="sm" type="none"/>
                    </a:lnL>
                    <a:lnR cap="flat" cmpd="sng" w="12700">
                      <a:solidFill>
                        <a:srgbClr val="C8BFA1"/>
                      </a:solidFill>
                      <a:prstDash val="solid"/>
                      <a:round/>
                      <a:headEnd len="sm" w="sm" type="none"/>
                      <a:tailEnd len="sm" w="sm" type="none"/>
                    </a:lnR>
                    <a:lnT cap="flat" cmpd="sng" w="12700">
                      <a:solidFill>
                        <a:srgbClr val="C4C2BC"/>
                      </a:solidFill>
                      <a:prstDash val="solid"/>
                      <a:round/>
                      <a:headEnd len="sm" w="sm" type="none"/>
                      <a:tailEnd len="sm" w="sm" type="none"/>
                    </a:lnT>
                    <a:lnB cap="flat" cmpd="sng" w="12700">
                      <a:solidFill>
                        <a:srgbClr val="C8BFA1"/>
                      </a:solidFill>
                      <a:prstDash val="solid"/>
                      <a:round/>
                      <a:headEnd len="sm" w="sm" type="none"/>
                      <a:tailEnd len="sm" w="sm" type="none"/>
                    </a:lnB>
                    <a:solidFill>
                      <a:srgbClr val="FBEFC9"/>
                    </a:solidFill>
                  </a:tcPr>
                </a:tc>
              </a:tr>
              <a:tr h="386075">
                <a:tc>
                  <a:txBody>
                    <a:bodyPr/>
                    <a:lstStyle/>
                    <a:p>
                      <a:pPr indent="0" lvl="0" marL="0" marR="0" rtl="0" algn="l">
                        <a:lnSpc>
                          <a:spcPct val="140000"/>
                        </a:lnSpc>
                        <a:spcBef>
                          <a:spcPts val="0"/>
                        </a:spcBef>
                        <a:spcAft>
                          <a:spcPts val="0"/>
                        </a:spcAft>
                        <a:buClr>
                          <a:srgbClr val="0B2A3B"/>
                        </a:buClr>
                        <a:buSzPts val="1400"/>
                        <a:buFont typeface="IBM Plex Sans"/>
                        <a:buNone/>
                      </a:pPr>
                      <a:r>
                        <a:rPr lang="en-US" sz="1400" u="none" cap="none" strike="noStrike">
                          <a:solidFill>
                            <a:srgbClr val="0B2A3B"/>
                          </a:solidFill>
                          <a:latin typeface="IBM Plex Sans"/>
                          <a:ea typeface="IBM Plex Sans"/>
                          <a:cs typeface="IBM Plex Sans"/>
                          <a:sym typeface="IBM Plex Sans"/>
                        </a:rPr>
                        <a:t>Weight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2BC"/>
                      </a:solidFill>
                      <a:prstDash val="solid"/>
                      <a:round/>
                      <a:headEnd len="sm" w="sm" type="none"/>
                      <a:tailEnd len="sm" w="sm" type="none"/>
                    </a:lnL>
                    <a:lnR cap="flat" cmpd="sng" w="12700">
                      <a:solidFill>
                        <a:srgbClr val="C8BFA1"/>
                      </a:solidFill>
                      <a:prstDash val="solid"/>
                      <a:round/>
                      <a:headEnd len="sm" w="sm" type="none"/>
                      <a:tailEnd len="sm" w="sm" type="none"/>
                    </a:lnR>
                    <a:lnT cap="flat" cmpd="sng" w="12700">
                      <a:solidFill>
                        <a:srgbClr val="C8BFA1"/>
                      </a:solidFill>
                      <a:prstDash val="solid"/>
                      <a:round/>
                      <a:headEnd len="sm" w="sm" type="none"/>
                      <a:tailEnd len="sm" w="sm" type="none"/>
                    </a:lnT>
                    <a:lnB cap="flat" cmpd="sng" w="12700">
                      <a:solidFill>
                        <a:srgbClr val="C8BFA1"/>
                      </a:solidFill>
                      <a:prstDash val="solid"/>
                      <a:round/>
                      <a:headEnd len="sm" w="sm" type="none"/>
                      <a:tailEnd len="sm" w="sm" type="none"/>
                    </a:lnB>
                    <a:solidFill>
                      <a:srgbClr val="FBEFC9"/>
                    </a:solidFill>
                  </a:tcPr>
                </a:tc>
                <a:tc>
                  <a:txBody>
                    <a:bodyPr/>
                    <a:lstStyle/>
                    <a:p>
                      <a:pPr indent="0" lvl="0" marL="0" marR="0" rtl="0" algn="l">
                        <a:lnSpc>
                          <a:spcPct val="140000"/>
                        </a:lnSpc>
                        <a:spcBef>
                          <a:spcPts val="0"/>
                        </a:spcBef>
                        <a:spcAft>
                          <a:spcPts val="0"/>
                        </a:spcAft>
                        <a:buClr>
                          <a:srgbClr val="0B2A3B"/>
                        </a:buClr>
                        <a:buSzPts val="1400"/>
                        <a:buFont typeface="IBM Plex Sans"/>
                        <a:buNone/>
                      </a:pPr>
                      <a:r>
                        <a:rPr lang="en-US" sz="1400" u="none" cap="none" strike="noStrike">
                          <a:solidFill>
                            <a:srgbClr val="0B2A3B"/>
                          </a:solidFill>
                          <a:latin typeface="IBM Plex Sans"/>
                          <a:ea typeface="IBM Plex Sans"/>
                          <a:cs typeface="IBM Plex Sans"/>
                          <a:sym typeface="IBM Plex Sans"/>
                        </a:rPr>
                        <a:t>78.0 kg</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BFA1"/>
                      </a:solidFill>
                      <a:prstDash val="solid"/>
                      <a:round/>
                      <a:headEnd len="sm" w="sm" type="none"/>
                      <a:tailEnd len="sm" w="sm" type="none"/>
                    </a:lnL>
                    <a:lnR cap="flat" cmpd="sng" w="12700">
                      <a:solidFill>
                        <a:srgbClr val="C8BFA1"/>
                      </a:solidFill>
                      <a:prstDash val="solid"/>
                      <a:round/>
                      <a:headEnd len="sm" w="sm" type="none"/>
                      <a:tailEnd len="sm" w="sm" type="none"/>
                    </a:lnR>
                    <a:lnT cap="flat" cmpd="sng" w="12700">
                      <a:solidFill>
                        <a:srgbClr val="C8BFA1"/>
                      </a:solidFill>
                      <a:prstDash val="solid"/>
                      <a:round/>
                      <a:headEnd len="sm" w="sm" type="none"/>
                      <a:tailEnd len="sm" w="sm" type="none"/>
                    </a:lnT>
                    <a:lnB cap="flat" cmpd="sng" w="12700">
                      <a:solidFill>
                        <a:srgbClr val="C8BFA1"/>
                      </a:solidFill>
                      <a:prstDash val="solid"/>
                      <a:round/>
                      <a:headEnd len="sm" w="sm" type="none"/>
                      <a:tailEnd len="sm" w="sm" type="none"/>
                    </a:lnB>
                    <a:solidFill>
                      <a:srgbClr val="FBEFC9"/>
                    </a:solidFill>
                  </a:tcPr>
                </a:tc>
                <a:tc>
                  <a:txBody>
                    <a:bodyPr/>
                    <a:lstStyle/>
                    <a:p>
                      <a:pPr indent="0" lvl="0" marL="0" marR="0" rtl="0" algn="l">
                        <a:lnSpc>
                          <a:spcPct val="140000"/>
                        </a:lnSpc>
                        <a:spcBef>
                          <a:spcPts val="0"/>
                        </a:spcBef>
                        <a:spcAft>
                          <a:spcPts val="0"/>
                        </a:spcAft>
                        <a:buClr>
                          <a:srgbClr val="0F766E"/>
                        </a:buClr>
                        <a:buSzPts val="1400"/>
                        <a:buFont typeface="IBM Plex Sans"/>
                        <a:buNone/>
                      </a:pPr>
                      <a:r>
                        <a:rPr lang="en-US" sz="1400" u="none" cap="none" strike="noStrike">
                          <a:solidFill>
                            <a:srgbClr val="0F766E"/>
                          </a:solidFill>
                          <a:latin typeface="IBM Plex Sans"/>
                          <a:ea typeface="IBM Plex Sans"/>
                          <a:cs typeface="IBM Plex Sans"/>
                          <a:sym typeface="IBM Plex Sans"/>
                        </a:rPr>
                        <a:t>“Wt 172 lbs”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8BFA1"/>
                      </a:solidFill>
                      <a:prstDash val="solid"/>
                      <a:round/>
                      <a:headEnd len="sm" w="sm" type="none"/>
                      <a:tailEnd len="sm" w="sm" type="none"/>
                    </a:lnL>
                    <a:lnR cap="flat" cmpd="sng" w="12700">
                      <a:solidFill>
                        <a:srgbClr val="C8BFA1"/>
                      </a:solidFill>
                      <a:prstDash val="solid"/>
                      <a:round/>
                      <a:headEnd len="sm" w="sm" type="none"/>
                      <a:tailEnd len="sm" w="sm" type="none"/>
                    </a:lnR>
                    <a:lnT cap="flat" cmpd="sng" w="12700">
                      <a:solidFill>
                        <a:srgbClr val="C8BFA1"/>
                      </a:solidFill>
                      <a:prstDash val="solid"/>
                      <a:round/>
                      <a:headEnd len="sm" w="sm" type="none"/>
                      <a:tailEnd len="sm" w="sm" type="none"/>
                    </a:lnT>
                    <a:lnB cap="flat" cmpd="sng" w="12700">
                      <a:solidFill>
                        <a:srgbClr val="C8BFA1"/>
                      </a:solidFill>
                      <a:prstDash val="solid"/>
                      <a:round/>
                      <a:headEnd len="sm" w="sm" type="none"/>
                      <a:tailEnd len="sm" w="sm" type="none"/>
                    </a:lnB>
                    <a:solidFill>
                      <a:srgbClr val="FBEFC9"/>
                    </a:solidFill>
                  </a:tcPr>
                </a:tc>
              </a:tr>
              <a:tr h="386075">
                <a:tc>
                  <a:txBody>
                    <a:bodyPr/>
                    <a:lstStyle/>
                    <a:p>
                      <a:pPr indent="0" lvl="0" marL="0" marR="0" rtl="0" algn="l">
                        <a:lnSpc>
                          <a:spcPct val="140000"/>
                        </a:lnSpc>
                        <a:spcBef>
                          <a:spcPts val="0"/>
                        </a:spcBef>
                        <a:spcAft>
                          <a:spcPts val="0"/>
                        </a:spcAft>
                        <a:buClr>
                          <a:srgbClr val="0B2A3B"/>
                        </a:buClr>
                        <a:buSzPts val="1400"/>
                        <a:buFont typeface="IBM Plex Sans"/>
                        <a:buNone/>
                      </a:pPr>
                      <a:r>
                        <a:rPr lang="en-US" sz="1400" u="none" cap="none" strike="noStrike">
                          <a:solidFill>
                            <a:srgbClr val="0B2A3B"/>
                          </a:solidFill>
                          <a:latin typeface="IBM Plex Sans"/>
                          <a:ea typeface="IBM Plex Sans"/>
                          <a:cs typeface="IBM Plex Sans"/>
                          <a:sym typeface="IBM Plex Sans"/>
                        </a:rPr>
                        <a:t>ALT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2BC"/>
                      </a:solidFill>
                      <a:prstDash val="solid"/>
                      <a:round/>
                      <a:headEnd len="sm" w="sm" type="none"/>
                      <a:tailEnd len="sm" w="sm" type="none"/>
                    </a:lnL>
                    <a:lnR cap="flat" cmpd="sng" w="12700">
                      <a:solidFill>
                        <a:srgbClr val="C4C2BC"/>
                      </a:solidFill>
                      <a:prstDash val="solid"/>
                      <a:round/>
                      <a:headEnd len="sm" w="sm" type="none"/>
                      <a:tailEnd len="sm" w="sm" type="none"/>
                    </a:lnR>
                    <a:lnT cap="flat" cmpd="sng" w="12700">
                      <a:solidFill>
                        <a:srgbClr val="C8BFA1"/>
                      </a:solidFill>
                      <a:prstDash val="solid"/>
                      <a:round/>
                      <a:headEnd len="sm" w="sm" type="none"/>
                      <a:tailEnd len="sm" w="sm" type="none"/>
                    </a:lnT>
                    <a:lnB cap="flat" cmpd="sng" w="12700">
                      <a:solidFill>
                        <a:srgbClr val="C4C2BC"/>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B2A3B"/>
                        </a:buClr>
                        <a:buSzPts val="1400"/>
                        <a:buFont typeface="IBM Plex Sans"/>
                        <a:buNone/>
                      </a:pPr>
                      <a:r>
                        <a:rPr lang="en-US" sz="1400" u="none" cap="none" strike="noStrike">
                          <a:solidFill>
                            <a:srgbClr val="0B2A3B"/>
                          </a:solidFill>
                          <a:latin typeface="IBM Plex Sans"/>
                          <a:ea typeface="IBM Plex Sans"/>
                          <a:cs typeface="IBM Plex Sans"/>
                          <a:sym typeface="IBM Plex Sans"/>
                        </a:rPr>
                        <a:t>28 U/L</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2BC"/>
                      </a:solidFill>
                      <a:prstDash val="solid"/>
                      <a:round/>
                      <a:headEnd len="sm" w="sm" type="none"/>
                      <a:tailEnd len="sm" w="sm" type="none"/>
                    </a:lnL>
                    <a:lnR cap="flat" cmpd="sng" w="12700">
                      <a:solidFill>
                        <a:srgbClr val="C4C2BC"/>
                      </a:solidFill>
                      <a:prstDash val="solid"/>
                      <a:round/>
                      <a:headEnd len="sm" w="sm" type="none"/>
                      <a:tailEnd len="sm" w="sm" type="none"/>
                    </a:lnR>
                    <a:lnT cap="flat" cmpd="sng" w="12700">
                      <a:solidFill>
                        <a:srgbClr val="C8BFA1"/>
                      </a:solidFill>
                      <a:prstDash val="solid"/>
                      <a:round/>
                      <a:headEnd len="sm" w="sm" type="none"/>
                      <a:tailEnd len="sm" w="sm" type="none"/>
                    </a:lnT>
                    <a:lnB cap="flat" cmpd="sng" w="12700">
                      <a:solidFill>
                        <a:srgbClr val="C4C2BC"/>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766E"/>
                        </a:buClr>
                        <a:buSzPts val="1400"/>
                        <a:buFont typeface="IBM Plex Sans"/>
                        <a:buNone/>
                      </a:pPr>
                      <a:r>
                        <a:rPr lang="en-US" sz="1400" u="none" cap="none" strike="noStrike">
                          <a:solidFill>
                            <a:srgbClr val="0F766E"/>
                          </a:solidFill>
                          <a:latin typeface="IBM Plex Sans"/>
                          <a:ea typeface="IBM Plex Sans"/>
                          <a:cs typeface="IBM Plex Sans"/>
                          <a:sym typeface="IBM Plex Sans"/>
                        </a:rPr>
                        <a:t>“ALT 28 U/L”</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2BC"/>
                      </a:solidFill>
                      <a:prstDash val="solid"/>
                      <a:round/>
                      <a:headEnd len="sm" w="sm" type="none"/>
                      <a:tailEnd len="sm" w="sm" type="none"/>
                    </a:lnL>
                    <a:lnR cap="flat" cmpd="sng" w="12700">
                      <a:solidFill>
                        <a:srgbClr val="C4C2BC"/>
                      </a:solidFill>
                      <a:prstDash val="solid"/>
                      <a:round/>
                      <a:headEnd len="sm" w="sm" type="none"/>
                      <a:tailEnd len="sm" w="sm" type="none"/>
                    </a:lnR>
                    <a:lnT cap="flat" cmpd="sng" w="12700">
                      <a:solidFill>
                        <a:srgbClr val="C8BFA1"/>
                      </a:solidFill>
                      <a:prstDash val="solid"/>
                      <a:round/>
                      <a:headEnd len="sm" w="sm" type="none"/>
                      <a:tailEnd len="sm" w="sm" type="none"/>
                    </a:lnT>
                    <a:lnB cap="flat" cmpd="sng" w="12700">
                      <a:solidFill>
                        <a:srgbClr val="C4C2BC"/>
                      </a:solidFill>
                      <a:prstDash val="solid"/>
                      <a:round/>
                      <a:headEnd len="sm" w="sm" type="none"/>
                      <a:tailEnd len="sm" w="sm" type="none"/>
                    </a:lnB>
                  </a:tcPr>
                </a:tc>
              </a:tr>
              <a:tr h="386075">
                <a:tc>
                  <a:txBody>
                    <a:bodyPr/>
                    <a:lstStyle/>
                    <a:p>
                      <a:pPr indent="0" lvl="0" marL="0" marR="0" rtl="0" algn="l">
                        <a:lnSpc>
                          <a:spcPct val="140000"/>
                        </a:lnSpc>
                        <a:spcBef>
                          <a:spcPts val="0"/>
                        </a:spcBef>
                        <a:spcAft>
                          <a:spcPts val="0"/>
                        </a:spcAft>
                        <a:buClr>
                          <a:srgbClr val="0B2A3B"/>
                        </a:buClr>
                        <a:buSzPts val="1400"/>
                        <a:buFont typeface="IBM Plex Sans"/>
                        <a:buNone/>
                      </a:pPr>
                      <a:r>
                        <a:rPr lang="en-US" sz="1400" u="none" cap="none" strike="noStrike">
                          <a:solidFill>
                            <a:srgbClr val="0B2A3B"/>
                          </a:solidFill>
                          <a:latin typeface="IBM Plex Sans"/>
                          <a:ea typeface="IBM Plex Sans"/>
                          <a:cs typeface="IBM Plex Sans"/>
                          <a:sym typeface="IBM Plex Sans"/>
                        </a:rPr>
                        <a:t>Ampicillin</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2BC"/>
                      </a:solidFill>
                      <a:prstDash val="solid"/>
                      <a:round/>
                      <a:headEnd len="sm" w="sm" type="none"/>
                      <a:tailEnd len="sm" w="sm" type="none"/>
                    </a:lnL>
                    <a:lnR cap="flat" cmpd="sng" w="12700">
                      <a:solidFill>
                        <a:srgbClr val="C4C2BC"/>
                      </a:solidFill>
                      <a:prstDash val="solid"/>
                      <a:round/>
                      <a:headEnd len="sm" w="sm" type="none"/>
                      <a:tailEnd len="sm" w="sm" type="none"/>
                    </a:lnR>
                    <a:lnT cap="flat" cmpd="sng" w="12700">
                      <a:solidFill>
                        <a:srgbClr val="C4C2BC"/>
                      </a:solidFill>
                      <a:prstDash val="solid"/>
                      <a:round/>
                      <a:headEnd len="sm" w="sm" type="none"/>
                      <a:tailEnd len="sm" w="sm" type="none"/>
                    </a:lnT>
                    <a:lnB cap="flat" cmpd="sng" w="12700">
                      <a:solidFill>
                        <a:srgbClr val="C4C2BC"/>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B2A3B"/>
                        </a:buClr>
                        <a:buSzPts val="1400"/>
                        <a:buFont typeface="IBM Plex Sans"/>
                        <a:buNone/>
                      </a:pPr>
                      <a:r>
                        <a:rPr lang="en-US" sz="1400" u="none" cap="none" strike="noStrike">
                          <a:solidFill>
                            <a:srgbClr val="0B2A3B"/>
                          </a:solidFill>
                          <a:latin typeface="IBM Plex Sans"/>
                          <a:ea typeface="IBM Plex Sans"/>
                          <a:cs typeface="IBM Plex Sans"/>
                          <a:sym typeface="IBM Plex Sans"/>
                        </a:rPr>
                        <a:t>Stopped</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2BC"/>
                      </a:solidFill>
                      <a:prstDash val="solid"/>
                      <a:round/>
                      <a:headEnd len="sm" w="sm" type="none"/>
                      <a:tailEnd len="sm" w="sm" type="none"/>
                    </a:lnL>
                    <a:lnR cap="flat" cmpd="sng" w="12700">
                      <a:solidFill>
                        <a:srgbClr val="C4C2BC"/>
                      </a:solidFill>
                      <a:prstDash val="solid"/>
                      <a:round/>
                      <a:headEnd len="sm" w="sm" type="none"/>
                      <a:tailEnd len="sm" w="sm" type="none"/>
                    </a:lnR>
                    <a:lnT cap="flat" cmpd="sng" w="12700">
                      <a:solidFill>
                        <a:srgbClr val="C4C2BC"/>
                      </a:solidFill>
                      <a:prstDash val="solid"/>
                      <a:round/>
                      <a:headEnd len="sm" w="sm" type="none"/>
                      <a:tailEnd len="sm" w="sm" type="none"/>
                    </a:lnT>
                    <a:lnB cap="flat" cmpd="sng" w="12700">
                      <a:solidFill>
                        <a:srgbClr val="C4C2BC"/>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766E"/>
                        </a:buClr>
                        <a:buSzPts val="1400"/>
                        <a:buFont typeface="IBM Plex Sans"/>
                        <a:buNone/>
                      </a:pPr>
                      <a:r>
                        <a:rPr lang="en-US" sz="1400" u="none" cap="none" strike="noStrike">
                          <a:solidFill>
                            <a:srgbClr val="0F766E"/>
                          </a:solidFill>
                          <a:latin typeface="IBM Plex Sans"/>
                          <a:ea typeface="IBM Plex Sans"/>
                          <a:cs typeface="IBM Plex Sans"/>
                          <a:sym typeface="IBM Plex Sans"/>
                        </a:rPr>
                        <a:t>“completed in May”</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2BC"/>
                      </a:solidFill>
                      <a:prstDash val="solid"/>
                      <a:round/>
                      <a:headEnd len="sm" w="sm" type="none"/>
                      <a:tailEnd len="sm" w="sm" type="none"/>
                    </a:lnL>
                    <a:lnR cap="flat" cmpd="sng" w="12700">
                      <a:solidFill>
                        <a:srgbClr val="C4C2BC"/>
                      </a:solidFill>
                      <a:prstDash val="solid"/>
                      <a:round/>
                      <a:headEnd len="sm" w="sm" type="none"/>
                      <a:tailEnd len="sm" w="sm" type="none"/>
                    </a:lnR>
                    <a:lnT cap="flat" cmpd="sng" w="12700">
                      <a:solidFill>
                        <a:srgbClr val="C4C2BC"/>
                      </a:solidFill>
                      <a:prstDash val="solid"/>
                      <a:round/>
                      <a:headEnd len="sm" w="sm" type="none"/>
                      <a:tailEnd len="sm" w="sm" type="none"/>
                    </a:lnT>
                    <a:lnB cap="flat" cmpd="sng" w="12700">
                      <a:solidFill>
                        <a:srgbClr val="C4C2BC"/>
                      </a:solidFill>
                      <a:prstDash val="solid"/>
                      <a:round/>
                      <a:headEnd len="sm" w="sm" type="none"/>
                      <a:tailEnd len="sm" w="sm" type="none"/>
                    </a:lnB>
                  </a:tcPr>
                </a:tc>
              </a:tr>
            </a:tbl>
          </a:graphicData>
        </a:graphic>
      </p:graphicFrame>
      <p:sp>
        <p:nvSpPr>
          <p:cNvPr id="185" name="Google Shape;185;p10"/>
          <p:cNvSpPr/>
          <p:nvPr/>
        </p:nvSpPr>
        <p:spPr>
          <a:xfrm>
            <a:off x="10312400" y="6238239"/>
            <a:ext cx="106680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9AA5AA"/>
              </a:buClr>
              <a:buSzPts val="1200"/>
              <a:buFont typeface="IBM Plex Mono"/>
              <a:buNone/>
            </a:pPr>
            <a:r>
              <a:rPr b="0" i="0" lang="en-US" sz="1200" u="none" cap="none" strike="noStrike">
                <a:solidFill>
                  <a:srgbClr val="9AA5AA"/>
                </a:solidFill>
                <a:latin typeface="IBM Plex Mono"/>
                <a:ea typeface="IBM Plex Mono"/>
                <a:cs typeface="IBM Plex Mono"/>
                <a:sym typeface="IBM Plex Mono"/>
              </a:rPr>
              <a:t>05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3B"/>
        </a:solidFill>
      </p:bgPr>
    </p:bg>
    <p:spTree>
      <p:nvGrpSpPr>
        <p:cNvPr id="190" name="Shape 190"/>
        <p:cNvGrpSpPr/>
        <p:nvPr/>
      </p:nvGrpSpPr>
      <p:grpSpPr>
        <a:xfrm>
          <a:off x="0" y="0"/>
          <a:ext cx="0" cy="0"/>
          <a:chOff x="0" y="0"/>
          <a:chExt cx="0" cy="0"/>
        </a:xfrm>
      </p:grpSpPr>
      <p:sp>
        <p:nvSpPr>
          <p:cNvPr id="191" name="Google Shape;191;p11"/>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Mono"/>
              <a:buNone/>
            </a:pPr>
            <a:r>
              <a:rPr b="0" i="0" lang="en-US" sz="1200" u="none" cap="none" strike="noStrike">
                <a:solidFill>
                  <a:srgbClr val="2DD4BF"/>
                </a:solidFill>
                <a:latin typeface="IBM Plex Mono"/>
                <a:ea typeface="IBM Plex Mono"/>
                <a:cs typeface="IBM Plex Mono"/>
                <a:sym typeface="IBM Plex Mono"/>
              </a:rPr>
              <a:t>05 · HOW IT WORKS</a:t>
            </a:r>
            <a:endParaRPr b="0" i="0" sz="1200" u="none" cap="none" strike="noStrike">
              <a:solidFill>
                <a:schemeClr val="dk1"/>
              </a:solidFill>
              <a:latin typeface="Calibri"/>
              <a:ea typeface="Calibri"/>
              <a:cs typeface="Calibri"/>
              <a:sym typeface="Calibri"/>
            </a:endParaRPr>
          </a:p>
        </p:txBody>
      </p:sp>
      <p:sp>
        <p:nvSpPr>
          <p:cNvPr id="192" name="Google Shape;192;p11"/>
          <p:cNvSpPr/>
          <p:nvPr/>
        </p:nvSpPr>
        <p:spPr>
          <a:xfrm>
            <a:off x="812800" y="1229361"/>
            <a:ext cx="10883392"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3EC"/>
              </a:buClr>
              <a:buSzPts val="3600"/>
              <a:buFont typeface="Fraunces"/>
              <a:buNone/>
            </a:pPr>
            <a:r>
              <a:rPr b="0" i="0" lang="en-US" sz="3600" u="none" cap="none" strike="noStrike">
                <a:solidFill>
                  <a:srgbClr val="F6F3EC"/>
                </a:solidFill>
                <a:latin typeface="Fraunces"/>
                <a:ea typeface="Fraunces"/>
                <a:cs typeface="Fraunces"/>
                <a:sym typeface="Fraunces"/>
              </a:rPr>
              <a:t>Any record to a signed form, in five steps</a:t>
            </a:r>
            <a:endParaRPr b="0" i="0" sz="3600" u="none" cap="none" strike="noStrike">
              <a:solidFill>
                <a:schemeClr val="dk1"/>
              </a:solidFill>
              <a:latin typeface="Calibri"/>
              <a:ea typeface="Calibri"/>
              <a:cs typeface="Calibri"/>
              <a:sym typeface="Calibri"/>
            </a:endParaRPr>
          </a:p>
        </p:txBody>
      </p:sp>
      <p:sp>
        <p:nvSpPr>
          <p:cNvPr id="193" name="Google Shape;193;p11"/>
          <p:cNvSpPr/>
          <p:nvPr/>
        </p:nvSpPr>
        <p:spPr>
          <a:xfrm>
            <a:off x="812800" y="1935482"/>
            <a:ext cx="10883392"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DD3"/>
              </a:buClr>
              <a:buSzPts val="1500"/>
              <a:buFont typeface="IBM Plex Sans"/>
              <a:buNone/>
            </a:pPr>
            <a:r>
              <a:rPr b="0" i="0" lang="en-US" sz="1500" u="none" cap="none" strike="noStrike">
                <a:solidFill>
                  <a:srgbClr val="B9CDD3"/>
                </a:solidFill>
                <a:latin typeface="IBM Plex Sans"/>
                <a:ea typeface="IBM Plex Sans"/>
                <a:cs typeface="IBM Plex Sans"/>
                <a:sym typeface="IBM Plex Sans"/>
              </a:rPr>
              <a:t>Follow one value: the weight on the faxed note</a:t>
            </a:r>
            <a:endParaRPr b="0" i="0" sz="1500" u="none" cap="none" strike="noStrike">
              <a:solidFill>
                <a:schemeClr val="dk1"/>
              </a:solidFill>
              <a:latin typeface="Calibri"/>
              <a:ea typeface="Calibri"/>
              <a:cs typeface="Calibri"/>
              <a:sym typeface="Calibri"/>
            </a:endParaRPr>
          </a:p>
        </p:txBody>
      </p:sp>
      <p:sp>
        <p:nvSpPr>
          <p:cNvPr id="194" name="Google Shape;194;p11"/>
          <p:cNvSpPr/>
          <p:nvPr/>
        </p:nvSpPr>
        <p:spPr>
          <a:xfrm>
            <a:off x="819150" y="2411732"/>
            <a:ext cx="1795780" cy="2946400"/>
          </a:xfrm>
          <a:prstGeom prst="roundRect">
            <a:avLst>
              <a:gd fmla="val 4597" name="adj"/>
            </a:avLst>
          </a:prstGeom>
          <a:solidFill>
            <a:srgbClr val="12384A"/>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1"/>
          <p:cNvSpPr/>
          <p:nvPr/>
        </p:nvSpPr>
        <p:spPr>
          <a:xfrm>
            <a:off x="977900" y="2608582"/>
            <a:ext cx="1529080"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C14E"/>
              </a:buClr>
              <a:buSzPts val="1200"/>
              <a:buFont typeface="IBM Plex Mono"/>
              <a:buNone/>
            </a:pPr>
            <a:r>
              <a:rPr b="0" i="0" lang="en-US" sz="1200" u="none" cap="none" strike="noStrike">
                <a:solidFill>
                  <a:srgbClr val="F2C14E"/>
                </a:solidFill>
                <a:latin typeface="IBM Plex Mono"/>
                <a:ea typeface="IBM Plex Mono"/>
                <a:cs typeface="IBM Plex Mono"/>
                <a:sym typeface="IBM Plex Mono"/>
              </a:rPr>
              <a:t>1 · AI</a:t>
            </a:r>
            <a:endParaRPr b="0" i="0" sz="1200" u="none" cap="none" strike="noStrike">
              <a:solidFill>
                <a:schemeClr val="dk1"/>
              </a:solidFill>
              <a:latin typeface="Calibri"/>
              <a:ea typeface="Calibri"/>
              <a:cs typeface="Calibri"/>
              <a:sym typeface="Calibri"/>
            </a:endParaRPr>
          </a:p>
        </p:txBody>
      </p:sp>
      <p:sp>
        <p:nvSpPr>
          <p:cNvPr id="196" name="Google Shape;196;p11"/>
          <p:cNvSpPr/>
          <p:nvPr/>
        </p:nvSpPr>
        <p:spPr>
          <a:xfrm>
            <a:off x="977900" y="2898139"/>
            <a:ext cx="1529080" cy="4216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3EC"/>
              </a:buClr>
              <a:buSzPts val="2600"/>
              <a:buFont typeface="Fraunces"/>
              <a:buNone/>
            </a:pPr>
            <a:r>
              <a:rPr b="1" i="0" lang="en-US" sz="2600" u="none" cap="none" strike="noStrike">
                <a:solidFill>
                  <a:srgbClr val="F6F3EC"/>
                </a:solidFill>
                <a:latin typeface="Fraunces"/>
                <a:ea typeface="Fraunces"/>
                <a:cs typeface="Fraunces"/>
                <a:sym typeface="Fraunces"/>
              </a:rPr>
              <a:t>Read</a:t>
            </a:r>
            <a:endParaRPr b="0" i="0" sz="2600" u="none" cap="none" strike="noStrike">
              <a:solidFill>
                <a:schemeClr val="dk1"/>
              </a:solidFill>
              <a:latin typeface="Calibri"/>
              <a:ea typeface="Calibri"/>
              <a:cs typeface="Calibri"/>
              <a:sym typeface="Calibri"/>
            </a:endParaRPr>
          </a:p>
        </p:txBody>
      </p:sp>
      <p:sp>
        <p:nvSpPr>
          <p:cNvPr id="197" name="Google Shape;197;p11"/>
          <p:cNvSpPr/>
          <p:nvPr/>
        </p:nvSpPr>
        <p:spPr>
          <a:xfrm>
            <a:off x="977900" y="3370582"/>
            <a:ext cx="1529080" cy="74549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9CDD3"/>
              </a:buClr>
              <a:buSzPts val="1400"/>
              <a:buFont typeface="IBM Plex Sans"/>
              <a:buNone/>
            </a:pPr>
            <a:r>
              <a:rPr b="0" i="0" lang="en-US" sz="1400" u="none" cap="none" strike="noStrike">
                <a:solidFill>
                  <a:srgbClr val="B9CDD3"/>
                </a:solidFill>
                <a:latin typeface="IBM Plex Sans"/>
                <a:ea typeface="IBM Plex Sans"/>
                <a:cs typeface="IBM Plex Sans"/>
                <a:sym typeface="IBM Plex Sans"/>
              </a:rPr>
              <a:t>Faxes, scans, FHIR become facts with quotes</a:t>
            </a:r>
            <a:endParaRPr b="0" i="0" sz="1400" u="none" cap="none" strike="noStrike">
              <a:solidFill>
                <a:schemeClr val="dk1"/>
              </a:solidFill>
              <a:latin typeface="Calibri"/>
              <a:ea typeface="Calibri"/>
              <a:cs typeface="Calibri"/>
              <a:sym typeface="Calibri"/>
            </a:endParaRPr>
          </a:p>
        </p:txBody>
      </p:sp>
      <p:sp>
        <p:nvSpPr>
          <p:cNvPr id="198" name="Google Shape;198;p11"/>
          <p:cNvSpPr/>
          <p:nvPr/>
        </p:nvSpPr>
        <p:spPr>
          <a:xfrm>
            <a:off x="977900" y="4770121"/>
            <a:ext cx="1478280" cy="391160"/>
          </a:xfrm>
          <a:prstGeom prst="roundRect">
            <a:avLst>
              <a:gd fmla="val 12987" name="adj"/>
            </a:avLst>
          </a:prstGeom>
          <a:solidFill>
            <a:srgbClr val="0B2A3B"/>
          </a:solidFill>
          <a:ln>
            <a:noFill/>
          </a:ln>
        </p:spPr>
        <p:txBody>
          <a:bodyPr anchorCtr="0" anchor="t" bIns="48600" lIns="86700" spcFirstLastPara="1" rIns="35900" wrap="square" tIns="74000">
            <a:noAutofit/>
          </a:bodyPr>
          <a:lstStyle/>
          <a:p>
            <a:pPr indent="0" lvl="0" marL="0" marR="0" rtl="0" algn="l">
              <a:lnSpc>
                <a:spcPct val="140000"/>
              </a:lnSpc>
              <a:spcBef>
                <a:spcPts val="0"/>
              </a:spcBef>
              <a:spcAft>
                <a:spcPts val="0"/>
              </a:spcAft>
              <a:buClr>
                <a:srgbClr val="F2C14E"/>
              </a:buClr>
              <a:buSzPts val="1200"/>
              <a:buFont typeface="IBM Plex Mono"/>
              <a:buNone/>
            </a:pPr>
            <a:r>
              <a:rPr b="0" i="0" lang="en-US" sz="1200" u="none" cap="none" strike="noStrike">
                <a:solidFill>
                  <a:srgbClr val="F2C14E"/>
                </a:solidFill>
                <a:latin typeface="IBM Plex Mono"/>
                <a:ea typeface="IBM Plex Mono"/>
                <a:cs typeface="IBM Plex Mono"/>
                <a:sym typeface="IBM Plex Mono"/>
              </a:rPr>
              <a:t>“Wt 172 lbs”</a:t>
            </a:r>
            <a:endParaRPr b="0" i="0" sz="1200" u="none" cap="none" strike="noStrike">
              <a:solidFill>
                <a:schemeClr val="dk1"/>
              </a:solidFill>
              <a:latin typeface="Calibri"/>
              <a:ea typeface="Calibri"/>
              <a:cs typeface="Calibri"/>
              <a:sym typeface="Calibri"/>
            </a:endParaRPr>
          </a:p>
        </p:txBody>
      </p:sp>
      <p:pic>
        <p:nvPicPr>
          <p:cNvPr descr="arrow-right" id="199" name="Google Shape;199;p11"/>
          <p:cNvPicPr preferRelativeResize="0"/>
          <p:nvPr/>
        </p:nvPicPr>
        <p:blipFill rotWithShape="1">
          <a:blip r:embed="rId3">
            <a:alphaModFix/>
          </a:blip>
          <a:srcRect b="0" l="0" r="0" t="0"/>
          <a:stretch/>
        </p:blipFill>
        <p:spPr>
          <a:xfrm>
            <a:off x="2697480" y="3815082"/>
            <a:ext cx="228600" cy="139700"/>
          </a:xfrm>
          <a:prstGeom prst="rect">
            <a:avLst/>
          </a:prstGeom>
          <a:noFill/>
          <a:ln>
            <a:noFill/>
          </a:ln>
        </p:spPr>
      </p:pic>
      <p:sp>
        <p:nvSpPr>
          <p:cNvPr id="200" name="Google Shape;200;p11"/>
          <p:cNvSpPr/>
          <p:nvPr/>
        </p:nvSpPr>
        <p:spPr>
          <a:xfrm>
            <a:off x="3008630" y="2411732"/>
            <a:ext cx="1795780" cy="2946400"/>
          </a:xfrm>
          <a:prstGeom prst="roundRect">
            <a:avLst>
              <a:gd fmla="val 4597" name="adj"/>
            </a:avLst>
          </a:prstGeom>
          <a:solidFill>
            <a:srgbClr val="12384A"/>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a:off x="3167380" y="2608582"/>
            <a:ext cx="1529080"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Mono"/>
              <a:buNone/>
            </a:pPr>
            <a:r>
              <a:rPr b="0" i="0" lang="en-US" sz="1200" u="none" cap="none" strike="noStrike">
                <a:solidFill>
                  <a:srgbClr val="2DD4BF"/>
                </a:solidFill>
                <a:latin typeface="IBM Plex Mono"/>
                <a:ea typeface="IBM Plex Mono"/>
                <a:cs typeface="IBM Plex Mono"/>
                <a:sym typeface="IBM Plex Mono"/>
              </a:rPr>
              <a:t>2 · RULES</a:t>
            </a:r>
            <a:endParaRPr b="0" i="0" sz="1200" u="none" cap="none" strike="noStrike">
              <a:solidFill>
                <a:schemeClr val="dk1"/>
              </a:solidFill>
              <a:latin typeface="Calibri"/>
              <a:ea typeface="Calibri"/>
              <a:cs typeface="Calibri"/>
              <a:sym typeface="Calibri"/>
            </a:endParaRPr>
          </a:p>
        </p:txBody>
      </p:sp>
      <p:sp>
        <p:nvSpPr>
          <p:cNvPr id="202" name="Google Shape;202;p11"/>
          <p:cNvSpPr/>
          <p:nvPr/>
        </p:nvSpPr>
        <p:spPr>
          <a:xfrm>
            <a:off x="3167380" y="2898139"/>
            <a:ext cx="1529080" cy="4216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3EC"/>
              </a:buClr>
              <a:buSzPts val="2600"/>
              <a:buFont typeface="Fraunces"/>
              <a:buNone/>
            </a:pPr>
            <a:r>
              <a:rPr b="1" i="0" lang="en-US" sz="2600" u="none" cap="none" strike="noStrike">
                <a:solidFill>
                  <a:srgbClr val="F6F3EC"/>
                </a:solidFill>
                <a:latin typeface="Fraunces"/>
                <a:ea typeface="Fraunces"/>
                <a:cs typeface="Fraunces"/>
                <a:sym typeface="Fraunces"/>
              </a:rPr>
              <a:t>Store</a:t>
            </a:r>
            <a:endParaRPr b="0" i="0" sz="2600" u="none" cap="none" strike="noStrike">
              <a:solidFill>
                <a:schemeClr val="dk1"/>
              </a:solidFill>
              <a:latin typeface="Calibri"/>
              <a:ea typeface="Calibri"/>
              <a:cs typeface="Calibri"/>
              <a:sym typeface="Calibri"/>
            </a:endParaRPr>
          </a:p>
        </p:txBody>
      </p:sp>
      <p:sp>
        <p:nvSpPr>
          <p:cNvPr id="203" name="Google Shape;203;p11"/>
          <p:cNvSpPr/>
          <p:nvPr/>
        </p:nvSpPr>
        <p:spPr>
          <a:xfrm>
            <a:off x="3167380" y="3370582"/>
            <a:ext cx="1529080" cy="74549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9CDD3"/>
              </a:buClr>
              <a:buSzPts val="1400"/>
              <a:buFont typeface="IBM Plex Sans"/>
              <a:buNone/>
            </a:pPr>
            <a:r>
              <a:rPr b="0" i="0" lang="en-US" sz="1400" u="none" cap="none" strike="noStrike">
                <a:solidFill>
                  <a:srgbClr val="B9CDD3"/>
                </a:solidFill>
                <a:latin typeface="IBM Plex Sans"/>
                <a:ea typeface="IBM Plex Sans"/>
                <a:cs typeface="IBM Plex Sans"/>
                <a:sym typeface="IBM Plex Sans"/>
              </a:rPr>
              <a:t>Every source lands in one patient record</a:t>
            </a:r>
            <a:endParaRPr b="0" i="0" sz="1400" u="none" cap="none" strike="noStrike">
              <a:solidFill>
                <a:schemeClr val="dk1"/>
              </a:solidFill>
              <a:latin typeface="Calibri"/>
              <a:ea typeface="Calibri"/>
              <a:cs typeface="Calibri"/>
              <a:sym typeface="Calibri"/>
            </a:endParaRPr>
          </a:p>
        </p:txBody>
      </p:sp>
      <p:sp>
        <p:nvSpPr>
          <p:cNvPr id="204" name="Google Shape;204;p11"/>
          <p:cNvSpPr/>
          <p:nvPr/>
        </p:nvSpPr>
        <p:spPr>
          <a:xfrm>
            <a:off x="3167380" y="4556761"/>
            <a:ext cx="1478280" cy="604520"/>
          </a:xfrm>
          <a:prstGeom prst="roundRect">
            <a:avLst>
              <a:gd fmla="val 8403" name="adj"/>
            </a:avLst>
          </a:prstGeom>
          <a:solidFill>
            <a:srgbClr val="0B2A3B"/>
          </a:solidFill>
          <a:ln>
            <a:noFill/>
          </a:ln>
        </p:spPr>
        <p:txBody>
          <a:bodyPr anchorCtr="0" anchor="t" bIns="48600" lIns="86700" spcFirstLastPara="1" rIns="35900" wrap="square" tIns="74000">
            <a:noAutofit/>
          </a:bodyPr>
          <a:lstStyle/>
          <a:p>
            <a:pPr indent="0" lvl="0" marL="0" marR="0" rtl="0" algn="l">
              <a:lnSpc>
                <a:spcPct val="140000"/>
              </a:lnSpc>
              <a:spcBef>
                <a:spcPts val="0"/>
              </a:spcBef>
              <a:spcAft>
                <a:spcPts val="0"/>
              </a:spcAft>
              <a:buClr>
                <a:srgbClr val="2DD4BF"/>
              </a:buClr>
              <a:buSzPts val="1200"/>
              <a:buFont typeface="IBM Plex Mono"/>
              <a:buNone/>
            </a:pPr>
            <a:r>
              <a:rPr b="0" i="0" lang="en-US" sz="1200" u="none" cap="none" strike="noStrike">
                <a:solidFill>
                  <a:srgbClr val="2DD4BF"/>
                </a:solidFill>
                <a:latin typeface="IBM Plex Mono"/>
                <a:ea typeface="IBM Plex Mono"/>
                <a:cs typeface="IBM Plex Mono"/>
                <a:sym typeface="IBM Plex Mono"/>
              </a:rPr>
              <a:t>weight · Jul 6 · fax pg 1</a:t>
            </a:r>
            <a:endParaRPr b="0" i="0" sz="1200" u="none" cap="none" strike="noStrike">
              <a:solidFill>
                <a:schemeClr val="dk1"/>
              </a:solidFill>
              <a:latin typeface="Calibri"/>
              <a:ea typeface="Calibri"/>
              <a:cs typeface="Calibri"/>
              <a:sym typeface="Calibri"/>
            </a:endParaRPr>
          </a:p>
        </p:txBody>
      </p:sp>
      <p:pic>
        <p:nvPicPr>
          <p:cNvPr descr="arrow-right" id="205" name="Google Shape;205;p11"/>
          <p:cNvPicPr preferRelativeResize="0"/>
          <p:nvPr/>
        </p:nvPicPr>
        <p:blipFill rotWithShape="1">
          <a:blip r:embed="rId3">
            <a:alphaModFix/>
          </a:blip>
          <a:srcRect b="0" l="0" r="0" t="0"/>
          <a:stretch/>
        </p:blipFill>
        <p:spPr>
          <a:xfrm>
            <a:off x="4886960" y="3815082"/>
            <a:ext cx="228600" cy="139700"/>
          </a:xfrm>
          <a:prstGeom prst="rect">
            <a:avLst/>
          </a:prstGeom>
          <a:noFill/>
          <a:ln>
            <a:noFill/>
          </a:ln>
        </p:spPr>
      </p:pic>
      <p:sp>
        <p:nvSpPr>
          <p:cNvPr id="206" name="Google Shape;206;p11"/>
          <p:cNvSpPr/>
          <p:nvPr/>
        </p:nvSpPr>
        <p:spPr>
          <a:xfrm>
            <a:off x="5198110" y="2411732"/>
            <a:ext cx="1795780" cy="2946400"/>
          </a:xfrm>
          <a:prstGeom prst="roundRect">
            <a:avLst>
              <a:gd fmla="val 4597" name="adj"/>
            </a:avLst>
          </a:prstGeom>
          <a:solidFill>
            <a:srgbClr val="12384A"/>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a:off x="5356860" y="2608582"/>
            <a:ext cx="1529080"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Mono"/>
              <a:buNone/>
            </a:pPr>
            <a:r>
              <a:rPr b="0" i="0" lang="en-US" sz="1200" u="none" cap="none" strike="noStrike">
                <a:solidFill>
                  <a:srgbClr val="2DD4BF"/>
                </a:solidFill>
                <a:latin typeface="IBM Plex Mono"/>
                <a:ea typeface="IBM Plex Mono"/>
                <a:cs typeface="IBM Plex Mono"/>
                <a:sym typeface="IBM Plex Mono"/>
              </a:rPr>
              <a:t>3 · RULES</a:t>
            </a:r>
            <a:endParaRPr b="0" i="0" sz="1200" u="none" cap="none" strike="noStrike">
              <a:solidFill>
                <a:schemeClr val="dk1"/>
              </a:solidFill>
              <a:latin typeface="Calibri"/>
              <a:ea typeface="Calibri"/>
              <a:cs typeface="Calibri"/>
              <a:sym typeface="Calibri"/>
            </a:endParaRPr>
          </a:p>
        </p:txBody>
      </p:sp>
      <p:sp>
        <p:nvSpPr>
          <p:cNvPr id="208" name="Google Shape;208;p11"/>
          <p:cNvSpPr/>
          <p:nvPr/>
        </p:nvSpPr>
        <p:spPr>
          <a:xfrm>
            <a:off x="5356860" y="2898139"/>
            <a:ext cx="1529080" cy="4216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3EC"/>
              </a:buClr>
              <a:buSzPts val="2600"/>
              <a:buFont typeface="Fraunces"/>
              <a:buNone/>
            </a:pPr>
            <a:r>
              <a:rPr b="1" i="0" lang="en-US" sz="2600" u="none" cap="none" strike="noStrike">
                <a:solidFill>
                  <a:srgbClr val="F6F3EC"/>
                </a:solidFill>
                <a:latin typeface="Fraunces"/>
                <a:ea typeface="Fraunces"/>
                <a:cs typeface="Fraunces"/>
                <a:sym typeface="Fraunces"/>
              </a:rPr>
              <a:t>Fill</a:t>
            </a:r>
            <a:endParaRPr b="0" i="0" sz="2600" u="none" cap="none" strike="noStrike">
              <a:solidFill>
                <a:schemeClr val="dk1"/>
              </a:solidFill>
              <a:latin typeface="Calibri"/>
              <a:ea typeface="Calibri"/>
              <a:cs typeface="Calibri"/>
              <a:sym typeface="Calibri"/>
            </a:endParaRPr>
          </a:p>
        </p:txBody>
      </p:sp>
      <p:sp>
        <p:nvSpPr>
          <p:cNvPr id="209" name="Google Shape;209;p11"/>
          <p:cNvSpPr/>
          <p:nvPr/>
        </p:nvSpPr>
        <p:spPr>
          <a:xfrm>
            <a:off x="5356860" y="3370582"/>
            <a:ext cx="1529080" cy="74549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9CDD3"/>
              </a:buClr>
              <a:buSzPts val="1400"/>
              <a:buFont typeface="IBM Plex Sans"/>
              <a:buNone/>
            </a:pPr>
            <a:r>
              <a:rPr b="0" i="0" lang="en-US" sz="1400" u="none" cap="none" strike="noStrike">
                <a:solidFill>
                  <a:srgbClr val="B9CDD3"/>
                </a:solidFill>
                <a:latin typeface="IBM Plex Sans"/>
                <a:ea typeface="IBM Plex Sans"/>
                <a:cs typeface="IBM Plex Sans"/>
                <a:sym typeface="IBM Plex Sans"/>
              </a:rPr>
              <a:t>The record fills the trial form, units converted</a:t>
            </a:r>
            <a:endParaRPr b="0" i="0" sz="1400" u="none" cap="none" strike="noStrike">
              <a:solidFill>
                <a:schemeClr val="dk1"/>
              </a:solidFill>
              <a:latin typeface="Calibri"/>
              <a:ea typeface="Calibri"/>
              <a:cs typeface="Calibri"/>
              <a:sym typeface="Calibri"/>
            </a:endParaRPr>
          </a:p>
        </p:txBody>
      </p:sp>
      <p:sp>
        <p:nvSpPr>
          <p:cNvPr id="210" name="Google Shape;210;p11"/>
          <p:cNvSpPr/>
          <p:nvPr/>
        </p:nvSpPr>
        <p:spPr>
          <a:xfrm>
            <a:off x="5356860" y="4556761"/>
            <a:ext cx="1478280" cy="604520"/>
          </a:xfrm>
          <a:prstGeom prst="roundRect">
            <a:avLst>
              <a:gd fmla="val 8403" name="adj"/>
            </a:avLst>
          </a:prstGeom>
          <a:solidFill>
            <a:srgbClr val="0B2A3B"/>
          </a:solidFill>
          <a:ln>
            <a:noFill/>
          </a:ln>
        </p:spPr>
        <p:txBody>
          <a:bodyPr anchorCtr="0" anchor="t" bIns="48600" lIns="86700" spcFirstLastPara="1" rIns="35900" wrap="square" tIns="74000">
            <a:noAutofit/>
          </a:bodyPr>
          <a:lstStyle/>
          <a:p>
            <a:pPr indent="0" lvl="0" marL="0" marR="0" rtl="0" algn="l">
              <a:lnSpc>
                <a:spcPct val="140000"/>
              </a:lnSpc>
              <a:spcBef>
                <a:spcPts val="0"/>
              </a:spcBef>
              <a:spcAft>
                <a:spcPts val="0"/>
              </a:spcAft>
              <a:buClr>
                <a:srgbClr val="2DD4BF"/>
              </a:buClr>
              <a:buSzPts val="1200"/>
              <a:buFont typeface="IBM Plex Mono"/>
              <a:buNone/>
            </a:pPr>
            <a:r>
              <a:rPr b="0" i="0" lang="en-US" sz="1200" u="none" cap="none" strike="noStrike">
                <a:solidFill>
                  <a:srgbClr val="2DD4BF"/>
                </a:solidFill>
                <a:latin typeface="IBM Plex Mono"/>
                <a:ea typeface="IBM Plex Mono"/>
                <a:cs typeface="IBM Plex Mono"/>
                <a:sym typeface="IBM Plex Mono"/>
              </a:rPr>
              <a:t>Weight: 78.0 kg</a:t>
            </a:r>
            <a:endParaRPr b="0" i="0" sz="1200" u="none" cap="none" strike="noStrike">
              <a:solidFill>
                <a:schemeClr val="dk1"/>
              </a:solidFill>
              <a:latin typeface="Calibri"/>
              <a:ea typeface="Calibri"/>
              <a:cs typeface="Calibri"/>
              <a:sym typeface="Calibri"/>
            </a:endParaRPr>
          </a:p>
        </p:txBody>
      </p:sp>
      <p:pic>
        <p:nvPicPr>
          <p:cNvPr descr="arrow-right" id="211" name="Google Shape;211;p11"/>
          <p:cNvPicPr preferRelativeResize="0"/>
          <p:nvPr/>
        </p:nvPicPr>
        <p:blipFill rotWithShape="1">
          <a:blip r:embed="rId3">
            <a:alphaModFix/>
          </a:blip>
          <a:srcRect b="0" l="0" r="0" t="0"/>
          <a:stretch/>
        </p:blipFill>
        <p:spPr>
          <a:xfrm>
            <a:off x="7076440" y="3815082"/>
            <a:ext cx="228600" cy="139700"/>
          </a:xfrm>
          <a:prstGeom prst="rect">
            <a:avLst/>
          </a:prstGeom>
          <a:noFill/>
          <a:ln>
            <a:noFill/>
          </a:ln>
        </p:spPr>
      </p:pic>
      <p:sp>
        <p:nvSpPr>
          <p:cNvPr id="212" name="Google Shape;212;p11"/>
          <p:cNvSpPr/>
          <p:nvPr/>
        </p:nvSpPr>
        <p:spPr>
          <a:xfrm>
            <a:off x="7387590" y="2411732"/>
            <a:ext cx="1795780" cy="2946400"/>
          </a:xfrm>
          <a:prstGeom prst="roundRect">
            <a:avLst>
              <a:gd fmla="val 4597" name="adj"/>
            </a:avLst>
          </a:prstGeom>
          <a:solidFill>
            <a:srgbClr val="12384A"/>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a:off x="7546340" y="2608582"/>
            <a:ext cx="1529080"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Mono"/>
              <a:buNone/>
            </a:pPr>
            <a:r>
              <a:rPr b="0" i="0" lang="en-US" sz="1200" u="none" cap="none" strike="noStrike">
                <a:solidFill>
                  <a:srgbClr val="2DD4BF"/>
                </a:solidFill>
                <a:latin typeface="IBM Plex Mono"/>
                <a:ea typeface="IBM Plex Mono"/>
                <a:cs typeface="IBM Plex Mono"/>
                <a:sym typeface="IBM Plex Mono"/>
              </a:rPr>
              <a:t>4 · RULES</a:t>
            </a:r>
            <a:endParaRPr b="0" i="0" sz="1200" u="none" cap="none" strike="noStrike">
              <a:solidFill>
                <a:schemeClr val="dk1"/>
              </a:solidFill>
              <a:latin typeface="Calibri"/>
              <a:ea typeface="Calibri"/>
              <a:cs typeface="Calibri"/>
              <a:sym typeface="Calibri"/>
            </a:endParaRPr>
          </a:p>
        </p:txBody>
      </p:sp>
      <p:sp>
        <p:nvSpPr>
          <p:cNvPr id="214" name="Google Shape;214;p11"/>
          <p:cNvSpPr/>
          <p:nvPr/>
        </p:nvSpPr>
        <p:spPr>
          <a:xfrm>
            <a:off x="7546340" y="2898139"/>
            <a:ext cx="1529080" cy="4216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3EC"/>
              </a:buClr>
              <a:buSzPts val="2600"/>
              <a:buFont typeface="Fraunces"/>
              <a:buNone/>
            </a:pPr>
            <a:r>
              <a:rPr b="1" i="0" lang="en-US" sz="2600" u="none" cap="none" strike="noStrike">
                <a:solidFill>
                  <a:srgbClr val="F6F3EC"/>
                </a:solidFill>
                <a:latin typeface="Fraunces"/>
                <a:ea typeface="Fraunces"/>
                <a:cs typeface="Fraunces"/>
                <a:sym typeface="Fraunces"/>
              </a:rPr>
              <a:t>Verify</a:t>
            </a:r>
            <a:endParaRPr b="0" i="0" sz="2600" u="none" cap="none" strike="noStrike">
              <a:solidFill>
                <a:schemeClr val="dk1"/>
              </a:solidFill>
              <a:latin typeface="Calibri"/>
              <a:ea typeface="Calibri"/>
              <a:cs typeface="Calibri"/>
              <a:sym typeface="Calibri"/>
            </a:endParaRPr>
          </a:p>
        </p:txBody>
      </p:sp>
      <p:sp>
        <p:nvSpPr>
          <p:cNvPr id="215" name="Google Shape;215;p11"/>
          <p:cNvSpPr/>
          <p:nvPr/>
        </p:nvSpPr>
        <p:spPr>
          <a:xfrm>
            <a:off x="7546340" y="3370582"/>
            <a:ext cx="1529080" cy="74549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9CDD3"/>
              </a:buClr>
              <a:buSzPts val="1400"/>
              <a:buFont typeface="IBM Plex Sans"/>
              <a:buNone/>
            </a:pPr>
            <a:r>
              <a:rPr b="0" i="0" lang="en-US" sz="1400" u="none" cap="none" strike="noStrike">
                <a:solidFill>
                  <a:srgbClr val="B9CDD3"/>
                </a:solidFill>
                <a:latin typeface="IBM Plex Sans"/>
                <a:ea typeface="IBM Plex Sans"/>
                <a:cs typeface="IBM Plex Sans"/>
                <a:sym typeface="IBM Plex Sans"/>
              </a:rPr>
              <a:t>Every field re-checked against every source</a:t>
            </a:r>
            <a:endParaRPr b="0" i="0" sz="1400" u="none" cap="none" strike="noStrike">
              <a:solidFill>
                <a:schemeClr val="dk1"/>
              </a:solidFill>
              <a:latin typeface="Calibri"/>
              <a:ea typeface="Calibri"/>
              <a:cs typeface="Calibri"/>
              <a:sym typeface="Calibri"/>
            </a:endParaRPr>
          </a:p>
        </p:txBody>
      </p:sp>
      <p:sp>
        <p:nvSpPr>
          <p:cNvPr id="216" name="Google Shape;216;p11"/>
          <p:cNvSpPr/>
          <p:nvPr/>
        </p:nvSpPr>
        <p:spPr>
          <a:xfrm>
            <a:off x="7546340" y="4343400"/>
            <a:ext cx="1478280" cy="817880"/>
          </a:xfrm>
          <a:prstGeom prst="roundRect">
            <a:avLst>
              <a:gd fmla="val 6211" name="adj"/>
            </a:avLst>
          </a:prstGeom>
          <a:solidFill>
            <a:srgbClr val="0B2A3B"/>
          </a:solidFill>
          <a:ln>
            <a:noFill/>
          </a:ln>
        </p:spPr>
        <p:txBody>
          <a:bodyPr anchorCtr="0" anchor="t" bIns="48600" lIns="86700" spcFirstLastPara="1" rIns="35900" wrap="square" tIns="74000">
            <a:noAutofit/>
          </a:bodyPr>
          <a:lstStyle/>
          <a:p>
            <a:pPr indent="0" lvl="0" marL="0" marR="0" rtl="0" algn="l">
              <a:lnSpc>
                <a:spcPct val="140000"/>
              </a:lnSpc>
              <a:spcBef>
                <a:spcPts val="0"/>
              </a:spcBef>
              <a:spcAft>
                <a:spcPts val="0"/>
              </a:spcAft>
              <a:buClr>
                <a:srgbClr val="2DD4BF"/>
              </a:buClr>
              <a:buSzPts val="1200"/>
              <a:buFont typeface="IBM Plex Mono"/>
              <a:buNone/>
            </a:pPr>
            <a:r>
              <a:rPr b="0" i="0" lang="en-US" sz="1200" u="none" cap="none" strike="noStrike">
                <a:solidFill>
                  <a:srgbClr val="2DD4BF"/>
                </a:solidFill>
                <a:latin typeface="IBM Plex Mono"/>
                <a:ea typeface="IBM Plex Mono"/>
                <a:cs typeface="IBM Plex Mono"/>
                <a:sym typeface="IBM Plex Mono"/>
              </a:rPr>
              <a:t>Agrees with hospital scale</a:t>
            </a:r>
            <a:endParaRPr b="0" i="0" sz="1200" u="none" cap="none" strike="noStrike">
              <a:solidFill>
                <a:schemeClr val="dk1"/>
              </a:solidFill>
              <a:latin typeface="Calibri"/>
              <a:ea typeface="Calibri"/>
              <a:cs typeface="Calibri"/>
              <a:sym typeface="Calibri"/>
            </a:endParaRPr>
          </a:p>
        </p:txBody>
      </p:sp>
      <p:pic>
        <p:nvPicPr>
          <p:cNvPr descr="arrow-right" id="217" name="Google Shape;217;p11"/>
          <p:cNvPicPr preferRelativeResize="0"/>
          <p:nvPr/>
        </p:nvPicPr>
        <p:blipFill rotWithShape="1">
          <a:blip r:embed="rId3">
            <a:alphaModFix/>
          </a:blip>
          <a:srcRect b="0" l="0" r="0" t="0"/>
          <a:stretch/>
        </p:blipFill>
        <p:spPr>
          <a:xfrm>
            <a:off x="9265920" y="3815082"/>
            <a:ext cx="228600" cy="139700"/>
          </a:xfrm>
          <a:prstGeom prst="rect">
            <a:avLst/>
          </a:prstGeom>
          <a:noFill/>
          <a:ln>
            <a:noFill/>
          </a:ln>
        </p:spPr>
      </p:pic>
      <p:sp>
        <p:nvSpPr>
          <p:cNvPr id="218" name="Google Shape;218;p11"/>
          <p:cNvSpPr/>
          <p:nvPr/>
        </p:nvSpPr>
        <p:spPr>
          <a:xfrm>
            <a:off x="9577070" y="2411732"/>
            <a:ext cx="1795780" cy="2946400"/>
          </a:xfrm>
          <a:prstGeom prst="roundRect">
            <a:avLst>
              <a:gd fmla="val 4597" name="adj"/>
            </a:avLst>
          </a:prstGeom>
          <a:solidFill>
            <a:srgbClr val="F6F3EC"/>
          </a:solidFill>
          <a:ln cap="flat" cmpd="sng" w="12700">
            <a:solidFill>
              <a:srgbClr val="F6F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
          <p:cNvSpPr/>
          <p:nvPr/>
        </p:nvSpPr>
        <p:spPr>
          <a:xfrm>
            <a:off x="9735820" y="2608582"/>
            <a:ext cx="1529080"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Mono"/>
              <a:buNone/>
            </a:pPr>
            <a:r>
              <a:rPr b="0" i="0" lang="en-US" sz="1200" u="none" cap="none" strike="noStrike">
                <a:solidFill>
                  <a:srgbClr val="0F766E"/>
                </a:solidFill>
                <a:latin typeface="IBM Plex Mono"/>
                <a:ea typeface="IBM Plex Mono"/>
                <a:cs typeface="IBM Plex Mono"/>
                <a:sym typeface="IBM Plex Mono"/>
              </a:rPr>
              <a:t>5 · HUMAN</a:t>
            </a:r>
            <a:endParaRPr b="0" i="0" sz="1200" u="none" cap="none" strike="noStrike">
              <a:solidFill>
                <a:schemeClr val="dk1"/>
              </a:solidFill>
              <a:latin typeface="Calibri"/>
              <a:ea typeface="Calibri"/>
              <a:cs typeface="Calibri"/>
              <a:sym typeface="Calibri"/>
            </a:endParaRPr>
          </a:p>
        </p:txBody>
      </p:sp>
      <p:sp>
        <p:nvSpPr>
          <p:cNvPr id="220" name="Google Shape;220;p11"/>
          <p:cNvSpPr/>
          <p:nvPr/>
        </p:nvSpPr>
        <p:spPr>
          <a:xfrm>
            <a:off x="9735820" y="2898139"/>
            <a:ext cx="1529080" cy="4216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2A3B"/>
              </a:buClr>
              <a:buSzPts val="2600"/>
              <a:buFont typeface="Fraunces"/>
              <a:buNone/>
            </a:pPr>
            <a:r>
              <a:rPr b="1" i="0" lang="en-US" sz="2600" u="none" cap="none" strike="noStrike">
                <a:solidFill>
                  <a:srgbClr val="0B2A3B"/>
                </a:solidFill>
                <a:latin typeface="Fraunces"/>
                <a:ea typeface="Fraunces"/>
                <a:cs typeface="Fraunces"/>
                <a:sym typeface="Fraunces"/>
              </a:rPr>
              <a:t>Sign</a:t>
            </a:r>
            <a:endParaRPr b="0" i="0" sz="2600" u="none" cap="none" strike="noStrike">
              <a:solidFill>
                <a:schemeClr val="dk1"/>
              </a:solidFill>
              <a:latin typeface="Calibri"/>
              <a:ea typeface="Calibri"/>
              <a:cs typeface="Calibri"/>
              <a:sym typeface="Calibri"/>
            </a:endParaRPr>
          </a:p>
        </p:txBody>
      </p:sp>
      <p:sp>
        <p:nvSpPr>
          <p:cNvPr id="221" name="Google Shape;221;p11"/>
          <p:cNvSpPr/>
          <p:nvPr/>
        </p:nvSpPr>
        <p:spPr>
          <a:xfrm>
            <a:off x="9735820" y="3370582"/>
            <a:ext cx="1529080" cy="9855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3D4B55"/>
              </a:buClr>
              <a:buSzPts val="1400"/>
              <a:buFont typeface="IBM Plex Sans"/>
              <a:buNone/>
            </a:pPr>
            <a:r>
              <a:rPr b="0" i="0" lang="en-US" sz="1400" u="none" cap="none" strike="noStrike">
                <a:solidFill>
                  <a:srgbClr val="3D4B55"/>
                </a:solidFill>
                <a:latin typeface="IBM Plex Sans"/>
                <a:ea typeface="IBM Plex Sans"/>
                <a:cs typeface="IBM Plex Sans"/>
                <a:sym typeface="IBM Plex Sans"/>
              </a:rPr>
              <a:t>A person resolves flags and exports to the trial database</a:t>
            </a:r>
            <a:endParaRPr b="0" i="0" sz="1400" u="none" cap="none" strike="noStrike">
              <a:solidFill>
                <a:schemeClr val="dk1"/>
              </a:solidFill>
              <a:latin typeface="Calibri"/>
              <a:ea typeface="Calibri"/>
              <a:cs typeface="Calibri"/>
              <a:sym typeface="Calibri"/>
            </a:endParaRPr>
          </a:p>
        </p:txBody>
      </p:sp>
      <p:sp>
        <p:nvSpPr>
          <p:cNvPr id="222" name="Google Shape;222;p11"/>
          <p:cNvSpPr/>
          <p:nvPr/>
        </p:nvSpPr>
        <p:spPr>
          <a:xfrm>
            <a:off x="9735820" y="4556761"/>
            <a:ext cx="1478280" cy="604520"/>
          </a:xfrm>
          <a:prstGeom prst="roundRect">
            <a:avLst>
              <a:gd fmla="val 8403" name="adj"/>
            </a:avLst>
          </a:prstGeom>
          <a:solidFill>
            <a:srgbClr val="0B2A3B"/>
          </a:solidFill>
          <a:ln>
            <a:noFill/>
          </a:ln>
        </p:spPr>
        <p:txBody>
          <a:bodyPr anchorCtr="0" anchor="t" bIns="48600" lIns="86700" spcFirstLastPara="1" rIns="35900" wrap="square" tIns="74000">
            <a:noAutofit/>
          </a:bodyPr>
          <a:lstStyle/>
          <a:p>
            <a:pPr indent="0" lvl="0" marL="0" marR="0" rtl="0" algn="l">
              <a:lnSpc>
                <a:spcPct val="140000"/>
              </a:lnSpc>
              <a:spcBef>
                <a:spcPts val="0"/>
              </a:spcBef>
              <a:spcAft>
                <a:spcPts val="0"/>
              </a:spcAft>
              <a:buClr>
                <a:srgbClr val="F6F3EC"/>
              </a:buClr>
              <a:buSzPts val="1200"/>
              <a:buFont typeface="IBM Plex Mono"/>
              <a:buNone/>
            </a:pPr>
            <a:r>
              <a:rPr b="0" i="0" lang="en-US" sz="1200" u="none" cap="none" strike="noStrike">
                <a:solidFill>
                  <a:srgbClr val="F6F3EC"/>
                </a:solidFill>
                <a:latin typeface="IBM Plex Mono"/>
                <a:ea typeface="IBM Plex Mono"/>
                <a:cs typeface="IBM Plex Mono"/>
                <a:sym typeface="IBM Plex Mono"/>
              </a:rPr>
              <a:t>Signed · sent to EDC</a:t>
            </a:r>
            <a:endParaRPr b="0" i="0" sz="1200" u="none" cap="none" strike="noStrike">
              <a:solidFill>
                <a:schemeClr val="dk1"/>
              </a:solidFill>
              <a:latin typeface="Calibri"/>
              <a:ea typeface="Calibri"/>
              <a:cs typeface="Calibri"/>
              <a:sym typeface="Calibri"/>
            </a:endParaRPr>
          </a:p>
        </p:txBody>
      </p:sp>
      <p:sp>
        <p:nvSpPr>
          <p:cNvPr id="223" name="Google Shape;223;p11"/>
          <p:cNvSpPr/>
          <p:nvPr/>
        </p:nvSpPr>
        <p:spPr>
          <a:xfrm>
            <a:off x="812800" y="5567682"/>
            <a:ext cx="10883392" cy="2997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9CDD3"/>
              </a:buClr>
              <a:buSzPts val="1600"/>
              <a:buFont typeface="IBM Plex Sans"/>
              <a:buNone/>
            </a:pPr>
            <a:r>
              <a:rPr b="0" i="0" lang="en-US" sz="1600" u="none" cap="none" strike="noStrike">
                <a:solidFill>
                  <a:srgbClr val="B9CDD3"/>
                </a:solidFill>
                <a:latin typeface="IBM Plex Sans"/>
                <a:ea typeface="IBM Plex Sans"/>
                <a:cs typeface="IBM Plex Sans"/>
                <a:sym typeface="IBM Plex Sans"/>
              </a:rPr>
              <a:t>Only step 1 uses AI — </a:t>
            </a:r>
            <a:r>
              <a:rPr b="0" i="0" lang="en-US" sz="1600" u="none" cap="none" strike="noStrike">
                <a:solidFill>
                  <a:srgbClr val="F2C14E"/>
                </a:solidFill>
                <a:latin typeface="IBM Plex Sans"/>
                <a:ea typeface="IBM Plex Sans"/>
                <a:cs typeface="IBM Plex Sans"/>
                <a:sym typeface="IBM Plex Sans"/>
              </a:rPr>
              <a:t>every step after it checks the one before, so a model error can't reach the form</a:t>
            </a:r>
            <a:endParaRPr b="0" i="0" sz="1600" u="none" cap="none" strike="noStrike">
              <a:solidFill>
                <a:schemeClr val="dk1"/>
              </a:solidFill>
              <a:latin typeface="Calibri"/>
              <a:ea typeface="Calibri"/>
              <a:cs typeface="Calibri"/>
              <a:sym typeface="Calibri"/>
            </a:endParaRPr>
          </a:p>
        </p:txBody>
      </p:sp>
      <p:sp>
        <p:nvSpPr>
          <p:cNvPr id="224" name="Google Shape;224;p11"/>
          <p:cNvSpPr/>
          <p:nvPr/>
        </p:nvSpPr>
        <p:spPr>
          <a:xfrm>
            <a:off x="10312400" y="6238239"/>
            <a:ext cx="106680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7F89"/>
              </a:buClr>
              <a:buSzPts val="1200"/>
              <a:buFont typeface="IBM Plex Mono"/>
              <a:buNone/>
            </a:pPr>
            <a:r>
              <a:rPr b="0" i="0" lang="en-US" sz="1200" u="none" cap="none" strike="noStrike">
                <a:solidFill>
                  <a:srgbClr val="5E7F89"/>
                </a:solidFill>
                <a:latin typeface="IBM Plex Mono"/>
                <a:ea typeface="IBM Plex Mono"/>
                <a:cs typeface="IBM Plex Mono"/>
                <a:sym typeface="IBM Plex Mono"/>
              </a:rPr>
              <a:t>06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EC"/>
        </a:solidFill>
      </p:bgPr>
    </p:bg>
    <p:spTree>
      <p:nvGrpSpPr>
        <p:cNvPr id="229" name="Shape 229"/>
        <p:cNvGrpSpPr/>
        <p:nvPr/>
      </p:nvGrpSpPr>
      <p:grpSpPr>
        <a:xfrm>
          <a:off x="0" y="0"/>
          <a:ext cx="0" cy="0"/>
          <a:chOff x="0" y="0"/>
          <a:chExt cx="0" cy="0"/>
        </a:xfrm>
      </p:grpSpPr>
      <p:sp>
        <p:nvSpPr>
          <p:cNvPr id="230" name="Google Shape;230;p12"/>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Mono"/>
              <a:buNone/>
            </a:pPr>
            <a:r>
              <a:rPr b="0" i="0" lang="en-US" sz="1200" u="none" cap="none" strike="noStrike">
                <a:solidFill>
                  <a:srgbClr val="0F766E"/>
                </a:solidFill>
                <a:latin typeface="IBM Plex Mono"/>
                <a:ea typeface="IBM Plex Mono"/>
                <a:cs typeface="IBM Plex Mono"/>
                <a:sym typeface="IBM Plex Mono"/>
              </a:rPr>
              <a:t>06 · WHEN SOURCES DISAGREE</a:t>
            </a:r>
            <a:endParaRPr b="0" i="0" sz="1200" u="none" cap="none" strike="noStrike">
              <a:solidFill>
                <a:schemeClr val="dk1"/>
              </a:solidFill>
              <a:latin typeface="Calibri"/>
              <a:ea typeface="Calibri"/>
              <a:cs typeface="Calibri"/>
              <a:sym typeface="Calibri"/>
            </a:endParaRPr>
          </a:p>
        </p:txBody>
      </p:sp>
      <p:sp>
        <p:nvSpPr>
          <p:cNvPr id="231" name="Google Shape;231;p12"/>
          <p:cNvSpPr/>
          <p:nvPr/>
        </p:nvSpPr>
        <p:spPr>
          <a:xfrm>
            <a:off x="812800" y="1280161"/>
            <a:ext cx="10883392"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B2A3B"/>
              </a:buClr>
              <a:buSzPts val="3600"/>
              <a:buFont typeface="Fraunces"/>
              <a:buNone/>
            </a:pPr>
            <a:r>
              <a:rPr b="0" i="0" lang="en-US" sz="3600" u="none" cap="none" strike="noStrike">
                <a:solidFill>
                  <a:srgbClr val="0B2A3B"/>
                </a:solidFill>
                <a:latin typeface="Fraunces"/>
                <a:ea typeface="Fraunces"/>
                <a:cs typeface="Fraunces"/>
                <a:sym typeface="Fraunces"/>
              </a:rPr>
              <a:t>Flagged and explained — never guessed</a:t>
            </a:r>
            <a:endParaRPr b="0" i="0" sz="3600" u="none" cap="none" strike="noStrike">
              <a:solidFill>
                <a:schemeClr val="dk1"/>
              </a:solidFill>
              <a:latin typeface="Calibri"/>
              <a:ea typeface="Calibri"/>
              <a:cs typeface="Calibri"/>
              <a:sym typeface="Calibri"/>
            </a:endParaRPr>
          </a:p>
        </p:txBody>
      </p:sp>
      <p:sp>
        <p:nvSpPr>
          <p:cNvPr id="232" name="Google Shape;232;p12"/>
          <p:cNvSpPr/>
          <p:nvPr/>
        </p:nvSpPr>
        <p:spPr>
          <a:xfrm>
            <a:off x="819150" y="2675889"/>
            <a:ext cx="5743853" cy="2527300"/>
          </a:xfrm>
          <a:prstGeom prst="roundRect">
            <a:avLst>
              <a:gd fmla="val 3266" name="adj"/>
            </a:avLst>
          </a:prstGeom>
          <a:solidFill>
            <a:srgbClr val="FFFDF8"/>
          </a:solidFill>
          <a:ln cap="flat" cmpd="sng" w="12700">
            <a:solidFill>
              <a:srgbClr val="E2DCCD"/>
            </a:solidFill>
            <a:prstDash val="solid"/>
            <a:round/>
            <a:headEnd len="sm" w="sm" type="none"/>
            <a:tailEnd len="sm" w="sm" type="none"/>
          </a:ln>
          <a:effectLst>
            <a:outerShdw blurRad="254000" rotWithShape="0" algn="bl" dir="5400000" dist="101600">
              <a:srgbClr val="0B2A3B">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arning" id="233" name="Google Shape;233;p12"/>
          <p:cNvPicPr preferRelativeResize="0"/>
          <p:nvPr/>
        </p:nvPicPr>
        <p:blipFill rotWithShape="1">
          <a:blip r:embed="rId3">
            <a:alphaModFix/>
          </a:blip>
          <a:srcRect b="0" l="0" r="0" t="0"/>
          <a:stretch/>
        </p:blipFill>
        <p:spPr>
          <a:xfrm>
            <a:off x="1079500" y="2912111"/>
            <a:ext cx="228600" cy="228600"/>
          </a:xfrm>
          <a:prstGeom prst="rect">
            <a:avLst/>
          </a:prstGeom>
          <a:noFill/>
          <a:ln>
            <a:noFill/>
          </a:ln>
        </p:spPr>
      </p:pic>
      <p:sp>
        <p:nvSpPr>
          <p:cNvPr id="234" name="Google Shape;234;p12"/>
          <p:cNvSpPr/>
          <p:nvPr/>
        </p:nvSpPr>
        <p:spPr>
          <a:xfrm>
            <a:off x="1397000" y="2910839"/>
            <a:ext cx="1901952" cy="256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2410C"/>
              </a:buClr>
              <a:buSzPts val="1300"/>
              <a:buFont typeface="IBM Plex Mono"/>
              <a:buNone/>
            </a:pPr>
            <a:r>
              <a:rPr b="1" i="0" lang="en-US" sz="1300" u="none" cap="none" strike="noStrike">
                <a:solidFill>
                  <a:srgbClr val="C2410C"/>
                </a:solidFill>
                <a:latin typeface="IBM Plex Mono"/>
                <a:ea typeface="IBM Plex Mono"/>
                <a:cs typeface="IBM Plex Mono"/>
                <a:sym typeface="IBM Plex Mono"/>
              </a:rPr>
              <a:t>FLAGGED · Weight</a:t>
            </a:r>
            <a:endParaRPr b="0" i="0" sz="1300" u="none" cap="none" strike="noStrike">
              <a:solidFill>
                <a:schemeClr val="dk1"/>
              </a:solidFill>
              <a:latin typeface="Calibri"/>
              <a:ea typeface="Calibri"/>
              <a:cs typeface="Calibri"/>
              <a:sym typeface="Calibri"/>
            </a:endParaRPr>
          </a:p>
        </p:txBody>
      </p:sp>
      <p:cxnSp>
        <p:nvCxnSpPr>
          <p:cNvPr id="235" name="Google Shape;235;p12"/>
          <p:cNvCxnSpPr/>
          <p:nvPr/>
        </p:nvCxnSpPr>
        <p:spPr>
          <a:xfrm>
            <a:off x="1092200" y="3268982"/>
            <a:ext cx="0" cy="317500"/>
          </a:xfrm>
          <a:prstGeom prst="straightConnector1">
            <a:avLst/>
          </a:prstGeom>
          <a:noFill/>
          <a:ln cap="flat" cmpd="sng" w="25400">
            <a:solidFill>
              <a:srgbClr val="0F766E"/>
            </a:solidFill>
            <a:prstDash val="solid"/>
            <a:round/>
            <a:headEnd len="sm" w="sm" type="none"/>
            <a:tailEnd len="sm" w="sm" type="none"/>
          </a:ln>
        </p:spPr>
      </p:cxnSp>
      <p:sp>
        <p:nvSpPr>
          <p:cNvPr id="236" name="Google Shape;236;p12"/>
          <p:cNvSpPr/>
          <p:nvPr/>
        </p:nvSpPr>
        <p:spPr>
          <a:xfrm>
            <a:off x="1231900" y="3294382"/>
            <a:ext cx="5092065"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B2A3B"/>
              </a:buClr>
              <a:buSzPts val="1500"/>
              <a:buFont typeface="IBM Plex Sans"/>
              <a:buNone/>
            </a:pPr>
            <a:r>
              <a:rPr b="1" i="0" lang="en-US" sz="1500" u="none" cap="none" strike="noStrike">
                <a:solidFill>
                  <a:srgbClr val="0B2A3B"/>
                </a:solidFill>
                <a:latin typeface="IBM Plex Sans"/>
                <a:ea typeface="IBM Plex Sans"/>
                <a:cs typeface="IBM Plex Sans"/>
                <a:sym typeface="IBM Plex Sans"/>
              </a:rPr>
              <a:t>78.0 kg</a:t>
            </a:r>
            <a:r>
              <a:rPr b="0" i="0" lang="en-US" sz="1500" u="none" cap="none" strike="noStrike">
                <a:solidFill>
                  <a:srgbClr val="0B2A3B"/>
                </a:solidFill>
                <a:latin typeface="IBM Plex Sans"/>
                <a:ea typeface="IBM Plex Sans"/>
                <a:cs typeface="IBM Plex Sans"/>
                <a:sym typeface="IBM Plex Sans"/>
              </a:rPr>
              <a:t> · Hospital EHR</a:t>
            </a:r>
            <a:endParaRPr b="0" i="0" sz="1500" u="none" cap="none" strike="noStrike">
              <a:solidFill>
                <a:schemeClr val="dk1"/>
              </a:solidFill>
              <a:latin typeface="Calibri"/>
              <a:ea typeface="Calibri"/>
              <a:cs typeface="Calibri"/>
              <a:sym typeface="Calibri"/>
            </a:endParaRPr>
          </a:p>
        </p:txBody>
      </p:sp>
      <p:cxnSp>
        <p:nvCxnSpPr>
          <p:cNvPr id="237" name="Google Shape;237;p12"/>
          <p:cNvCxnSpPr/>
          <p:nvPr/>
        </p:nvCxnSpPr>
        <p:spPr>
          <a:xfrm>
            <a:off x="1092200" y="3713482"/>
            <a:ext cx="0" cy="317500"/>
          </a:xfrm>
          <a:prstGeom prst="straightConnector1">
            <a:avLst/>
          </a:prstGeom>
          <a:noFill/>
          <a:ln cap="flat" cmpd="sng" w="25400">
            <a:solidFill>
              <a:srgbClr val="C2410C"/>
            </a:solidFill>
            <a:prstDash val="solid"/>
            <a:round/>
            <a:headEnd len="sm" w="sm" type="none"/>
            <a:tailEnd len="sm" w="sm" type="none"/>
          </a:ln>
        </p:spPr>
      </p:cxnSp>
      <p:sp>
        <p:nvSpPr>
          <p:cNvPr id="238" name="Google Shape;238;p12"/>
          <p:cNvSpPr/>
          <p:nvPr/>
        </p:nvSpPr>
        <p:spPr>
          <a:xfrm>
            <a:off x="1231900" y="3738882"/>
            <a:ext cx="5092065"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B2A3B"/>
              </a:buClr>
              <a:buSzPts val="1500"/>
              <a:buFont typeface="IBM Plex Sans"/>
              <a:buNone/>
            </a:pPr>
            <a:r>
              <a:rPr b="1" i="0" lang="en-US" sz="1500" u="none" cap="none" strike="noStrike">
                <a:solidFill>
                  <a:srgbClr val="0B2A3B"/>
                </a:solidFill>
                <a:latin typeface="IBM Plex Sans"/>
                <a:ea typeface="IBM Plex Sans"/>
                <a:cs typeface="IBM Plex Sans"/>
                <a:sym typeface="IBM Plex Sans"/>
              </a:rPr>
              <a:t>87.0 kg</a:t>
            </a:r>
            <a:r>
              <a:rPr b="0" i="0" lang="en-US" sz="1500" u="none" cap="none" strike="noStrike">
                <a:solidFill>
                  <a:srgbClr val="0B2A3B"/>
                </a:solidFill>
                <a:latin typeface="IBM Plex Sans"/>
                <a:ea typeface="IBM Plex Sans"/>
                <a:cs typeface="IBM Plex Sans"/>
                <a:sym typeface="IBM Plex Sans"/>
              </a:rPr>
              <a:t> · Clinic note, page 2</a:t>
            </a:r>
            <a:endParaRPr b="0" i="0" sz="1500" u="none" cap="none" strike="noStrike">
              <a:solidFill>
                <a:schemeClr val="dk1"/>
              </a:solidFill>
              <a:latin typeface="Calibri"/>
              <a:ea typeface="Calibri"/>
              <a:cs typeface="Calibri"/>
              <a:sym typeface="Calibri"/>
            </a:endParaRPr>
          </a:p>
        </p:txBody>
      </p:sp>
      <p:sp>
        <p:nvSpPr>
          <p:cNvPr id="239" name="Google Shape;239;p12"/>
          <p:cNvSpPr/>
          <p:nvPr/>
        </p:nvSpPr>
        <p:spPr>
          <a:xfrm>
            <a:off x="1079500" y="4157982"/>
            <a:ext cx="5223153" cy="469900"/>
          </a:xfrm>
          <a:prstGeom prst="roundRect">
            <a:avLst>
              <a:gd fmla="val 10811" name="adj"/>
            </a:avLst>
          </a:prstGeom>
          <a:solidFill>
            <a:srgbClr val="FBEFC9"/>
          </a:solidFill>
          <a:ln>
            <a:noFill/>
          </a:ln>
        </p:spPr>
        <p:txBody>
          <a:bodyPr anchorCtr="0" anchor="t" bIns="61300" lIns="112100" spcFirstLastPara="1" rIns="0" wrap="square" tIns="86700">
            <a:noAutofit/>
          </a:bodyPr>
          <a:lstStyle/>
          <a:p>
            <a:pPr indent="0" lvl="0" marL="0" marR="0" rtl="0" algn="l">
              <a:lnSpc>
                <a:spcPct val="140000"/>
              </a:lnSpc>
              <a:spcBef>
                <a:spcPts val="0"/>
              </a:spcBef>
              <a:spcAft>
                <a:spcPts val="0"/>
              </a:spcAft>
              <a:buClr>
                <a:srgbClr val="3D4B55"/>
              </a:buClr>
              <a:buSzPts val="1500"/>
              <a:buFont typeface="IBM Plex Sans"/>
              <a:buNone/>
            </a:pPr>
            <a:r>
              <a:rPr b="1" i="0" lang="en-US" sz="1500" u="none" cap="none" strike="noStrike">
                <a:solidFill>
                  <a:srgbClr val="3D4B55"/>
                </a:solidFill>
                <a:latin typeface="IBM Plex Sans"/>
                <a:ea typeface="IBM Plex Sans"/>
                <a:cs typeface="IBM Plex Sans"/>
                <a:sym typeface="IBM Plex Sans"/>
              </a:rPr>
              <a:t>Likely cause:</a:t>
            </a:r>
            <a:r>
              <a:rPr b="0" i="0" lang="en-US" sz="1500" u="none" cap="none" strike="noStrike">
                <a:solidFill>
                  <a:srgbClr val="3D4B55"/>
                </a:solidFill>
                <a:latin typeface="IBM Plex Sans"/>
                <a:ea typeface="IBM Plex Sans"/>
                <a:cs typeface="IBM Plex Sans"/>
                <a:sym typeface="IBM Plex Sans"/>
              </a:rPr>
              <a:t> transposed digits</a:t>
            </a:r>
            <a:endParaRPr b="0" i="0" sz="1500" u="none" cap="none" strike="noStrike">
              <a:solidFill>
                <a:schemeClr val="dk1"/>
              </a:solidFill>
              <a:latin typeface="Calibri"/>
              <a:ea typeface="Calibri"/>
              <a:cs typeface="Calibri"/>
              <a:sym typeface="Calibri"/>
            </a:endParaRPr>
          </a:p>
        </p:txBody>
      </p:sp>
      <p:sp>
        <p:nvSpPr>
          <p:cNvPr id="240" name="Google Shape;240;p12"/>
          <p:cNvSpPr/>
          <p:nvPr/>
        </p:nvSpPr>
        <p:spPr>
          <a:xfrm>
            <a:off x="1079500" y="4754882"/>
            <a:ext cx="5379847"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AA5AA"/>
              </a:buClr>
              <a:buSzPts val="1200"/>
              <a:buFont typeface="IBM Plex Mono"/>
              <a:buNone/>
            </a:pPr>
            <a:r>
              <a:rPr b="0" i="0" lang="en-US" sz="1200" u="none" cap="none" strike="noStrike">
                <a:solidFill>
                  <a:srgbClr val="9AA5AA"/>
                </a:solidFill>
                <a:latin typeface="IBM Plex Mono"/>
                <a:ea typeface="IBM Plex Mono"/>
                <a:cs typeface="IBM Plex Mono"/>
                <a:sym typeface="IBM Plex Mono"/>
              </a:rPr>
              <a:t>Example flag</a:t>
            </a:r>
            <a:endParaRPr b="0" i="0" sz="1200" u="none" cap="none" strike="noStrike">
              <a:solidFill>
                <a:schemeClr val="dk1"/>
              </a:solidFill>
              <a:latin typeface="Calibri"/>
              <a:ea typeface="Calibri"/>
              <a:cs typeface="Calibri"/>
              <a:sym typeface="Calibri"/>
            </a:endParaRPr>
          </a:p>
        </p:txBody>
      </p:sp>
      <p:sp>
        <p:nvSpPr>
          <p:cNvPr id="241" name="Google Shape;241;p12"/>
          <p:cNvSpPr/>
          <p:nvPr/>
        </p:nvSpPr>
        <p:spPr>
          <a:xfrm>
            <a:off x="7026553" y="3136900"/>
            <a:ext cx="4483227"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2A3B"/>
              </a:buClr>
              <a:buSzPts val="1700"/>
              <a:buFont typeface="IBM Plex Sans"/>
              <a:buNone/>
            </a:pPr>
            <a:r>
              <a:rPr b="1" i="0" lang="en-US" sz="1700" u="none" cap="none" strike="noStrike">
                <a:solidFill>
                  <a:srgbClr val="0B2A3B"/>
                </a:solidFill>
                <a:latin typeface="IBM Plex Sans"/>
                <a:ea typeface="IBM Plex Sans"/>
                <a:cs typeface="IBM Plex Sans"/>
                <a:sym typeface="IBM Plex Sans"/>
              </a:rPr>
              <a:t>Causes it can name</a:t>
            </a:r>
            <a:endParaRPr b="0" i="0" sz="1700" u="none" cap="none" strike="noStrike">
              <a:solidFill>
                <a:schemeClr val="dk1"/>
              </a:solidFill>
              <a:latin typeface="Calibri"/>
              <a:ea typeface="Calibri"/>
              <a:cs typeface="Calibri"/>
              <a:sym typeface="Calibri"/>
            </a:endParaRPr>
          </a:p>
        </p:txBody>
      </p:sp>
      <p:sp>
        <p:nvSpPr>
          <p:cNvPr id="242" name="Google Shape;242;p12"/>
          <p:cNvSpPr/>
          <p:nvPr/>
        </p:nvSpPr>
        <p:spPr>
          <a:xfrm>
            <a:off x="7097673" y="3522982"/>
            <a:ext cx="4404487" cy="1244600"/>
          </a:xfrm>
          <a:prstGeom prst="rect">
            <a:avLst/>
          </a:prstGeom>
          <a:noFill/>
          <a:ln>
            <a:noFill/>
          </a:ln>
        </p:spPr>
        <p:txBody>
          <a:bodyPr anchorCtr="0" anchor="t" bIns="0" lIns="0" spcFirstLastPara="1" rIns="0" wrap="square" tIns="0">
            <a:noAutofit/>
          </a:bodyPr>
          <a:lstStyle/>
          <a:p>
            <a:pPr indent="-182880" lvl="0" marL="182880" marR="0" rtl="0" algn="l">
              <a:lnSpc>
                <a:spcPct val="160000"/>
              </a:lnSpc>
              <a:spcBef>
                <a:spcPts val="0"/>
              </a:spcBef>
              <a:spcAft>
                <a:spcPts val="0"/>
              </a:spcAft>
              <a:buClr>
                <a:srgbClr val="3D4B55"/>
              </a:buClr>
              <a:buSzPts val="1500"/>
              <a:buFont typeface="IBM Plex Sans"/>
              <a:buChar char="•"/>
            </a:pPr>
            <a:r>
              <a:rPr b="0" i="0" lang="en-US" sz="1500" u="none" cap="none" strike="noStrike">
                <a:solidFill>
                  <a:srgbClr val="3D4B55"/>
                </a:solidFill>
                <a:latin typeface="IBM Plex Sans"/>
                <a:ea typeface="IBM Plex Sans"/>
                <a:cs typeface="IBM Plex Sans"/>
                <a:sym typeface="IBM Plex Sans"/>
              </a:rPr>
              <a:t>Unit mix-up (lb vs kg)</a:t>
            </a:r>
            <a:endParaRPr b="0" i="0" sz="1500" u="none" cap="none" strike="noStrike">
              <a:solidFill>
                <a:schemeClr val="dk1"/>
              </a:solidFill>
              <a:latin typeface="Calibri"/>
              <a:ea typeface="Calibri"/>
              <a:cs typeface="Calibri"/>
              <a:sym typeface="Calibri"/>
            </a:endParaRPr>
          </a:p>
          <a:p>
            <a:pPr indent="-182880" lvl="0" marL="182880" marR="0" rtl="0" algn="l">
              <a:lnSpc>
                <a:spcPct val="160000"/>
              </a:lnSpc>
              <a:spcBef>
                <a:spcPts val="0"/>
              </a:spcBef>
              <a:spcAft>
                <a:spcPts val="0"/>
              </a:spcAft>
              <a:buClr>
                <a:srgbClr val="3D4B55"/>
              </a:buClr>
              <a:buSzPts val="1500"/>
              <a:buFont typeface="IBM Plex Sans"/>
              <a:buChar char="•"/>
            </a:pPr>
            <a:r>
              <a:rPr b="0" i="0" lang="en-US" sz="1500" u="none" cap="none" strike="noStrike">
                <a:solidFill>
                  <a:srgbClr val="3D4B55"/>
                </a:solidFill>
                <a:latin typeface="IBM Plex Sans"/>
                <a:ea typeface="IBM Plex Sans"/>
                <a:cs typeface="IBM Plex Sans"/>
                <a:sym typeface="IBM Plex Sans"/>
              </a:rPr>
              <a:t>Transposed digits</a:t>
            </a:r>
            <a:endParaRPr b="0" i="0" sz="1500" u="none" cap="none" strike="noStrike">
              <a:solidFill>
                <a:schemeClr val="dk1"/>
              </a:solidFill>
              <a:latin typeface="Calibri"/>
              <a:ea typeface="Calibri"/>
              <a:cs typeface="Calibri"/>
              <a:sym typeface="Calibri"/>
            </a:endParaRPr>
          </a:p>
          <a:p>
            <a:pPr indent="-182880" lvl="0" marL="182880" marR="0" rtl="0" algn="l">
              <a:lnSpc>
                <a:spcPct val="160000"/>
              </a:lnSpc>
              <a:spcBef>
                <a:spcPts val="0"/>
              </a:spcBef>
              <a:spcAft>
                <a:spcPts val="0"/>
              </a:spcAft>
              <a:buClr>
                <a:srgbClr val="3D4B55"/>
              </a:buClr>
              <a:buSzPts val="1500"/>
              <a:buFont typeface="IBM Plex Sans"/>
              <a:buChar char="•"/>
            </a:pPr>
            <a:r>
              <a:rPr b="0" i="0" lang="en-US" sz="1500" u="none" cap="none" strike="noStrike">
                <a:solidFill>
                  <a:srgbClr val="3D4B55"/>
                </a:solidFill>
                <a:latin typeface="IBM Plex Sans"/>
                <a:ea typeface="IBM Plex Sans"/>
                <a:cs typeface="IBM Plex Sans"/>
                <a:sym typeface="IBM Plex Sans"/>
              </a:rPr>
              <a:t>Med list missing a stop</a:t>
            </a:r>
            <a:endParaRPr b="0" i="0" sz="1500" u="none" cap="none" strike="noStrike">
              <a:solidFill>
                <a:schemeClr val="dk1"/>
              </a:solidFill>
              <a:latin typeface="Calibri"/>
              <a:ea typeface="Calibri"/>
              <a:cs typeface="Calibri"/>
              <a:sym typeface="Calibri"/>
            </a:endParaRPr>
          </a:p>
          <a:p>
            <a:pPr indent="-182880" lvl="0" marL="182880" marR="0" rtl="0" algn="l">
              <a:lnSpc>
                <a:spcPct val="160000"/>
              </a:lnSpc>
              <a:spcBef>
                <a:spcPts val="0"/>
              </a:spcBef>
              <a:spcAft>
                <a:spcPts val="0"/>
              </a:spcAft>
              <a:buClr>
                <a:srgbClr val="3D4B55"/>
              </a:buClr>
              <a:buSzPts val="1500"/>
              <a:buFont typeface="IBM Plex Sans"/>
              <a:buChar char="•"/>
            </a:pPr>
            <a:r>
              <a:rPr b="0" i="0" lang="en-US" sz="1500" u="none" cap="none" strike="noStrike">
                <a:solidFill>
                  <a:srgbClr val="3D4B55"/>
                </a:solidFill>
                <a:latin typeface="IBM Plex Sans"/>
                <a:ea typeface="IBM Plex Sans"/>
                <a:cs typeface="IBM Plex Sans"/>
                <a:sym typeface="IBM Plex Sans"/>
              </a:rPr>
              <a:t>Off the patient's own trend</a:t>
            </a:r>
            <a:endParaRPr b="0" i="0" sz="1500" u="none" cap="none" strike="noStrike">
              <a:solidFill>
                <a:schemeClr val="dk1"/>
              </a:solidFill>
              <a:latin typeface="Calibri"/>
              <a:ea typeface="Calibri"/>
              <a:cs typeface="Calibri"/>
              <a:sym typeface="Calibri"/>
            </a:endParaRPr>
          </a:p>
        </p:txBody>
      </p:sp>
      <p:sp>
        <p:nvSpPr>
          <p:cNvPr id="243" name="Google Shape;243;p12"/>
          <p:cNvSpPr/>
          <p:nvPr/>
        </p:nvSpPr>
        <p:spPr>
          <a:xfrm>
            <a:off x="10312400" y="6238239"/>
            <a:ext cx="106680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9AA5AA"/>
              </a:buClr>
              <a:buSzPts val="1200"/>
              <a:buFont typeface="IBM Plex Mono"/>
              <a:buNone/>
            </a:pPr>
            <a:r>
              <a:rPr b="0" i="0" lang="en-US" sz="1200" u="none" cap="none" strike="noStrike">
                <a:solidFill>
                  <a:srgbClr val="9AA5AA"/>
                </a:solidFill>
                <a:latin typeface="IBM Plex Mono"/>
                <a:ea typeface="IBM Plex Mono"/>
                <a:cs typeface="IBM Plex Mono"/>
                <a:sym typeface="IBM Plex Mono"/>
              </a:rPr>
              <a:t>07</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EC"/>
        </a:solidFill>
      </p:bgPr>
    </p:bg>
    <p:spTree>
      <p:nvGrpSpPr>
        <p:cNvPr id="248" name="Shape 248"/>
        <p:cNvGrpSpPr/>
        <p:nvPr/>
      </p:nvGrpSpPr>
      <p:grpSpPr>
        <a:xfrm>
          <a:off x="0" y="0"/>
          <a:ext cx="0" cy="0"/>
          <a:chOff x="0" y="0"/>
          <a:chExt cx="0" cy="0"/>
        </a:xfrm>
      </p:grpSpPr>
      <p:sp>
        <p:nvSpPr>
          <p:cNvPr id="249" name="Google Shape;249;p13"/>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Mono"/>
              <a:buNone/>
            </a:pPr>
            <a:r>
              <a:rPr b="0" i="0" lang="en-US" sz="1200" u="none" cap="none" strike="noStrike">
                <a:solidFill>
                  <a:srgbClr val="0F766E"/>
                </a:solidFill>
                <a:latin typeface="IBM Plex Mono"/>
                <a:ea typeface="IBM Plex Mono"/>
                <a:cs typeface="IBM Plex Mono"/>
                <a:sym typeface="IBM Plex Mono"/>
              </a:rPr>
              <a:t>07 · THE PROOF</a:t>
            </a:r>
            <a:endParaRPr b="0" i="0" sz="1200" u="none" cap="none" strike="noStrike">
              <a:solidFill>
                <a:schemeClr val="dk1"/>
              </a:solidFill>
              <a:latin typeface="Calibri"/>
              <a:ea typeface="Calibri"/>
              <a:cs typeface="Calibri"/>
              <a:sym typeface="Calibri"/>
            </a:endParaRPr>
          </a:p>
        </p:txBody>
      </p:sp>
      <p:sp>
        <p:nvSpPr>
          <p:cNvPr id="250" name="Google Shape;250;p13"/>
          <p:cNvSpPr/>
          <p:nvPr/>
        </p:nvSpPr>
        <p:spPr>
          <a:xfrm>
            <a:off x="812800" y="1280161"/>
            <a:ext cx="10883392" cy="10312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B2A3B"/>
              </a:buClr>
              <a:buSzPts val="3600"/>
              <a:buFont typeface="Fraunces"/>
              <a:buNone/>
            </a:pPr>
            <a:r>
              <a:rPr b="0" i="0" lang="en-US" sz="3600" u="none" cap="none" strike="noStrike">
                <a:solidFill>
                  <a:srgbClr val="0B2A3B"/>
                </a:solidFill>
                <a:latin typeface="Fraunces"/>
                <a:ea typeface="Fraunces"/>
                <a:cs typeface="Fraunces"/>
                <a:sym typeface="Fraunces"/>
              </a:rPr>
              <a:t>Structured data stalls at ~70% — reading closes the gap</a:t>
            </a:r>
            <a:endParaRPr b="0" i="0" sz="3600" u="none" cap="none" strike="noStrike">
              <a:solidFill>
                <a:schemeClr val="dk1"/>
              </a:solidFill>
              <a:latin typeface="Calibri"/>
              <a:ea typeface="Calibri"/>
              <a:cs typeface="Calibri"/>
              <a:sym typeface="Calibri"/>
            </a:endParaRPr>
          </a:p>
        </p:txBody>
      </p:sp>
      <p:sp>
        <p:nvSpPr>
          <p:cNvPr id="251" name="Google Shape;251;p13"/>
          <p:cNvSpPr/>
          <p:nvPr/>
        </p:nvSpPr>
        <p:spPr>
          <a:xfrm>
            <a:off x="812800" y="2540000"/>
            <a:ext cx="499694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B83"/>
              </a:buClr>
              <a:buSzPts val="1200"/>
              <a:buFont typeface="IBM Plex Mono"/>
              <a:buNone/>
            </a:pPr>
            <a:r>
              <a:rPr b="0" i="0" lang="en-US" sz="1200" u="none" cap="none" strike="noStrike">
                <a:solidFill>
                  <a:srgbClr val="6B7B83"/>
                </a:solidFill>
                <a:latin typeface="IBM Plex Mono"/>
                <a:ea typeface="IBM Plex Mono"/>
                <a:cs typeface="IBM Plex Mono"/>
                <a:sym typeface="IBM Plex Mono"/>
              </a:rPr>
              <a:t>WHAT RESEARCH SHOWS</a:t>
            </a:r>
            <a:endParaRPr b="0" i="0" sz="1200" u="none" cap="none" strike="noStrike">
              <a:solidFill>
                <a:schemeClr val="dk1"/>
              </a:solidFill>
              <a:latin typeface="Calibri"/>
              <a:ea typeface="Calibri"/>
              <a:cs typeface="Calibri"/>
              <a:sym typeface="Calibri"/>
            </a:endParaRPr>
          </a:p>
        </p:txBody>
      </p:sp>
      <p:cxnSp>
        <p:nvCxnSpPr>
          <p:cNvPr id="252" name="Google Shape;252;p13"/>
          <p:cNvCxnSpPr/>
          <p:nvPr/>
        </p:nvCxnSpPr>
        <p:spPr>
          <a:xfrm>
            <a:off x="812800" y="3090745"/>
            <a:ext cx="4851400" cy="0"/>
          </a:xfrm>
          <a:prstGeom prst="straightConnector1">
            <a:avLst/>
          </a:prstGeom>
          <a:noFill/>
          <a:ln cap="flat" cmpd="sng" w="12700">
            <a:solidFill>
              <a:srgbClr val="E2DCCD"/>
            </a:solidFill>
            <a:prstDash val="solid"/>
            <a:round/>
            <a:headEnd len="sm" w="sm" type="none"/>
            <a:tailEnd len="sm" w="sm" type="none"/>
          </a:ln>
        </p:spPr>
      </p:cxnSp>
      <p:sp>
        <p:nvSpPr>
          <p:cNvPr id="253" name="Google Shape;253;p13"/>
          <p:cNvSpPr/>
          <p:nvPr/>
        </p:nvSpPr>
        <p:spPr>
          <a:xfrm>
            <a:off x="812800" y="3224095"/>
            <a:ext cx="1511300" cy="58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2410C"/>
              </a:buClr>
              <a:buSzPts val="4400"/>
              <a:buFont typeface="Fraunces"/>
              <a:buNone/>
            </a:pPr>
            <a:r>
              <a:rPr b="1" i="0" lang="en-US" sz="4400" u="none" cap="none" strike="noStrike">
                <a:solidFill>
                  <a:srgbClr val="C2410C"/>
                </a:solidFill>
                <a:latin typeface="Fraunces"/>
                <a:ea typeface="Fraunces"/>
                <a:cs typeface="Fraunces"/>
                <a:sym typeface="Fraunces"/>
              </a:rPr>
              <a:t>17%</a:t>
            </a:r>
            <a:endParaRPr b="0" i="0" sz="4400" u="none" cap="none" strike="noStrike">
              <a:solidFill>
                <a:schemeClr val="dk1"/>
              </a:solidFill>
              <a:latin typeface="Calibri"/>
              <a:ea typeface="Calibri"/>
              <a:cs typeface="Calibri"/>
              <a:sym typeface="Calibri"/>
            </a:endParaRPr>
          </a:p>
        </p:txBody>
      </p:sp>
      <p:sp>
        <p:nvSpPr>
          <p:cNvPr id="254" name="Google Shape;254;p13"/>
          <p:cNvSpPr/>
          <p:nvPr/>
        </p:nvSpPr>
        <p:spPr>
          <a:xfrm>
            <a:off x="2451100" y="3253938"/>
            <a:ext cx="3309493"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B2A3B"/>
              </a:buClr>
              <a:buSzPts val="1500"/>
              <a:buFont typeface="IBM Plex Sans"/>
              <a:buNone/>
            </a:pPr>
            <a:r>
              <a:rPr b="0" i="0" lang="en-US" sz="1500" u="none" cap="none" strike="noStrike">
                <a:solidFill>
                  <a:srgbClr val="0B2A3B"/>
                </a:solidFill>
                <a:latin typeface="IBM Plex Sans"/>
                <a:ea typeface="IBM Plex Sans"/>
                <a:cs typeface="IBM Plex Sans"/>
                <a:sym typeface="IBM Plex Sans"/>
              </a:rPr>
              <a:t>of trial data moved automatically</a:t>
            </a:r>
            <a:endParaRPr b="0" i="0" sz="1500" u="none" cap="none" strike="noStrike">
              <a:solidFill>
                <a:schemeClr val="dk1"/>
              </a:solidFill>
              <a:latin typeface="Calibri"/>
              <a:ea typeface="Calibri"/>
              <a:cs typeface="Calibri"/>
              <a:sym typeface="Calibri"/>
            </a:endParaRPr>
          </a:p>
        </p:txBody>
      </p:sp>
      <p:sp>
        <p:nvSpPr>
          <p:cNvPr id="255" name="Google Shape;255;p13"/>
          <p:cNvSpPr/>
          <p:nvPr/>
        </p:nvSpPr>
        <p:spPr>
          <a:xfrm>
            <a:off x="2451100" y="3539688"/>
            <a:ext cx="3309493"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B83"/>
              </a:buClr>
              <a:buSzPts val="1200"/>
              <a:buFont typeface="IBM Plex Mono"/>
              <a:buNone/>
            </a:pPr>
            <a:r>
              <a:rPr b="0" i="0" lang="en-US" sz="1200" u="none" cap="none" strike="noStrike">
                <a:solidFill>
                  <a:srgbClr val="6B7B83"/>
                </a:solidFill>
                <a:latin typeface="IBM Plex Mono"/>
                <a:ea typeface="IBM Plex Mono"/>
                <a:cs typeface="IBM Plex Mono"/>
                <a:sym typeface="IBM Plex Mono"/>
              </a:rPr>
              <a:t>TransFAIR · BMJ HCI 2023</a:t>
            </a:r>
            <a:endParaRPr b="0" i="0" sz="1200" u="none" cap="none" strike="noStrike">
              <a:solidFill>
                <a:schemeClr val="dk1"/>
              </a:solidFill>
              <a:latin typeface="Calibri"/>
              <a:ea typeface="Calibri"/>
              <a:cs typeface="Calibri"/>
              <a:sym typeface="Calibri"/>
            </a:endParaRPr>
          </a:p>
        </p:txBody>
      </p:sp>
      <p:cxnSp>
        <p:nvCxnSpPr>
          <p:cNvPr id="256" name="Google Shape;256;p13"/>
          <p:cNvCxnSpPr/>
          <p:nvPr/>
        </p:nvCxnSpPr>
        <p:spPr>
          <a:xfrm>
            <a:off x="812800" y="4120319"/>
            <a:ext cx="4851400" cy="0"/>
          </a:xfrm>
          <a:prstGeom prst="straightConnector1">
            <a:avLst/>
          </a:prstGeom>
          <a:noFill/>
          <a:ln cap="flat" cmpd="sng" w="12700">
            <a:solidFill>
              <a:srgbClr val="E2DCCD"/>
            </a:solidFill>
            <a:prstDash val="solid"/>
            <a:round/>
            <a:headEnd len="sm" w="sm" type="none"/>
            <a:tailEnd len="sm" w="sm" type="none"/>
          </a:ln>
        </p:spPr>
      </p:cxnSp>
      <p:sp>
        <p:nvSpPr>
          <p:cNvPr id="257" name="Google Shape;257;p13"/>
          <p:cNvSpPr/>
          <p:nvPr/>
        </p:nvSpPr>
        <p:spPr>
          <a:xfrm>
            <a:off x="812800" y="4253669"/>
            <a:ext cx="1511300" cy="58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2410C"/>
              </a:buClr>
              <a:buSzPts val="4400"/>
              <a:buFont typeface="Fraunces"/>
              <a:buNone/>
            </a:pPr>
            <a:r>
              <a:rPr b="1" i="0" lang="en-US" sz="4400" u="none" cap="none" strike="noStrike">
                <a:solidFill>
                  <a:srgbClr val="C2410C"/>
                </a:solidFill>
                <a:latin typeface="Fraunces"/>
                <a:ea typeface="Fraunces"/>
                <a:cs typeface="Fraunces"/>
                <a:sym typeface="Fraunces"/>
              </a:rPr>
              <a:t>43%</a:t>
            </a:r>
            <a:endParaRPr b="0" i="0" sz="4400" u="none" cap="none" strike="noStrike">
              <a:solidFill>
                <a:schemeClr val="dk1"/>
              </a:solidFill>
              <a:latin typeface="Calibri"/>
              <a:ea typeface="Calibri"/>
              <a:cs typeface="Calibri"/>
              <a:sym typeface="Calibri"/>
            </a:endParaRPr>
          </a:p>
        </p:txBody>
      </p:sp>
      <p:sp>
        <p:nvSpPr>
          <p:cNvPr id="258" name="Google Shape;258;p13"/>
          <p:cNvSpPr/>
          <p:nvPr/>
        </p:nvSpPr>
        <p:spPr>
          <a:xfrm>
            <a:off x="2451100" y="4283515"/>
            <a:ext cx="3309493"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B2A3B"/>
              </a:buClr>
              <a:buSzPts val="1500"/>
              <a:buFont typeface="IBM Plex Sans"/>
              <a:buNone/>
            </a:pPr>
            <a:r>
              <a:rPr b="0" i="0" lang="en-US" sz="1500" u="none" cap="none" strike="noStrike">
                <a:solidFill>
                  <a:srgbClr val="0B2A3B"/>
                </a:solidFill>
                <a:latin typeface="IBM Plex Sans"/>
                <a:ea typeface="IBM Plex Sans"/>
                <a:cs typeface="IBM Plex Sans"/>
                <a:sym typeface="IBM Plex Sans"/>
              </a:rPr>
              <a:t>of data points sit in structured EHR</a:t>
            </a:r>
            <a:endParaRPr b="0" i="0" sz="1500" u="none" cap="none" strike="noStrike">
              <a:solidFill>
                <a:schemeClr val="dk1"/>
              </a:solidFill>
              <a:latin typeface="Calibri"/>
              <a:ea typeface="Calibri"/>
              <a:cs typeface="Calibri"/>
              <a:sym typeface="Calibri"/>
            </a:endParaRPr>
          </a:p>
        </p:txBody>
      </p:sp>
      <p:sp>
        <p:nvSpPr>
          <p:cNvPr id="259" name="Google Shape;259;p13"/>
          <p:cNvSpPr/>
          <p:nvPr/>
        </p:nvSpPr>
        <p:spPr>
          <a:xfrm>
            <a:off x="2451100" y="4569265"/>
            <a:ext cx="3309493"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B83"/>
              </a:buClr>
              <a:buSzPts val="1200"/>
              <a:buFont typeface="IBM Plex Mono"/>
              <a:buNone/>
            </a:pPr>
            <a:r>
              <a:rPr b="0" i="0" lang="en-US" sz="1200" u="none" cap="none" strike="noStrike">
                <a:solidFill>
                  <a:srgbClr val="6B7B83"/>
                </a:solidFill>
                <a:latin typeface="IBM Plex Mono"/>
                <a:ea typeface="IBM Plex Mono"/>
                <a:cs typeface="IBM Plex Mono"/>
                <a:sym typeface="IBM Plex Mono"/>
              </a:rPr>
              <a:t>Flatiron &amp; Sanofi · AMIA 2025</a:t>
            </a:r>
            <a:endParaRPr b="0" i="0" sz="1200" u="none" cap="none" strike="noStrike">
              <a:solidFill>
                <a:schemeClr val="dk1"/>
              </a:solidFill>
              <a:latin typeface="Calibri"/>
              <a:ea typeface="Calibri"/>
              <a:cs typeface="Calibri"/>
              <a:sym typeface="Calibri"/>
            </a:endParaRPr>
          </a:p>
        </p:txBody>
      </p:sp>
      <p:cxnSp>
        <p:nvCxnSpPr>
          <p:cNvPr id="260" name="Google Shape;260;p13"/>
          <p:cNvCxnSpPr/>
          <p:nvPr/>
        </p:nvCxnSpPr>
        <p:spPr>
          <a:xfrm>
            <a:off x="812800" y="5149850"/>
            <a:ext cx="4851400" cy="0"/>
          </a:xfrm>
          <a:prstGeom prst="straightConnector1">
            <a:avLst/>
          </a:prstGeom>
          <a:noFill/>
          <a:ln cap="flat" cmpd="sng" w="12700">
            <a:solidFill>
              <a:srgbClr val="E2DCCD"/>
            </a:solidFill>
            <a:prstDash val="solid"/>
            <a:round/>
            <a:headEnd len="sm" w="sm" type="none"/>
            <a:tailEnd len="sm" w="sm" type="none"/>
          </a:ln>
        </p:spPr>
      </p:cxnSp>
      <p:sp>
        <p:nvSpPr>
          <p:cNvPr id="261" name="Google Shape;261;p13"/>
          <p:cNvSpPr/>
          <p:nvPr/>
        </p:nvSpPr>
        <p:spPr>
          <a:xfrm>
            <a:off x="408550" y="5283200"/>
            <a:ext cx="1915800" cy="58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2410C"/>
              </a:buClr>
              <a:buSzPts val="4400"/>
              <a:buFont typeface="Fraunces"/>
              <a:buNone/>
            </a:pPr>
            <a:r>
              <a:rPr b="1" i="0" lang="en-US" sz="4400" u="none" cap="none" strike="noStrike">
                <a:solidFill>
                  <a:srgbClr val="C2410C"/>
                </a:solidFill>
                <a:latin typeface="Fraunces"/>
                <a:ea typeface="Fraunces"/>
                <a:cs typeface="Fraunces"/>
                <a:sym typeface="Fraunces"/>
              </a:rPr>
              <a:t>~70%</a:t>
            </a:r>
            <a:endParaRPr b="0" i="0" sz="4400" u="none" cap="none" strike="noStrike">
              <a:solidFill>
                <a:schemeClr val="dk1"/>
              </a:solidFill>
              <a:latin typeface="Calibri"/>
              <a:ea typeface="Calibri"/>
              <a:cs typeface="Calibri"/>
              <a:sym typeface="Calibri"/>
            </a:endParaRPr>
          </a:p>
        </p:txBody>
      </p:sp>
      <p:sp>
        <p:nvSpPr>
          <p:cNvPr id="262" name="Google Shape;262;p13"/>
          <p:cNvSpPr/>
          <p:nvPr/>
        </p:nvSpPr>
        <p:spPr>
          <a:xfrm>
            <a:off x="2451100" y="5313046"/>
            <a:ext cx="3309493"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B2A3B"/>
              </a:buClr>
              <a:buSzPts val="1500"/>
              <a:buFont typeface="IBM Plex Sans"/>
              <a:buNone/>
            </a:pPr>
            <a:r>
              <a:rPr b="0" i="0" lang="en-US" sz="1500" u="none" cap="none" strike="noStrike">
                <a:solidFill>
                  <a:srgbClr val="0B2A3B"/>
                </a:solidFill>
                <a:latin typeface="IBM Plex Sans"/>
                <a:ea typeface="IBM Plex Sans"/>
                <a:cs typeface="IBM Plex Sans"/>
                <a:sym typeface="IBM Plex Sans"/>
              </a:rPr>
              <a:t>of form data a live connector fills</a:t>
            </a:r>
            <a:endParaRPr b="0" i="0" sz="1500" u="none" cap="none" strike="noStrike">
              <a:solidFill>
                <a:schemeClr val="dk1"/>
              </a:solidFill>
              <a:latin typeface="Calibri"/>
              <a:ea typeface="Calibri"/>
              <a:cs typeface="Calibri"/>
              <a:sym typeface="Calibri"/>
            </a:endParaRPr>
          </a:p>
        </p:txBody>
      </p:sp>
      <p:sp>
        <p:nvSpPr>
          <p:cNvPr id="263" name="Google Shape;263;p13"/>
          <p:cNvSpPr/>
          <p:nvPr/>
        </p:nvSpPr>
        <p:spPr>
          <a:xfrm>
            <a:off x="2451100" y="5598796"/>
            <a:ext cx="3309493"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B83"/>
              </a:buClr>
              <a:buSzPts val="1200"/>
              <a:buFont typeface="IBM Plex Mono"/>
              <a:buNone/>
            </a:pPr>
            <a:r>
              <a:rPr b="0" i="0" lang="en-US" sz="1200" u="none" cap="none" strike="noStrike">
                <a:solidFill>
                  <a:srgbClr val="6B7B83"/>
                </a:solidFill>
                <a:latin typeface="IBM Plex Mono"/>
                <a:ea typeface="IBM Plex Mono"/>
                <a:cs typeface="IBM Plex Mono"/>
                <a:sym typeface="IBM Plex Mono"/>
              </a:rPr>
              <a:t>Mount Sinai · 2026</a:t>
            </a:r>
            <a:endParaRPr b="0" i="0" sz="1200" u="none" cap="none" strike="noStrike">
              <a:solidFill>
                <a:schemeClr val="dk1"/>
              </a:solidFill>
              <a:latin typeface="Calibri"/>
              <a:ea typeface="Calibri"/>
              <a:cs typeface="Calibri"/>
              <a:sym typeface="Calibri"/>
            </a:endParaRPr>
          </a:p>
        </p:txBody>
      </p:sp>
      <p:sp>
        <p:nvSpPr>
          <p:cNvPr id="264" name="Google Shape;264;p13"/>
          <p:cNvSpPr/>
          <p:nvPr/>
        </p:nvSpPr>
        <p:spPr>
          <a:xfrm>
            <a:off x="6019800" y="2540000"/>
            <a:ext cx="5359400" cy="3302000"/>
          </a:xfrm>
          <a:prstGeom prst="roundRect">
            <a:avLst>
              <a:gd fmla="val 3077" name="adj"/>
            </a:avLst>
          </a:prstGeom>
          <a:solidFill>
            <a:srgbClr val="0B2A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3"/>
          <p:cNvSpPr/>
          <p:nvPr/>
        </p:nvSpPr>
        <p:spPr>
          <a:xfrm>
            <a:off x="6273800" y="2768600"/>
            <a:ext cx="4996942" cy="221972"/>
          </a:xfrm>
          <a:prstGeom prst="rect">
            <a:avLst/>
          </a:prstGeom>
          <a:noFill/>
          <a:ln>
            <a:noFill/>
          </a:ln>
        </p:spPr>
        <p:txBody>
          <a:bodyPr anchorCtr="0" anchor="t" bIns="0" lIns="0" spcFirstLastPara="1" rIns="0" wrap="square" tIns="0">
            <a:noAutofit/>
          </a:bodyPr>
          <a:lstStyle/>
          <a:p>
            <a:pPr indent="0" lvl="0" marL="0" marR="0" rtl="0" algn="l">
              <a:lnSpc>
                <a:spcPct val="140053"/>
              </a:lnSpc>
              <a:spcBef>
                <a:spcPts val="0"/>
              </a:spcBef>
              <a:spcAft>
                <a:spcPts val="0"/>
              </a:spcAft>
              <a:buClr>
                <a:srgbClr val="2DD4BF"/>
              </a:buClr>
              <a:buSzPts val="1121"/>
              <a:buFont typeface="IBM Plex Mono"/>
              <a:buNone/>
            </a:pPr>
            <a:r>
              <a:rPr b="0" i="0" lang="en-US" sz="1121" u="none" cap="none" strike="noStrike">
                <a:solidFill>
                  <a:srgbClr val="2DD4BF"/>
                </a:solidFill>
                <a:latin typeface="IBM Plex Mono"/>
                <a:ea typeface="IBM Plex Mono"/>
                <a:cs typeface="IBM Plex Mono"/>
                <a:sym typeface="IBM Plex Mono"/>
              </a:rPr>
              <a:t>WHAT WE MEASURED</a:t>
            </a:r>
            <a:endParaRPr b="0" i="0" sz="1121" u="none" cap="none" strike="noStrike">
              <a:solidFill>
                <a:schemeClr val="dk1"/>
              </a:solidFill>
              <a:latin typeface="Calibri"/>
              <a:ea typeface="Calibri"/>
              <a:cs typeface="Calibri"/>
              <a:sym typeface="Calibri"/>
            </a:endParaRPr>
          </a:p>
        </p:txBody>
      </p:sp>
      <p:sp>
        <p:nvSpPr>
          <p:cNvPr id="266" name="Google Shape;266;p13"/>
          <p:cNvSpPr/>
          <p:nvPr/>
        </p:nvSpPr>
        <p:spPr>
          <a:xfrm>
            <a:off x="6273800" y="3106499"/>
            <a:ext cx="1087755" cy="4165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9CDD3"/>
              </a:buClr>
              <a:buSzPts val="2800"/>
              <a:buFont typeface="Fraunces"/>
              <a:buNone/>
            </a:pPr>
            <a:r>
              <a:rPr b="1" i="0" lang="en-US" sz="2800" u="none" cap="none" strike="noStrike">
                <a:solidFill>
                  <a:srgbClr val="B9CDD3"/>
                </a:solidFill>
                <a:latin typeface="Fraunces"/>
                <a:ea typeface="Fraunces"/>
                <a:cs typeface="Fraunces"/>
                <a:sym typeface="Fraunces"/>
              </a:rPr>
              <a:t>68%</a:t>
            </a:r>
            <a:endParaRPr b="0" i="0" sz="2800" u="none" cap="none" strike="noStrike">
              <a:solidFill>
                <a:schemeClr val="dk1"/>
              </a:solidFill>
              <a:latin typeface="Calibri"/>
              <a:ea typeface="Calibri"/>
              <a:cs typeface="Calibri"/>
              <a:sym typeface="Calibri"/>
            </a:endParaRPr>
          </a:p>
        </p:txBody>
      </p:sp>
      <p:sp>
        <p:nvSpPr>
          <p:cNvPr id="267" name="Google Shape;267;p13"/>
          <p:cNvSpPr/>
          <p:nvPr/>
        </p:nvSpPr>
        <p:spPr>
          <a:xfrm>
            <a:off x="6273800" y="3523059"/>
            <a:ext cx="1244346"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DD3"/>
              </a:buClr>
              <a:buSzPts val="1200"/>
              <a:buFont typeface="IBM Plex Sans"/>
              <a:buNone/>
            </a:pPr>
            <a:r>
              <a:rPr b="0" i="0" lang="en-US" sz="1200" u="none" cap="none" strike="noStrike">
                <a:solidFill>
                  <a:srgbClr val="B9CDD3"/>
                </a:solidFill>
                <a:latin typeface="IBM Plex Sans"/>
                <a:ea typeface="IBM Plex Sans"/>
                <a:cs typeface="IBM Plex Sans"/>
                <a:sym typeface="IBM Plex Sans"/>
              </a:rPr>
              <a:t>structured only</a:t>
            </a:r>
            <a:endParaRPr b="0" i="0" sz="1200" u="none" cap="none" strike="noStrike">
              <a:solidFill>
                <a:schemeClr val="dk1"/>
              </a:solidFill>
              <a:latin typeface="Calibri"/>
              <a:ea typeface="Calibri"/>
              <a:cs typeface="Calibri"/>
              <a:sym typeface="Calibri"/>
            </a:endParaRPr>
          </a:p>
        </p:txBody>
      </p:sp>
      <p:pic>
        <p:nvPicPr>
          <p:cNvPr descr="arrow-right" id="268" name="Google Shape;268;p13"/>
          <p:cNvPicPr preferRelativeResize="0"/>
          <p:nvPr/>
        </p:nvPicPr>
        <p:blipFill rotWithShape="1">
          <a:blip r:embed="rId3">
            <a:alphaModFix/>
          </a:blip>
          <a:srcRect b="0" l="0" r="0" t="0"/>
          <a:stretch/>
        </p:blipFill>
        <p:spPr>
          <a:xfrm>
            <a:off x="7463155" y="3332559"/>
            <a:ext cx="304800" cy="177800"/>
          </a:xfrm>
          <a:prstGeom prst="rect">
            <a:avLst/>
          </a:prstGeom>
          <a:noFill/>
          <a:ln>
            <a:noFill/>
          </a:ln>
        </p:spPr>
      </p:pic>
      <p:sp>
        <p:nvSpPr>
          <p:cNvPr id="269" name="Google Shape;269;p13"/>
          <p:cNvSpPr/>
          <p:nvPr/>
        </p:nvSpPr>
        <p:spPr>
          <a:xfrm>
            <a:off x="7920355" y="3022721"/>
            <a:ext cx="1968772" cy="58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2C14E"/>
              </a:buClr>
              <a:buSzPts val="4400"/>
              <a:buFont typeface="Fraunces"/>
              <a:buNone/>
            </a:pPr>
            <a:r>
              <a:rPr b="1" i="0" lang="en-US" sz="4400" u="none" cap="none" strike="noStrike">
                <a:solidFill>
                  <a:srgbClr val="F2C14E"/>
                </a:solidFill>
                <a:latin typeface="Fraunces"/>
                <a:ea typeface="Fraunces"/>
                <a:cs typeface="Fraunces"/>
                <a:sym typeface="Fraunces"/>
              </a:rPr>
              <a:t>99.7%</a:t>
            </a:r>
            <a:endParaRPr b="0" i="0" sz="4400" u="none" cap="none" strike="noStrike">
              <a:solidFill>
                <a:schemeClr val="dk1"/>
              </a:solidFill>
              <a:latin typeface="Calibri"/>
              <a:ea typeface="Calibri"/>
              <a:cs typeface="Calibri"/>
              <a:sym typeface="Calibri"/>
            </a:endParaRPr>
          </a:p>
        </p:txBody>
      </p:sp>
      <p:sp>
        <p:nvSpPr>
          <p:cNvPr id="270" name="Google Shape;270;p13"/>
          <p:cNvSpPr/>
          <p:nvPr/>
        </p:nvSpPr>
        <p:spPr>
          <a:xfrm>
            <a:off x="7920355" y="3606921"/>
            <a:ext cx="2293715"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6F3EC"/>
              </a:buClr>
              <a:buSzPts val="1200"/>
              <a:buFont typeface="IBM Plex Sans"/>
              <a:buNone/>
            </a:pPr>
            <a:r>
              <a:rPr b="0" i="0" lang="en-US" sz="1200" u="none" cap="none" strike="noStrike">
                <a:solidFill>
                  <a:srgbClr val="F6F3EC"/>
                </a:solidFill>
                <a:latin typeface="IBM Plex Sans"/>
                <a:ea typeface="IBM Plex Sans"/>
                <a:cs typeface="IBM Plex Sans"/>
                <a:sym typeface="IBM Plex Sans"/>
              </a:rPr>
              <a:t>with the reader · fields filled</a:t>
            </a:r>
            <a:endParaRPr b="0" i="0" sz="1200" u="none" cap="none" strike="noStrike">
              <a:solidFill>
                <a:schemeClr val="dk1"/>
              </a:solidFill>
              <a:latin typeface="Calibri"/>
              <a:ea typeface="Calibri"/>
              <a:cs typeface="Calibri"/>
              <a:sym typeface="Calibri"/>
            </a:endParaRPr>
          </a:p>
        </p:txBody>
      </p:sp>
      <p:pic>
        <p:nvPicPr>
          <p:cNvPr descr="line" id="271" name="Google Shape;271;p13"/>
          <p:cNvPicPr preferRelativeResize="0"/>
          <p:nvPr/>
        </p:nvPicPr>
        <p:blipFill rotWithShape="1">
          <a:blip r:embed="rId4">
            <a:alphaModFix/>
          </a:blip>
          <a:srcRect b="0" l="0" r="0" t="0"/>
          <a:stretch/>
        </p:blipFill>
        <p:spPr>
          <a:xfrm>
            <a:off x="6273800" y="3877788"/>
            <a:ext cx="4851400" cy="25400"/>
          </a:xfrm>
          <a:prstGeom prst="rect">
            <a:avLst/>
          </a:prstGeom>
          <a:noFill/>
          <a:ln>
            <a:noFill/>
          </a:ln>
        </p:spPr>
      </p:pic>
      <p:sp>
        <p:nvSpPr>
          <p:cNvPr id="272" name="Google Shape;272;p13"/>
          <p:cNvSpPr/>
          <p:nvPr/>
        </p:nvSpPr>
        <p:spPr>
          <a:xfrm>
            <a:off x="6273800" y="3992088"/>
            <a:ext cx="4996942" cy="238363"/>
          </a:xfrm>
          <a:prstGeom prst="rect">
            <a:avLst/>
          </a:prstGeom>
          <a:noFill/>
          <a:ln>
            <a:noFill/>
          </a:ln>
        </p:spPr>
        <p:txBody>
          <a:bodyPr anchorCtr="0" anchor="t" bIns="0" lIns="0" spcFirstLastPara="1" rIns="0" wrap="square" tIns="0">
            <a:noAutofit/>
          </a:bodyPr>
          <a:lstStyle/>
          <a:p>
            <a:pPr indent="0" lvl="0" marL="0" marR="0" rtl="0" algn="l">
              <a:lnSpc>
                <a:spcPct val="139967"/>
              </a:lnSpc>
              <a:spcBef>
                <a:spcPts val="0"/>
              </a:spcBef>
              <a:spcAft>
                <a:spcPts val="0"/>
              </a:spcAft>
              <a:buClr>
                <a:srgbClr val="B9CDD3"/>
              </a:buClr>
              <a:buSzPts val="1231"/>
              <a:buFont typeface="IBM Plex Sans"/>
              <a:buNone/>
            </a:pPr>
            <a:r>
              <a:rPr b="0" i="0" lang="en-US" sz="1231" u="none" cap="none" strike="noStrike">
                <a:solidFill>
                  <a:srgbClr val="B9CDD3"/>
                </a:solidFill>
                <a:latin typeface="IBM Plex Sans"/>
                <a:ea typeface="IBM Plex Sans"/>
                <a:cs typeface="IBM Plex Sans"/>
                <a:sym typeface="IBM Plex Sans"/>
              </a:rPr>
              <a:t>Recall on new document layouts</a:t>
            </a:r>
            <a:endParaRPr b="0" i="0" sz="1231" u="none" cap="none" strike="noStrike">
              <a:solidFill>
                <a:schemeClr val="dk1"/>
              </a:solidFill>
              <a:latin typeface="Calibri"/>
              <a:ea typeface="Calibri"/>
              <a:cs typeface="Calibri"/>
              <a:sym typeface="Calibri"/>
            </a:endParaRPr>
          </a:p>
        </p:txBody>
      </p:sp>
      <p:sp>
        <p:nvSpPr>
          <p:cNvPr id="273" name="Google Shape;273;p13"/>
          <p:cNvSpPr/>
          <p:nvPr/>
        </p:nvSpPr>
        <p:spPr>
          <a:xfrm>
            <a:off x="6273800" y="4293753"/>
            <a:ext cx="1003300"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DD3"/>
              </a:buClr>
              <a:buSzPts val="1200"/>
              <a:buFont typeface="IBM Plex Sans"/>
              <a:buNone/>
            </a:pPr>
            <a:r>
              <a:rPr b="0" i="0" lang="en-US" sz="1200" u="none" cap="none" strike="noStrike">
                <a:solidFill>
                  <a:srgbClr val="B9CDD3"/>
                </a:solidFill>
                <a:latin typeface="IBM Plex Sans"/>
                <a:ea typeface="IBM Plex Sans"/>
                <a:cs typeface="IBM Plex Sans"/>
                <a:sym typeface="IBM Plex Sans"/>
              </a:rPr>
              <a:t>Regex</a:t>
            </a:r>
            <a:endParaRPr b="0" i="0" sz="1200" u="none" cap="none" strike="noStrike">
              <a:solidFill>
                <a:schemeClr val="dk1"/>
              </a:solidFill>
              <a:latin typeface="Calibri"/>
              <a:ea typeface="Calibri"/>
              <a:cs typeface="Calibri"/>
              <a:sym typeface="Calibri"/>
            </a:endParaRPr>
          </a:p>
        </p:txBody>
      </p:sp>
      <p:sp>
        <p:nvSpPr>
          <p:cNvPr id="274" name="Google Shape;274;p13"/>
          <p:cNvSpPr/>
          <p:nvPr/>
        </p:nvSpPr>
        <p:spPr>
          <a:xfrm>
            <a:off x="7327900" y="4286132"/>
            <a:ext cx="38100" cy="228600"/>
          </a:xfrm>
          <a:prstGeom prst="rect">
            <a:avLst/>
          </a:prstGeom>
          <a:solidFill>
            <a:srgbClr val="E8A0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3"/>
          <p:cNvSpPr/>
          <p:nvPr/>
        </p:nvSpPr>
        <p:spPr>
          <a:xfrm>
            <a:off x="7467600" y="4284861"/>
            <a:ext cx="475488" cy="256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A073"/>
              </a:buClr>
              <a:buSzPts val="1300"/>
              <a:buFont typeface="IBM Plex Mono"/>
              <a:buNone/>
            </a:pPr>
            <a:r>
              <a:rPr b="1" i="0" lang="en-US" sz="1300" u="none" cap="none" strike="noStrike">
                <a:solidFill>
                  <a:srgbClr val="E8A073"/>
                </a:solidFill>
                <a:latin typeface="IBM Plex Mono"/>
                <a:ea typeface="IBM Plex Mono"/>
                <a:cs typeface="IBM Plex Mono"/>
                <a:sym typeface="IBM Plex Mono"/>
              </a:rPr>
              <a:t>0.7%</a:t>
            </a:r>
            <a:endParaRPr b="0" i="0" sz="1300" u="none" cap="none" strike="noStrike">
              <a:solidFill>
                <a:schemeClr val="dk1"/>
              </a:solidFill>
              <a:latin typeface="Calibri"/>
              <a:ea typeface="Calibri"/>
              <a:cs typeface="Calibri"/>
              <a:sym typeface="Calibri"/>
            </a:endParaRPr>
          </a:p>
        </p:txBody>
      </p:sp>
      <p:sp>
        <p:nvSpPr>
          <p:cNvPr id="276" name="Google Shape;276;p13"/>
          <p:cNvSpPr/>
          <p:nvPr/>
        </p:nvSpPr>
        <p:spPr>
          <a:xfrm>
            <a:off x="6273800" y="4595614"/>
            <a:ext cx="1003300"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DD3"/>
              </a:buClr>
              <a:buSzPts val="1200"/>
              <a:buFont typeface="IBM Plex Sans"/>
              <a:buNone/>
            </a:pPr>
            <a:r>
              <a:rPr b="0" i="0" lang="en-US" sz="1200" u="none" cap="none" strike="noStrike">
                <a:solidFill>
                  <a:srgbClr val="B9CDD3"/>
                </a:solidFill>
                <a:latin typeface="IBM Plex Sans"/>
                <a:ea typeface="IBM Plex Sans"/>
                <a:cs typeface="IBM Plex Sans"/>
                <a:sym typeface="IBM Plex Sans"/>
              </a:rPr>
              <a:t>Sourced</a:t>
            </a:r>
            <a:endParaRPr b="0" i="0" sz="1200" u="none" cap="none" strike="noStrike">
              <a:solidFill>
                <a:schemeClr val="dk1"/>
              </a:solidFill>
              <a:latin typeface="Calibri"/>
              <a:ea typeface="Calibri"/>
              <a:cs typeface="Calibri"/>
              <a:sym typeface="Calibri"/>
            </a:endParaRPr>
          </a:p>
        </p:txBody>
      </p:sp>
      <p:sp>
        <p:nvSpPr>
          <p:cNvPr id="277" name="Google Shape;277;p13"/>
          <p:cNvSpPr/>
          <p:nvPr/>
        </p:nvSpPr>
        <p:spPr>
          <a:xfrm>
            <a:off x="7327900" y="4587993"/>
            <a:ext cx="2667000" cy="228600"/>
          </a:xfrm>
          <a:custGeom>
            <a:rect b="b" l="l" r="r" t="t"/>
            <a:pathLst>
              <a:path extrusionOk="0" h="228600" w="2667000">
                <a:moveTo>
                  <a:pt x="0" y="0"/>
                </a:moveTo>
                <a:lnTo>
                  <a:pt x="2628900" y="0"/>
                </a:lnTo>
                <a:cubicBezTo>
                  <a:pt x="2639005" y="0"/>
                  <a:pt x="2648696" y="4014"/>
                  <a:pt x="2655841" y="11159"/>
                </a:cubicBezTo>
                <a:cubicBezTo>
                  <a:pt x="2662986" y="18304"/>
                  <a:pt x="2667000" y="27995"/>
                  <a:pt x="2667000" y="38100"/>
                </a:cubicBezTo>
                <a:lnTo>
                  <a:pt x="2667000" y="190500"/>
                </a:lnTo>
                <a:cubicBezTo>
                  <a:pt x="2667000" y="211542"/>
                  <a:pt x="2649942" y="228600"/>
                  <a:pt x="2628900" y="228600"/>
                </a:cubicBezTo>
                <a:lnTo>
                  <a:pt x="0" y="228600"/>
                </a:lnTo>
                <a:lnTo>
                  <a:pt x="0" y="0"/>
                </a:lnTo>
                <a:close/>
              </a:path>
            </a:pathLst>
          </a:cu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3"/>
          <p:cNvSpPr/>
          <p:nvPr/>
        </p:nvSpPr>
        <p:spPr>
          <a:xfrm>
            <a:off x="10096500" y="4586728"/>
            <a:ext cx="475488" cy="256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6F3EC"/>
              </a:buClr>
              <a:buSzPts val="1300"/>
              <a:buFont typeface="IBM Plex Mono"/>
              <a:buNone/>
            </a:pPr>
            <a:r>
              <a:rPr b="1" i="0" lang="en-US" sz="1300" u="none" cap="none" strike="noStrike">
                <a:solidFill>
                  <a:srgbClr val="F6F3EC"/>
                </a:solidFill>
                <a:latin typeface="IBM Plex Mono"/>
                <a:ea typeface="IBM Plex Mono"/>
                <a:cs typeface="IBM Plex Mono"/>
                <a:sym typeface="IBM Plex Mono"/>
              </a:rPr>
              <a:t>100%</a:t>
            </a:r>
            <a:endParaRPr b="0" i="0" sz="1300" u="none" cap="none" strike="noStrike">
              <a:solidFill>
                <a:schemeClr val="dk1"/>
              </a:solidFill>
              <a:latin typeface="Calibri"/>
              <a:ea typeface="Calibri"/>
              <a:cs typeface="Calibri"/>
              <a:sym typeface="Calibri"/>
            </a:endParaRPr>
          </a:p>
        </p:txBody>
      </p:sp>
      <p:pic>
        <p:nvPicPr>
          <p:cNvPr descr="line" id="279" name="Google Shape;279;p13"/>
          <p:cNvPicPr preferRelativeResize="0"/>
          <p:nvPr/>
        </p:nvPicPr>
        <p:blipFill rotWithShape="1">
          <a:blip r:embed="rId4">
            <a:alphaModFix/>
          </a:blip>
          <a:srcRect b="0" l="0" r="0" t="0"/>
          <a:stretch/>
        </p:blipFill>
        <p:spPr>
          <a:xfrm>
            <a:off x="6273800" y="4897679"/>
            <a:ext cx="4851400" cy="25400"/>
          </a:xfrm>
          <a:prstGeom prst="rect">
            <a:avLst/>
          </a:prstGeom>
          <a:noFill/>
          <a:ln>
            <a:noFill/>
          </a:ln>
        </p:spPr>
      </p:pic>
      <p:sp>
        <p:nvSpPr>
          <p:cNvPr id="280" name="Google Shape;280;p13"/>
          <p:cNvSpPr/>
          <p:nvPr/>
        </p:nvSpPr>
        <p:spPr>
          <a:xfrm>
            <a:off x="6273800" y="5011979"/>
            <a:ext cx="897969" cy="417870"/>
          </a:xfrm>
          <a:prstGeom prst="rect">
            <a:avLst/>
          </a:prstGeom>
          <a:noFill/>
          <a:ln>
            <a:noFill/>
          </a:ln>
        </p:spPr>
        <p:txBody>
          <a:bodyPr anchorCtr="0" anchor="t" bIns="0" lIns="0" spcFirstLastPara="1" rIns="0" wrap="square" tIns="0">
            <a:noAutofit/>
          </a:bodyPr>
          <a:lstStyle/>
          <a:p>
            <a:pPr indent="0" lvl="0" marL="0" marR="0" rtl="0" algn="l">
              <a:lnSpc>
                <a:spcPct val="139991"/>
              </a:lnSpc>
              <a:spcBef>
                <a:spcPts val="0"/>
              </a:spcBef>
              <a:spcAft>
                <a:spcPts val="0"/>
              </a:spcAft>
              <a:buClr>
                <a:srgbClr val="2DD4BF"/>
              </a:buClr>
              <a:buSzPts val="2228"/>
              <a:buFont typeface="Fraunces"/>
              <a:buNone/>
            </a:pPr>
            <a:r>
              <a:rPr b="1" i="0" lang="en-US" sz="2228" u="none" cap="none" strike="noStrike">
                <a:solidFill>
                  <a:srgbClr val="2DD4BF"/>
                </a:solidFill>
                <a:latin typeface="Fraunces"/>
                <a:ea typeface="Fraunces"/>
                <a:cs typeface="Fraunces"/>
                <a:sym typeface="Fraunces"/>
              </a:rPr>
              <a:t>100%</a:t>
            </a:r>
            <a:endParaRPr b="0" i="0" sz="2228" u="none" cap="none" strike="noStrike">
              <a:solidFill>
                <a:schemeClr val="dk1"/>
              </a:solidFill>
              <a:latin typeface="Calibri"/>
              <a:ea typeface="Calibri"/>
              <a:cs typeface="Calibri"/>
              <a:sym typeface="Calibri"/>
            </a:endParaRPr>
          </a:p>
        </p:txBody>
      </p:sp>
      <p:sp>
        <p:nvSpPr>
          <p:cNvPr id="281" name="Google Shape;281;p13"/>
          <p:cNvSpPr/>
          <p:nvPr/>
        </p:nvSpPr>
        <p:spPr>
          <a:xfrm>
            <a:off x="6273800" y="5417145"/>
            <a:ext cx="799108" cy="221655"/>
          </a:xfrm>
          <a:prstGeom prst="rect">
            <a:avLst/>
          </a:prstGeom>
          <a:noFill/>
          <a:ln>
            <a:noFill/>
          </a:ln>
        </p:spPr>
        <p:txBody>
          <a:bodyPr anchorCtr="0" anchor="t" bIns="0" lIns="0" spcFirstLastPara="1" rIns="0" wrap="square" tIns="0">
            <a:noAutofit/>
          </a:bodyPr>
          <a:lstStyle/>
          <a:p>
            <a:pPr indent="0" lvl="0" marL="0" marR="0" rtl="0" algn="l">
              <a:lnSpc>
                <a:spcPct val="140053"/>
              </a:lnSpc>
              <a:spcBef>
                <a:spcPts val="0"/>
              </a:spcBef>
              <a:spcAft>
                <a:spcPts val="0"/>
              </a:spcAft>
              <a:buClr>
                <a:srgbClr val="B9CDD3"/>
              </a:buClr>
              <a:buSzPts val="1121"/>
              <a:buFont typeface="IBM Plex Sans"/>
              <a:buNone/>
            </a:pPr>
            <a:r>
              <a:rPr b="0" i="0" lang="en-US" sz="1121" u="none" cap="none" strike="noStrike">
                <a:solidFill>
                  <a:srgbClr val="B9CDD3"/>
                </a:solidFill>
                <a:latin typeface="IBM Plex Sans"/>
                <a:ea typeface="IBM Plex Sans"/>
                <a:cs typeface="IBM Plex Sans"/>
                <a:sym typeface="IBM Plex Sans"/>
              </a:rPr>
              <a:t>accurate</a:t>
            </a:r>
            <a:endParaRPr b="0" i="0" sz="1121" u="none" cap="none" strike="noStrike">
              <a:solidFill>
                <a:schemeClr val="dk1"/>
              </a:solidFill>
              <a:latin typeface="Calibri"/>
              <a:ea typeface="Calibri"/>
              <a:cs typeface="Calibri"/>
              <a:sym typeface="Calibri"/>
            </a:endParaRPr>
          </a:p>
        </p:txBody>
      </p:sp>
      <p:sp>
        <p:nvSpPr>
          <p:cNvPr id="282" name="Google Shape;282;p13"/>
          <p:cNvSpPr/>
          <p:nvPr/>
        </p:nvSpPr>
        <p:spPr>
          <a:xfrm>
            <a:off x="8178800" y="5011979"/>
            <a:ext cx="1061799" cy="417870"/>
          </a:xfrm>
          <a:prstGeom prst="rect">
            <a:avLst/>
          </a:prstGeom>
          <a:noFill/>
          <a:ln>
            <a:noFill/>
          </a:ln>
        </p:spPr>
        <p:txBody>
          <a:bodyPr anchorCtr="0" anchor="t" bIns="0" lIns="0" spcFirstLastPara="1" rIns="0" wrap="square" tIns="0">
            <a:noAutofit/>
          </a:bodyPr>
          <a:lstStyle/>
          <a:p>
            <a:pPr indent="0" lvl="0" marL="0" marR="0" rtl="0" algn="l">
              <a:lnSpc>
                <a:spcPct val="139991"/>
              </a:lnSpc>
              <a:spcBef>
                <a:spcPts val="0"/>
              </a:spcBef>
              <a:spcAft>
                <a:spcPts val="0"/>
              </a:spcAft>
              <a:buClr>
                <a:srgbClr val="2DD4BF"/>
              </a:buClr>
              <a:buSzPts val="2228"/>
              <a:buFont typeface="Fraunces"/>
              <a:buNone/>
            </a:pPr>
            <a:r>
              <a:rPr b="1" i="0" lang="en-US" sz="2228" u="none" cap="none" strike="noStrike">
                <a:solidFill>
                  <a:srgbClr val="2DD4BF"/>
                </a:solidFill>
                <a:latin typeface="Fraunces"/>
                <a:ea typeface="Fraunces"/>
                <a:cs typeface="Fraunces"/>
                <a:sym typeface="Fraunces"/>
              </a:rPr>
              <a:t>35/35</a:t>
            </a:r>
            <a:endParaRPr b="0" i="0" sz="2228" u="none" cap="none" strike="noStrike">
              <a:solidFill>
                <a:schemeClr val="dk1"/>
              </a:solidFill>
              <a:latin typeface="Calibri"/>
              <a:ea typeface="Calibri"/>
              <a:cs typeface="Calibri"/>
              <a:sym typeface="Calibri"/>
            </a:endParaRPr>
          </a:p>
        </p:txBody>
      </p:sp>
      <p:sp>
        <p:nvSpPr>
          <p:cNvPr id="283" name="Google Shape;283;p13"/>
          <p:cNvSpPr/>
          <p:nvPr/>
        </p:nvSpPr>
        <p:spPr>
          <a:xfrm>
            <a:off x="8178800" y="5417145"/>
            <a:ext cx="1213199" cy="221655"/>
          </a:xfrm>
          <a:prstGeom prst="rect">
            <a:avLst/>
          </a:prstGeom>
          <a:noFill/>
          <a:ln>
            <a:noFill/>
          </a:ln>
        </p:spPr>
        <p:txBody>
          <a:bodyPr anchorCtr="0" anchor="t" bIns="0" lIns="0" spcFirstLastPara="1" rIns="0" wrap="square" tIns="0">
            <a:noAutofit/>
          </a:bodyPr>
          <a:lstStyle/>
          <a:p>
            <a:pPr indent="0" lvl="0" marL="0" marR="0" rtl="0" algn="l">
              <a:lnSpc>
                <a:spcPct val="140053"/>
              </a:lnSpc>
              <a:spcBef>
                <a:spcPts val="0"/>
              </a:spcBef>
              <a:spcAft>
                <a:spcPts val="0"/>
              </a:spcAft>
              <a:buClr>
                <a:srgbClr val="B9CDD3"/>
              </a:buClr>
              <a:buSzPts val="1121"/>
              <a:buFont typeface="IBM Plex Sans"/>
              <a:buNone/>
            </a:pPr>
            <a:r>
              <a:rPr b="0" i="0" lang="en-US" sz="1121" u="none" cap="none" strike="noStrike">
                <a:solidFill>
                  <a:srgbClr val="B9CDD3"/>
                </a:solidFill>
                <a:latin typeface="IBM Plex Sans"/>
                <a:ea typeface="IBM Plex Sans"/>
                <a:cs typeface="IBM Plex Sans"/>
                <a:sym typeface="IBM Plex Sans"/>
              </a:rPr>
              <a:t>conflicts caught</a:t>
            </a:r>
            <a:endParaRPr b="0" i="0" sz="1121" u="none" cap="none" strike="noStrike">
              <a:solidFill>
                <a:schemeClr val="dk1"/>
              </a:solidFill>
              <a:latin typeface="Calibri"/>
              <a:ea typeface="Calibri"/>
              <a:cs typeface="Calibri"/>
              <a:sym typeface="Calibri"/>
            </a:endParaRPr>
          </a:p>
        </p:txBody>
      </p:sp>
      <p:sp>
        <p:nvSpPr>
          <p:cNvPr id="284" name="Google Shape;284;p13"/>
          <p:cNvSpPr/>
          <p:nvPr/>
        </p:nvSpPr>
        <p:spPr>
          <a:xfrm>
            <a:off x="10346452" y="5011979"/>
            <a:ext cx="829548" cy="417870"/>
          </a:xfrm>
          <a:prstGeom prst="rect">
            <a:avLst/>
          </a:prstGeom>
          <a:noFill/>
          <a:ln>
            <a:noFill/>
          </a:ln>
        </p:spPr>
        <p:txBody>
          <a:bodyPr anchorCtr="0" anchor="t" bIns="0" lIns="0" spcFirstLastPara="1" rIns="0" wrap="square" tIns="0">
            <a:noAutofit/>
          </a:bodyPr>
          <a:lstStyle/>
          <a:p>
            <a:pPr indent="0" lvl="0" marL="0" marR="0" rtl="0" algn="l">
              <a:lnSpc>
                <a:spcPct val="139991"/>
              </a:lnSpc>
              <a:spcBef>
                <a:spcPts val="0"/>
              </a:spcBef>
              <a:spcAft>
                <a:spcPts val="0"/>
              </a:spcAft>
              <a:buClr>
                <a:srgbClr val="2DD4BF"/>
              </a:buClr>
              <a:buSzPts val="2228"/>
              <a:buFont typeface="Fraunces"/>
              <a:buNone/>
            </a:pPr>
            <a:r>
              <a:rPr b="1" i="0" lang="en-US" sz="2228" u="none" cap="none" strike="noStrike">
                <a:solidFill>
                  <a:srgbClr val="2DD4BF"/>
                </a:solidFill>
                <a:latin typeface="Fraunces"/>
                <a:ea typeface="Fraunces"/>
                <a:cs typeface="Fraunces"/>
                <a:sym typeface="Fraunces"/>
              </a:rPr>
              <a:t>0</a:t>
            </a:r>
            <a:endParaRPr b="0" i="0" sz="2228" u="none" cap="none" strike="noStrike">
              <a:solidFill>
                <a:schemeClr val="dk1"/>
              </a:solidFill>
              <a:latin typeface="Calibri"/>
              <a:ea typeface="Calibri"/>
              <a:cs typeface="Calibri"/>
              <a:sym typeface="Calibri"/>
            </a:endParaRPr>
          </a:p>
        </p:txBody>
      </p:sp>
      <p:sp>
        <p:nvSpPr>
          <p:cNvPr id="285" name="Google Shape;285;p13"/>
          <p:cNvSpPr/>
          <p:nvPr/>
        </p:nvSpPr>
        <p:spPr>
          <a:xfrm>
            <a:off x="10346452" y="5417145"/>
            <a:ext cx="934498" cy="221655"/>
          </a:xfrm>
          <a:prstGeom prst="rect">
            <a:avLst/>
          </a:prstGeom>
          <a:noFill/>
          <a:ln>
            <a:noFill/>
          </a:ln>
        </p:spPr>
        <p:txBody>
          <a:bodyPr anchorCtr="0" anchor="t" bIns="0" lIns="0" spcFirstLastPara="1" rIns="0" wrap="square" tIns="0">
            <a:noAutofit/>
          </a:bodyPr>
          <a:lstStyle/>
          <a:p>
            <a:pPr indent="0" lvl="0" marL="0" marR="0" rtl="0" algn="l">
              <a:lnSpc>
                <a:spcPct val="140053"/>
              </a:lnSpc>
              <a:spcBef>
                <a:spcPts val="0"/>
              </a:spcBef>
              <a:spcAft>
                <a:spcPts val="0"/>
              </a:spcAft>
              <a:buClr>
                <a:srgbClr val="B9CDD3"/>
              </a:buClr>
              <a:buSzPts val="1121"/>
              <a:buFont typeface="IBM Plex Sans"/>
              <a:buNone/>
            </a:pPr>
            <a:r>
              <a:rPr b="0" i="0" lang="en-US" sz="1121" u="none" cap="none" strike="noStrike">
                <a:solidFill>
                  <a:srgbClr val="B9CDD3"/>
                </a:solidFill>
                <a:latin typeface="IBM Plex Sans"/>
                <a:ea typeface="IBM Plex Sans"/>
                <a:cs typeface="IBM Plex Sans"/>
                <a:sym typeface="IBM Plex Sans"/>
              </a:rPr>
              <a:t>false alarms</a:t>
            </a:r>
            <a:endParaRPr b="0" i="0" sz="1121" u="none" cap="none" strike="noStrike">
              <a:solidFill>
                <a:schemeClr val="dk1"/>
              </a:solidFill>
              <a:latin typeface="Calibri"/>
              <a:ea typeface="Calibri"/>
              <a:cs typeface="Calibri"/>
              <a:sym typeface="Calibri"/>
            </a:endParaRPr>
          </a:p>
        </p:txBody>
      </p:sp>
      <p:sp>
        <p:nvSpPr>
          <p:cNvPr id="286" name="Google Shape;286;p13"/>
          <p:cNvSpPr/>
          <p:nvPr/>
        </p:nvSpPr>
        <p:spPr>
          <a:xfrm>
            <a:off x="10312400" y="6238242"/>
            <a:ext cx="106680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9AA5AA"/>
              </a:buClr>
              <a:buSzPts val="1200"/>
              <a:buFont typeface="IBM Plex Mono"/>
              <a:buNone/>
            </a:pPr>
            <a:r>
              <a:rPr b="0" i="0" lang="en-US" sz="1200" u="none" cap="none" strike="noStrike">
                <a:solidFill>
                  <a:srgbClr val="9AA5AA"/>
                </a:solidFill>
                <a:latin typeface="IBM Plex Mono"/>
                <a:ea typeface="IBM Plex Mono"/>
                <a:cs typeface="IBM Plex Mono"/>
                <a:sym typeface="IBM Plex Mono"/>
              </a:rPr>
              <a:t>08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3B"/>
        </a:solidFill>
      </p:bgPr>
    </p:bg>
    <p:spTree>
      <p:nvGrpSpPr>
        <p:cNvPr id="291" name="Shape 291"/>
        <p:cNvGrpSpPr/>
        <p:nvPr/>
      </p:nvGrpSpPr>
      <p:grpSpPr>
        <a:xfrm>
          <a:off x="0" y="0"/>
          <a:ext cx="0" cy="0"/>
          <a:chOff x="0" y="0"/>
          <a:chExt cx="0" cy="0"/>
        </a:xfrm>
      </p:grpSpPr>
      <p:sp>
        <p:nvSpPr>
          <p:cNvPr id="292" name="Google Shape;292;p14"/>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Mono"/>
              <a:buNone/>
            </a:pPr>
            <a:r>
              <a:rPr b="0" i="0" lang="en-US" sz="1200" u="none" cap="none" strike="noStrike">
                <a:solidFill>
                  <a:srgbClr val="2DD4BF"/>
                </a:solidFill>
                <a:latin typeface="IBM Plex Mono"/>
                <a:ea typeface="IBM Plex Mono"/>
                <a:cs typeface="IBM Plex Mono"/>
                <a:sym typeface="IBM Plex Mono"/>
              </a:rPr>
              <a:t>08 · BUILT FOR THE AUDIT</a:t>
            </a:r>
            <a:endParaRPr b="0" i="0" sz="1200" u="none" cap="none" strike="noStrike">
              <a:solidFill>
                <a:schemeClr val="dk1"/>
              </a:solidFill>
              <a:latin typeface="Calibri"/>
              <a:ea typeface="Calibri"/>
              <a:cs typeface="Calibri"/>
              <a:sym typeface="Calibri"/>
            </a:endParaRPr>
          </a:p>
        </p:txBody>
      </p:sp>
      <p:sp>
        <p:nvSpPr>
          <p:cNvPr id="293" name="Google Shape;293;p14"/>
          <p:cNvSpPr/>
          <p:nvPr/>
        </p:nvSpPr>
        <p:spPr>
          <a:xfrm>
            <a:off x="812800" y="1178564"/>
            <a:ext cx="10883392"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3EC"/>
              </a:buClr>
              <a:buSzPts val="3600"/>
              <a:buFont typeface="Fraunces"/>
              <a:buNone/>
            </a:pPr>
            <a:r>
              <a:rPr b="0" i="0" lang="en-US" sz="3600" u="none" cap="none" strike="noStrike">
                <a:solidFill>
                  <a:srgbClr val="F6F3EC"/>
                </a:solidFill>
                <a:latin typeface="Fraunces"/>
                <a:ea typeface="Fraunces"/>
                <a:cs typeface="Fraunces"/>
                <a:sym typeface="Fraunces"/>
              </a:rPr>
              <a:t>Every receipt answers a regulator</a:t>
            </a:r>
            <a:endParaRPr b="0" i="0" sz="3600" u="none" cap="none" strike="noStrike">
              <a:solidFill>
                <a:schemeClr val="dk1"/>
              </a:solidFill>
              <a:latin typeface="Calibri"/>
              <a:ea typeface="Calibri"/>
              <a:cs typeface="Calibri"/>
              <a:sym typeface="Calibri"/>
            </a:endParaRPr>
          </a:p>
        </p:txBody>
      </p:sp>
      <p:sp>
        <p:nvSpPr>
          <p:cNvPr id="294" name="Google Shape;294;p14"/>
          <p:cNvSpPr/>
          <p:nvPr/>
        </p:nvSpPr>
        <p:spPr>
          <a:xfrm>
            <a:off x="4064000" y="1651000"/>
            <a:ext cx="4064000" cy="4064000"/>
          </a:xfrm>
          <a:prstGeom prst="roundRect">
            <a:avLst>
              <a:gd fmla="val 1250" name="adj"/>
            </a:avLst>
          </a:prstGeom>
          <a:solidFill>
            <a:srgbClr val="F6F3EC"/>
          </a:solidFill>
          <a:ln>
            <a:noFill/>
          </a:ln>
          <a:effectLst>
            <a:outerShdw blurRad="444500" rotWithShape="0" algn="bl" dir="5400000" dist="1905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4"/>
          <p:cNvSpPr/>
          <p:nvPr/>
        </p:nvSpPr>
        <p:spPr>
          <a:xfrm>
            <a:off x="4330065" y="1879600"/>
            <a:ext cx="3531870" cy="2743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B2A3B"/>
              </a:buClr>
              <a:buSzPts val="1400"/>
              <a:buFont typeface="IBM Plex Mono"/>
              <a:buNone/>
            </a:pPr>
            <a:r>
              <a:rPr b="1" i="0" lang="en-US" sz="1400" u="none" cap="none" strike="noStrike">
                <a:solidFill>
                  <a:srgbClr val="0B2A3B"/>
                </a:solidFill>
                <a:latin typeface="IBM Plex Mono"/>
                <a:ea typeface="IBM Plex Mono"/>
                <a:cs typeface="IBM Plex Mono"/>
                <a:sym typeface="IBM Plex Mono"/>
              </a:rPr>
              <a:t>SOURCED · RECEIPT</a:t>
            </a:r>
            <a:endParaRPr b="0" i="0" sz="1400" u="none" cap="none" strike="noStrike">
              <a:solidFill>
                <a:schemeClr val="dk1"/>
              </a:solidFill>
              <a:latin typeface="Calibri"/>
              <a:ea typeface="Calibri"/>
              <a:cs typeface="Calibri"/>
              <a:sym typeface="Calibri"/>
            </a:endParaRPr>
          </a:p>
        </p:txBody>
      </p:sp>
      <p:pic>
        <p:nvPicPr>
          <p:cNvPr descr="line" id="296" name="Google Shape;296;p14"/>
          <p:cNvPicPr preferRelativeResize="0"/>
          <p:nvPr/>
        </p:nvPicPr>
        <p:blipFill rotWithShape="1">
          <a:blip r:embed="rId3">
            <a:alphaModFix/>
          </a:blip>
          <a:srcRect b="0" l="0" r="0" t="0"/>
          <a:stretch/>
        </p:blipFill>
        <p:spPr>
          <a:xfrm>
            <a:off x="4381500" y="2222500"/>
            <a:ext cx="3429000" cy="25400"/>
          </a:xfrm>
          <a:prstGeom prst="rect">
            <a:avLst/>
          </a:prstGeom>
          <a:noFill/>
          <a:ln>
            <a:noFill/>
          </a:ln>
        </p:spPr>
      </p:pic>
      <p:sp>
        <p:nvSpPr>
          <p:cNvPr id="297" name="Google Shape;297;p14"/>
          <p:cNvSpPr/>
          <p:nvPr/>
        </p:nvSpPr>
        <p:spPr>
          <a:xfrm>
            <a:off x="4381500" y="2413000"/>
            <a:ext cx="3531870" cy="3111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B2A3B"/>
              </a:buClr>
              <a:buSzPts val="1500"/>
              <a:buFont typeface="IBM Plex Mono"/>
              <a:buNone/>
            </a:pPr>
            <a:r>
              <a:rPr b="0" i="0" lang="en-US" sz="1500" u="none" cap="none" strike="noStrike">
                <a:solidFill>
                  <a:srgbClr val="0B2A3B"/>
                </a:solidFill>
                <a:latin typeface="IBM Plex Mono"/>
                <a:ea typeface="IBM Plex Mono"/>
                <a:cs typeface="IBM Plex Mono"/>
                <a:sym typeface="IBM Plex Mono"/>
              </a:rPr>
              <a:t>VALUE ...... </a:t>
            </a:r>
            <a:r>
              <a:rPr b="1" i="0" lang="en-US" sz="1500" u="none" cap="none" strike="noStrike">
                <a:solidFill>
                  <a:srgbClr val="0B2A3B"/>
                </a:solidFill>
                <a:latin typeface="IBM Plex Mono"/>
                <a:ea typeface="IBM Plex Mono"/>
                <a:cs typeface="IBM Plex Mono"/>
                <a:sym typeface="IBM Plex Mono"/>
              </a:rPr>
              <a:t>78.0 kg</a:t>
            </a:r>
            <a:endParaRPr b="0" i="0" sz="1500" u="none" cap="none" strike="noStrike">
              <a:solidFill>
                <a:schemeClr val="dk1"/>
              </a:solidFill>
              <a:latin typeface="Calibri"/>
              <a:ea typeface="Calibri"/>
              <a:cs typeface="Calibri"/>
              <a:sym typeface="Calibri"/>
            </a:endParaRPr>
          </a:p>
        </p:txBody>
      </p:sp>
      <p:sp>
        <p:nvSpPr>
          <p:cNvPr id="298" name="Google Shape;298;p14"/>
          <p:cNvSpPr/>
          <p:nvPr/>
        </p:nvSpPr>
        <p:spPr>
          <a:xfrm>
            <a:off x="4381500" y="2832100"/>
            <a:ext cx="3531870" cy="3111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F766E"/>
              </a:buClr>
              <a:buSzPts val="1500"/>
              <a:buFont typeface="IBM Plex Mono"/>
              <a:buNone/>
            </a:pPr>
            <a:r>
              <a:rPr b="1" i="0" lang="en-US" sz="1500" u="none" cap="none" strike="noStrike">
                <a:solidFill>
                  <a:srgbClr val="0F766E"/>
                </a:solidFill>
                <a:latin typeface="IBM Plex Mono"/>
                <a:ea typeface="IBM Plex Mono"/>
                <a:cs typeface="IBM Plex Mono"/>
                <a:sym typeface="IBM Plex Mono"/>
              </a:rPr>
              <a:t>SOURCE ..... fax, page 1</a:t>
            </a:r>
            <a:endParaRPr b="0" i="0" sz="1500" u="none" cap="none" strike="noStrike">
              <a:solidFill>
                <a:schemeClr val="dk1"/>
              </a:solidFill>
              <a:latin typeface="Calibri"/>
              <a:ea typeface="Calibri"/>
              <a:cs typeface="Calibri"/>
              <a:sym typeface="Calibri"/>
            </a:endParaRPr>
          </a:p>
        </p:txBody>
      </p:sp>
      <p:sp>
        <p:nvSpPr>
          <p:cNvPr id="299" name="Google Shape;299;p14"/>
          <p:cNvSpPr/>
          <p:nvPr/>
        </p:nvSpPr>
        <p:spPr>
          <a:xfrm>
            <a:off x="4381500" y="3251200"/>
            <a:ext cx="3531870" cy="3111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F766E"/>
              </a:buClr>
              <a:buSzPts val="1500"/>
              <a:buFont typeface="IBM Plex Mono"/>
              <a:buNone/>
            </a:pPr>
            <a:r>
              <a:rPr b="1" i="0" lang="en-US" sz="1500" u="none" cap="none" strike="noStrike">
                <a:solidFill>
                  <a:srgbClr val="0F766E"/>
                </a:solidFill>
                <a:latin typeface="IBM Plex Mono"/>
                <a:ea typeface="IBM Plex Mono"/>
                <a:cs typeface="IBM Plex Mono"/>
                <a:sym typeface="IBM Plex Mono"/>
              </a:rPr>
              <a:t>QUOTE ...... “Wt 172 lbs”</a:t>
            </a:r>
            <a:endParaRPr b="0" i="0" sz="1500" u="none" cap="none" strike="noStrike">
              <a:solidFill>
                <a:schemeClr val="dk1"/>
              </a:solidFill>
              <a:latin typeface="Calibri"/>
              <a:ea typeface="Calibri"/>
              <a:cs typeface="Calibri"/>
              <a:sym typeface="Calibri"/>
            </a:endParaRPr>
          </a:p>
        </p:txBody>
      </p:sp>
      <p:sp>
        <p:nvSpPr>
          <p:cNvPr id="300" name="Google Shape;300;p14"/>
          <p:cNvSpPr/>
          <p:nvPr/>
        </p:nvSpPr>
        <p:spPr>
          <a:xfrm>
            <a:off x="4381500" y="3670300"/>
            <a:ext cx="3531870" cy="3111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B2A3B"/>
              </a:buClr>
              <a:buSzPts val="1500"/>
              <a:buFont typeface="IBM Plex Mono"/>
              <a:buNone/>
            </a:pPr>
            <a:r>
              <a:rPr b="0" i="0" lang="en-US" sz="1500" u="none" cap="none" strike="noStrike">
                <a:solidFill>
                  <a:srgbClr val="0B2A3B"/>
                </a:solidFill>
                <a:latin typeface="IBM Plex Mono"/>
                <a:ea typeface="IBM Plex Mono"/>
                <a:cs typeface="IBM Plex Mono"/>
                <a:sym typeface="IBM Plex Mono"/>
              </a:rPr>
              <a:t>CHECKED .... range, units</a:t>
            </a:r>
            <a:endParaRPr b="0" i="0" sz="1500" u="none" cap="none" strike="noStrike">
              <a:solidFill>
                <a:schemeClr val="dk1"/>
              </a:solidFill>
              <a:latin typeface="Calibri"/>
              <a:ea typeface="Calibri"/>
              <a:cs typeface="Calibri"/>
              <a:sym typeface="Calibri"/>
            </a:endParaRPr>
          </a:p>
        </p:txBody>
      </p:sp>
      <p:sp>
        <p:nvSpPr>
          <p:cNvPr id="301" name="Google Shape;301;p14"/>
          <p:cNvSpPr/>
          <p:nvPr/>
        </p:nvSpPr>
        <p:spPr>
          <a:xfrm>
            <a:off x="4381500" y="4089400"/>
            <a:ext cx="3531870" cy="3111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F766E"/>
              </a:buClr>
              <a:buSzPts val="1500"/>
              <a:buFont typeface="IBM Plex Mono"/>
              <a:buNone/>
            </a:pPr>
            <a:r>
              <a:rPr b="1" i="0" lang="en-US" sz="1500" u="none" cap="none" strike="noStrike">
                <a:solidFill>
                  <a:srgbClr val="0F766E"/>
                </a:solidFill>
                <a:latin typeface="IBM Plex Mono"/>
                <a:ea typeface="IBM Plex Mono"/>
                <a:cs typeface="IBM Plex Mono"/>
                <a:sym typeface="IBM Plex Mono"/>
              </a:rPr>
              <a:t>SIGNED ..... coordinator</a:t>
            </a:r>
            <a:endParaRPr b="0" i="0" sz="1500" u="none" cap="none" strike="noStrike">
              <a:solidFill>
                <a:schemeClr val="dk1"/>
              </a:solidFill>
              <a:latin typeface="Calibri"/>
              <a:ea typeface="Calibri"/>
              <a:cs typeface="Calibri"/>
              <a:sym typeface="Calibri"/>
            </a:endParaRPr>
          </a:p>
        </p:txBody>
      </p:sp>
      <p:sp>
        <p:nvSpPr>
          <p:cNvPr id="302" name="Google Shape;302;p14"/>
          <p:cNvSpPr/>
          <p:nvPr/>
        </p:nvSpPr>
        <p:spPr>
          <a:xfrm>
            <a:off x="4381500" y="4508500"/>
            <a:ext cx="3531870" cy="3111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F766E"/>
              </a:buClr>
              <a:buSzPts val="1500"/>
              <a:buFont typeface="IBM Plex Mono"/>
              <a:buNone/>
            </a:pPr>
            <a:r>
              <a:rPr b="1" i="0" lang="en-US" sz="1500" u="none" cap="none" strike="noStrike">
                <a:solidFill>
                  <a:srgbClr val="0F766E"/>
                </a:solidFill>
                <a:latin typeface="IBM Plex Mono"/>
                <a:ea typeface="IBM Plex Mono"/>
                <a:cs typeface="IBM Plex Mono"/>
                <a:sym typeface="IBM Plex Mono"/>
              </a:rPr>
              <a:t>HASH ....... 9f3a…c21e</a:t>
            </a:r>
            <a:endParaRPr b="0" i="0" sz="1500" u="none" cap="none" strike="noStrike">
              <a:solidFill>
                <a:schemeClr val="dk1"/>
              </a:solidFill>
              <a:latin typeface="Calibri"/>
              <a:ea typeface="Calibri"/>
              <a:cs typeface="Calibri"/>
              <a:sym typeface="Calibri"/>
            </a:endParaRPr>
          </a:p>
        </p:txBody>
      </p:sp>
      <p:pic>
        <p:nvPicPr>
          <p:cNvPr descr="line" id="303" name="Google Shape;303;p14"/>
          <p:cNvPicPr preferRelativeResize="0"/>
          <p:nvPr/>
        </p:nvPicPr>
        <p:blipFill rotWithShape="1">
          <a:blip r:embed="rId3">
            <a:alphaModFix/>
          </a:blip>
          <a:srcRect b="0" l="0" r="0" t="0"/>
          <a:stretch/>
        </p:blipFill>
        <p:spPr>
          <a:xfrm>
            <a:off x="4381500" y="4953000"/>
            <a:ext cx="3429000" cy="25400"/>
          </a:xfrm>
          <a:prstGeom prst="rect">
            <a:avLst/>
          </a:prstGeom>
          <a:noFill/>
          <a:ln>
            <a:noFill/>
          </a:ln>
        </p:spPr>
      </p:pic>
      <p:sp>
        <p:nvSpPr>
          <p:cNvPr id="304" name="Google Shape;304;p14"/>
          <p:cNvSpPr/>
          <p:nvPr/>
        </p:nvSpPr>
        <p:spPr>
          <a:xfrm>
            <a:off x="4330065" y="5143500"/>
            <a:ext cx="3531870" cy="25654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B7B83"/>
              </a:buClr>
              <a:buSzPts val="1300"/>
              <a:buFont typeface="IBM Plex Mono"/>
              <a:buNone/>
            </a:pPr>
            <a:r>
              <a:rPr b="0" i="0" lang="en-US" sz="1300" u="none" cap="none" strike="noStrike">
                <a:solidFill>
                  <a:srgbClr val="6B7B83"/>
                </a:solidFill>
                <a:latin typeface="IBM Plex Mono"/>
                <a:ea typeface="IBM Plex Mono"/>
                <a:cs typeface="IBM Plex Mono"/>
                <a:sym typeface="IBM Plex Mono"/>
              </a:rPr>
              <a:t>FHIR · LOINC · CDASH · ODM</a:t>
            </a:r>
            <a:endParaRPr b="0" i="0" sz="1300" u="none" cap="none" strike="noStrike">
              <a:solidFill>
                <a:schemeClr val="dk1"/>
              </a:solidFill>
              <a:latin typeface="Calibri"/>
              <a:ea typeface="Calibri"/>
              <a:cs typeface="Calibri"/>
              <a:sym typeface="Calibri"/>
            </a:endParaRPr>
          </a:p>
        </p:txBody>
      </p:sp>
      <p:sp>
        <p:nvSpPr>
          <p:cNvPr id="305" name="Google Shape;305;p14"/>
          <p:cNvSpPr/>
          <p:nvPr/>
        </p:nvSpPr>
        <p:spPr>
          <a:xfrm>
            <a:off x="812800" y="1651000"/>
            <a:ext cx="2794000" cy="1524000"/>
          </a:xfrm>
          <a:prstGeom prst="roundRect">
            <a:avLst>
              <a:gd fmla="val 5000" name="adj"/>
            </a:avLst>
          </a:prstGeom>
          <a:solidFill>
            <a:srgbClr val="1238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4"/>
          <p:cNvSpPr/>
          <p:nvPr/>
        </p:nvSpPr>
        <p:spPr>
          <a:xfrm>
            <a:off x="812800" y="1651000"/>
            <a:ext cx="2794000" cy="1524000"/>
          </a:xfrm>
          <a:custGeom>
            <a:rect b="b" l="l" r="r" t="t"/>
            <a:pathLst>
              <a:path extrusionOk="0" h="1524000" w="2794000">
                <a:moveTo>
                  <a:pt x="76200" y="1524000"/>
                </a:moveTo>
                <a:lnTo>
                  <a:pt x="76200" y="1524000"/>
                </a:lnTo>
                <a:cubicBezTo>
                  <a:pt x="34116" y="1524000"/>
                  <a:pt x="0" y="1489884"/>
                  <a:pt x="0" y="1447800"/>
                </a:cubicBezTo>
                <a:lnTo>
                  <a:pt x="0" y="76200"/>
                </a:lnTo>
                <a:cubicBezTo>
                  <a:pt x="0" y="34116"/>
                  <a:pt x="34116" y="0"/>
                  <a:pt x="76200" y="0"/>
                </a:cubicBezTo>
                <a:lnTo>
                  <a:pt x="76200" y="0"/>
                </a:lnTo>
                <a:cubicBezTo>
                  <a:pt x="62172" y="0"/>
                  <a:pt x="50800" y="34116"/>
                  <a:pt x="50800" y="76200"/>
                </a:cubicBezTo>
                <a:lnTo>
                  <a:pt x="50800" y="1447800"/>
                </a:lnTo>
                <a:cubicBezTo>
                  <a:pt x="50800" y="1468009"/>
                  <a:pt x="53476" y="1487391"/>
                  <a:pt x="58239" y="1501682"/>
                </a:cubicBezTo>
                <a:cubicBezTo>
                  <a:pt x="63003" y="1515972"/>
                  <a:pt x="69464" y="1524000"/>
                  <a:pt x="76200" y="1524000"/>
                </a:cubicBezTo>
                <a:close/>
              </a:path>
            </a:pathLst>
          </a:custGeom>
          <a:solidFill>
            <a:srgbClr val="F2C1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4"/>
          <p:cNvSpPr/>
          <p:nvPr/>
        </p:nvSpPr>
        <p:spPr>
          <a:xfrm>
            <a:off x="1066800" y="1828800"/>
            <a:ext cx="2406904" cy="35905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3EC"/>
              </a:buClr>
              <a:buSzPts val="2200"/>
              <a:buFont typeface="Fraunces"/>
              <a:buNone/>
            </a:pPr>
            <a:r>
              <a:rPr b="1" i="0" lang="en-US" sz="2200" u="none" cap="none" strike="noStrike">
                <a:solidFill>
                  <a:srgbClr val="F6F3EC"/>
                </a:solidFill>
                <a:latin typeface="Fraunces"/>
                <a:ea typeface="Fraunces"/>
                <a:cs typeface="Fraunces"/>
                <a:sym typeface="Fraunces"/>
              </a:rPr>
              <a:t>Attributable</a:t>
            </a:r>
            <a:endParaRPr b="0" i="0" sz="2200" u="none" cap="none" strike="noStrike">
              <a:solidFill>
                <a:schemeClr val="dk1"/>
              </a:solidFill>
              <a:latin typeface="Calibri"/>
              <a:ea typeface="Calibri"/>
              <a:cs typeface="Calibri"/>
              <a:sym typeface="Calibri"/>
            </a:endParaRPr>
          </a:p>
        </p:txBody>
      </p:sp>
      <p:sp>
        <p:nvSpPr>
          <p:cNvPr id="308" name="Google Shape;308;p14"/>
          <p:cNvSpPr/>
          <p:nvPr/>
        </p:nvSpPr>
        <p:spPr>
          <a:xfrm>
            <a:off x="1066800" y="2225954"/>
            <a:ext cx="2406904" cy="255429"/>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300"/>
              <a:buFont typeface="IBM Plex Mono"/>
              <a:buNone/>
            </a:pPr>
            <a:r>
              <a:rPr b="0" i="0" lang="en-US" sz="1300" u="none" cap="none" strike="noStrike">
                <a:solidFill>
                  <a:srgbClr val="2DD4BF"/>
                </a:solidFill>
                <a:latin typeface="IBM Plex Mono"/>
                <a:ea typeface="IBM Plex Mono"/>
                <a:cs typeface="IBM Plex Mono"/>
                <a:sym typeface="IBM Plex Mono"/>
              </a:rPr>
              <a:t>ALCOA+ · FDA eSource</a:t>
            </a:r>
            <a:endParaRPr b="0" i="0" sz="1300" u="none" cap="none" strike="noStrike">
              <a:solidFill>
                <a:schemeClr val="dk1"/>
              </a:solidFill>
              <a:latin typeface="Calibri"/>
              <a:ea typeface="Calibri"/>
              <a:cs typeface="Calibri"/>
              <a:sym typeface="Calibri"/>
            </a:endParaRPr>
          </a:p>
        </p:txBody>
      </p:sp>
      <p:sp>
        <p:nvSpPr>
          <p:cNvPr id="309" name="Google Shape;309;p14"/>
          <p:cNvSpPr/>
          <p:nvPr/>
        </p:nvSpPr>
        <p:spPr>
          <a:xfrm>
            <a:off x="1066800" y="2519480"/>
            <a:ext cx="2406904" cy="503118"/>
          </a:xfrm>
          <a:prstGeom prst="rect">
            <a:avLst/>
          </a:prstGeom>
          <a:noFill/>
          <a:ln>
            <a:noFill/>
          </a:ln>
        </p:spPr>
        <p:txBody>
          <a:bodyPr anchorCtr="0" anchor="t" bIns="0" lIns="0" spcFirstLastPara="1" rIns="0" wrap="square" tIns="0">
            <a:noAutofit/>
          </a:bodyPr>
          <a:lstStyle/>
          <a:p>
            <a:pPr indent="0" lvl="0" marL="0" marR="0" rtl="0" algn="l">
              <a:lnSpc>
                <a:spcPct val="134957"/>
              </a:lnSpc>
              <a:spcBef>
                <a:spcPts val="0"/>
              </a:spcBef>
              <a:spcAft>
                <a:spcPts val="0"/>
              </a:spcAft>
              <a:buClr>
                <a:srgbClr val="B9CDD3"/>
              </a:buClr>
              <a:buSzPts val="1396"/>
              <a:buFont typeface="IBM Plex Sans"/>
              <a:buNone/>
            </a:pPr>
            <a:r>
              <a:rPr b="0" i="0" lang="en-US" sz="1396" u="none" cap="none" strike="noStrike">
                <a:solidFill>
                  <a:srgbClr val="B9CDD3"/>
                </a:solidFill>
                <a:latin typeface="IBM Plex Sans"/>
                <a:ea typeface="IBM Plex Sans"/>
                <a:cs typeface="IBM Plex Sans"/>
                <a:sym typeface="IBM Plex Sans"/>
              </a:rPr>
              <a:t>Where every value came from</a:t>
            </a:r>
            <a:endParaRPr b="0" i="0" sz="1396" u="none" cap="none" strike="noStrike">
              <a:solidFill>
                <a:schemeClr val="dk1"/>
              </a:solidFill>
              <a:latin typeface="Calibri"/>
              <a:ea typeface="Calibri"/>
              <a:cs typeface="Calibri"/>
              <a:sym typeface="Calibri"/>
            </a:endParaRPr>
          </a:p>
        </p:txBody>
      </p:sp>
      <p:sp>
        <p:nvSpPr>
          <p:cNvPr id="310" name="Google Shape;310;p14"/>
          <p:cNvSpPr/>
          <p:nvPr/>
        </p:nvSpPr>
        <p:spPr>
          <a:xfrm>
            <a:off x="812800" y="4191000"/>
            <a:ext cx="2794000" cy="1524000"/>
          </a:xfrm>
          <a:prstGeom prst="roundRect">
            <a:avLst>
              <a:gd fmla="val 5000" name="adj"/>
            </a:avLst>
          </a:prstGeom>
          <a:solidFill>
            <a:srgbClr val="1238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4"/>
          <p:cNvSpPr/>
          <p:nvPr/>
        </p:nvSpPr>
        <p:spPr>
          <a:xfrm>
            <a:off x="812800" y="4191000"/>
            <a:ext cx="2794000" cy="1524000"/>
          </a:xfrm>
          <a:custGeom>
            <a:rect b="b" l="l" r="r" t="t"/>
            <a:pathLst>
              <a:path extrusionOk="0" h="1524000" w="2794000">
                <a:moveTo>
                  <a:pt x="76200" y="1524000"/>
                </a:moveTo>
                <a:lnTo>
                  <a:pt x="76200" y="1524000"/>
                </a:lnTo>
                <a:cubicBezTo>
                  <a:pt x="34116" y="1524000"/>
                  <a:pt x="0" y="1489884"/>
                  <a:pt x="0" y="1447800"/>
                </a:cubicBezTo>
                <a:lnTo>
                  <a:pt x="0" y="76200"/>
                </a:lnTo>
                <a:cubicBezTo>
                  <a:pt x="0" y="34116"/>
                  <a:pt x="34116" y="0"/>
                  <a:pt x="76200" y="0"/>
                </a:cubicBezTo>
                <a:lnTo>
                  <a:pt x="76200" y="0"/>
                </a:lnTo>
                <a:cubicBezTo>
                  <a:pt x="62172" y="0"/>
                  <a:pt x="50800" y="34116"/>
                  <a:pt x="50800" y="76200"/>
                </a:cubicBezTo>
                <a:lnTo>
                  <a:pt x="50800" y="1447800"/>
                </a:lnTo>
                <a:cubicBezTo>
                  <a:pt x="50800" y="1468009"/>
                  <a:pt x="53476" y="1487391"/>
                  <a:pt x="58239" y="1501682"/>
                </a:cubicBezTo>
                <a:cubicBezTo>
                  <a:pt x="63003" y="1515972"/>
                  <a:pt x="69464" y="1524000"/>
                  <a:pt x="76200" y="1524000"/>
                </a:cubicBezTo>
                <a:close/>
              </a:path>
            </a:pathLst>
          </a:custGeom>
          <a:solidFill>
            <a:srgbClr val="F2C1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4"/>
          <p:cNvSpPr/>
          <p:nvPr/>
        </p:nvSpPr>
        <p:spPr>
          <a:xfrm>
            <a:off x="1066800" y="4368800"/>
            <a:ext cx="2406904" cy="35905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3EC"/>
              </a:buClr>
              <a:buSzPts val="2200"/>
              <a:buFont typeface="Fraunces"/>
              <a:buNone/>
            </a:pPr>
            <a:r>
              <a:rPr b="1" i="0" lang="en-US" sz="2200" u="none" cap="none" strike="noStrike">
                <a:solidFill>
                  <a:srgbClr val="F6F3EC"/>
                </a:solidFill>
                <a:latin typeface="Fraunces"/>
                <a:ea typeface="Fraunces"/>
                <a:cs typeface="Fraunces"/>
                <a:sym typeface="Fraunces"/>
              </a:rPr>
              <a:t>Original</a:t>
            </a:r>
            <a:endParaRPr b="0" i="0" sz="2200" u="none" cap="none" strike="noStrike">
              <a:solidFill>
                <a:schemeClr val="dk1"/>
              </a:solidFill>
              <a:latin typeface="Calibri"/>
              <a:ea typeface="Calibri"/>
              <a:cs typeface="Calibri"/>
              <a:sym typeface="Calibri"/>
            </a:endParaRPr>
          </a:p>
        </p:txBody>
      </p:sp>
      <p:sp>
        <p:nvSpPr>
          <p:cNvPr id="313" name="Google Shape;313;p14"/>
          <p:cNvSpPr/>
          <p:nvPr/>
        </p:nvSpPr>
        <p:spPr>
          <a:xfrm>
            <a:off x="1066800" y="4765954"/>
            <a:ext cx="2406904" cy="255429"/>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300"/>
              <a:buFont typeface="IBM Plex Mono"/>
              <a:buNone/>
            </a:pPr>
            <a:r>
              <a:rPr b="0" i="0" lang="en-US" sz="1300" u="none" cap="none" strike="noStrike">
                <a:solidFill>
                  <a:srgbClr val="2DD4BF"/>
                </a:solidFill>
                <a:latin typeface="IBM Plex Mono"/>
                <a:ea typeface="IBM Plex Mono"/>
                <a:cs typeface="IBM Plex Mono"/>
                <a:sym typeface="IBM Plex Mono"/>
              </a:rPr>
              <a:t>ALCOA+</a:t>
            </a:r>
            <a:endParaRPr b="0" i="0" sz="1300" u="none" cap="none" strike="noStrike">
              <a:solidFill>
                <a:schemeClr val="dk1"/>
              </a:solidFill>
              <a:latin typeface="Calibri"/>
              <a:ea typeface="Calibri"/>
              <a:cs typeface="Calibri"/>
              <a:sym typeface="Calibri"/>
            </a:endParaRPr>
          </a:p>
        </p:txBody>
      </p:sp>
      <p:sp>
        <p:nvSpPr>
          <p:cNvPr id="314" name="Google Shape;314;p14"/>
          <p:cNvSpPr/>
          <p:nvPr/>
        </p:nvSpPr>
        <p:spPr>
          <a:xfrm>
            <a:off x="1066800" y="5059480"/>
            <a:ext cx="2406904" cy="503118"/>
          </a:xfrm>
          <a:prstGeom prst="rect">
            <a:avLst/>
          </a:prstGeom>
          <a:noFill/>
          <a:ln>
            <a:noFill/>
          </a:ln>
        </p:spPr>
        <p:txBody>
          <a:bodyPr anchorCtr="0" anchor="t" bIns="0" lIns="0" spcFirstLastPara="1" rIns="0" wrap="square" tIns="0">
            <a:noAutofit/>
          </a:bodyPr>
          <a:lstStyle/>
          <a:p>
            <a:pPr indent="0" lvl="0" marL="0" marR="0" rtl="0" algn="l">
              <a:lnSpc>
                <a:spcPct val="134957"/>
              </a:lnSpc>
              <a:spcBef>
                <a:spcPts val="0"/>
              </a:spcBef>
              <a:spcAft>
                <a:spcPts val="0"/>
              </a:spcAft>
              <a:buClr>
                <a:srgbClr val="B9CDD3"/>
              </a:buClr>
              <a:buSzPts val="1396"/>
              <a:buFont typeface="IBM Plex Sans"/>
              <a:buNone/>
            </a:pPr>
            <a:r>
              <a:rPr b="0" i="0" lang="en-US" sz="1396" u="none" cap="none" strike="noStrike">
                <a:solidFill>
                  <a:srgbClr val="B9CDD3"/>
                </a:solidFill>
                <a:latin typeface="IBM Plex Sans"/>
                <a:ea typeface="IBM Plex Sans"/>
                <a:cs typeface="IBM Plex Sans"/>
                <a:sym typeface="IBM Plex Sans"/>
              </a:rPr>
              <a:t>The exact words, kept verbatim</a:t>
            </a:r>
            <a:endParaRPr b="0" i="0" sz="1396" u="none" cap="none" strike="noStrike">
              <a:solidFill>
                <a:schemeClr val="dk1"/>
              </a:solidFill>
              <a:latin typeface="Calibri"/>
              <a:ea typeface="Calibri"/>
              <a:cs typeface="Calibri"/>
              <a:sym typeface="Calibri"/>
            </a:endParaRPr>
          </a:p>
        </p:txBody>
      </p:sp>
      <p:sp>
        <p:nvSpPr>
          <p:cNvPr id="315" name="Google Shape;315;p14"/>
          <p:cNvSpPr/>
          <p:nvPr/>
        </p:nvSpPr>
        <p:spPr>
          <a:xfrm>
            <a:off x="8585200" y="1651000"/>
            <a:ext cx="2794000" cy="1524000"/>
          </a:xfrm>
          <a:prstGeom prst="roundRect">
            <a:avLst>
              <a:gd fmla="val 5000" name="adj"/>
            </a:avLst>
          </a:prstGeom>
          <a:solidFill>
            <a:srgbClr val="1238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4"/>
          <p:cNvSpPr/>
          <p:nvPr/>
        </p:nvSpPr>
        <p:spPr>
          <a:xfrm>
            <a:off x="8585200" y="1651000"/>
            <a:ext cx="2794000" cy="1524000"/>
          </a:xfrm>
          <a:custGeom>
            <a:rect b="b" l="l" r="r" t="t"/>
            <a:pathLst>
              <a:path extrusionOk="0" h="1524000" w="2794000">
                <a:moveTo>
                  <a:pt x="76200" y="1524000"/>
                </a:moveTo>
                <a:lnTo>
                  <a:pt x="76200" y="1524000"/>
                </a:lnTo>
                <a:cubicBezTo>
                  <a:pt x="34116" y="1524000"/>
                  <a:pt x="0" y="1489884"/>
                  <a:pt x="0" y="1447800"/>
                </a:cubicBezTo>
                <a:lnTo>
                  <a:pt x="0" y="76200"/>
                </a:lnTo>
                <a:cubicBezTo>
                  <a:pt x="0" y="34116"/>
                  <a:pt x="34116" y="0"/>
                  <a:pt x="76200" y="0"/>
                </a:cubicBezTo>
                <a:lnTo>
                  <a:pt x="76200" y="0"/>
                </a:lnTo>
                <a:cubicBezTo>
                  <a:pt x="62172" y="0"/>
                  <a:pt x="50800" y="34116"/>
                  <a:pt x="50800" y="76200"/>
                </a:cubicBezTo>
                <a:lnTo>
                  <a:pt x="50800" y="1447800"/>
                </a:lnTo>
                <a:cubicBezTo>
                  <a:pt x="50800" y="1468009"/>
                  <a:pt x="53476" y="1487391"/>
                  <a:pt x="58239" y="1501682"/>
                </a:cubicBezTo>
                <a:cubicBezTo>
                  <a:pt x="63003" y="1515972"/>
                  <a:pt x="69464" y="1524000"/>
                  <a:pt x="76200" y="1524000"/>
                </a:cubicBezTo>
                <a:close/>
              </a:path>
            </a:pathLst>
          </a:custGeom>
          <a:solidFill>
            <a:srgbClr val="F2C1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4"/>
          <p:cNvSpPr/>
          <p:nvPr/>
        </p:nvSpPr>
        <p:spPr>
          <a:xfrm>
            <a:off x="8839200" y="1828800"/>
            <a:ext cx="2406904" cy="35905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3EC"/>
              </a:buClr>
              <a:buSzPts val="2200"/>
              <a:buFont typeface="Fraunces"/>
              <a:buNone/>
            </a:pPr>
            <a:r>
              <a:rPr b="1" i="0" lang="en-US" sz="2200" u="none" cap="none" strike="noStrike">
                <a:solidFill>
                  <a:srgbClr val="F6F3EC"/>
                </a:solidFill>
                <a:latin typeface="Fraunces"/>
                <a:ea typeface="Fraunces"/>
                <a:cs typeface="Fraunces"/>
                <a:sym typeface="Fraunces"/>
              </a:rPr>
              <a:t>Accountable</a:t>
            </a:r>
            <a:endParaRPr b="0" i="0" sz="2200" u="none" cap="none" strike="noStrike">
              <a:solidFill>
                <a:schemeClr val="dk1"/>
              </a:solidFill>
              <a:latin typeface="Calibri"/>
              <a:ea typeface="Calibri"/>
              <a:cs typeface="Calibri"/>
              <a:sym typeface="Calibri"/>
            </a:endParaRPr>
          </a:p>
        </p:txBody>
      </p:sp>
      <p:sp>
        <p:nvSpPr>
          <p:cNvPr id="318" name="Google Shape;318;p14"/>
          <p:cNvSpPr/>
          <p:nvPr/>
        </p:nvSpPr>
        <p:spPr>
          <a:xfrm>
            <a:off x="8839200" y="2225954"/>
            <a:ext cx="2406904" cy="255429"/>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300"/>
              <a:buFont typeface="IBM Plex Mono"/>
              <a:buNone/>
            </a:pPr>
            <a:r>
              <a:rPr b="0" i="0" lang="en-US" sz="1300" u="none" cap="none" strike="noStrike">
                <a:solidFill>
                  <a:srgbClr val="2DD4BF"/>
                </a:solidFill>
                <a:latin typeface="IBM Plex Mono"/>
                <a:ea typeface="IBM Plex Mono"/>
                <a:cs typeface="IBM Plex Mono"/>
                <a:sym typeface="IBM Plex Mono"/>
              </a:rPr>
              <a:t>ICH E6(R3)</a:t>
            </a:r>
            <a:endParaRPr b="0" i="0" sz="1300" u="none" cap="none" strike="noStrike">
              <a:solidFill>
                <a:schemeClr val="dk1"/>
              </a:solidFill>
              <a:latin typeface="Calibri"/>
              <a:ea typeface="Calibri"/>
              <a:cs typeface="Calibri"/>
              <a:sym typeface="Calibri"/>
            </a:endParaRPr>
          </a:p>
        </p:txBody>
      </p:sp>
      <p:sp>
        <p:nvSpPr>
          <p:cNvPr id="319" name="Google Shape;319;p14"/>
          <p:cNvSpPr/>
          <p:nvPr/>
        </p:nvSpPr>
        <p:spPr>
          <a:xfrm>
            <a:off x="8839200" y="2519480"/>
            <a:ext cx="2406904" cy="503118"/>
          </a:xfrm>
          <a:prstGeom prst="rect">
            <a:avLst/>
          </a:prstGeom>
          <a:noFill/>
          <a:ln>
            <a:noFill/>
          </a:ln>
        </p:spPr>
        <p:txBody>
          <a:bodyPr anchorCtr="0" anchor="t" bIns="0" lIns="0" spcFirstLastPara="1" rIns="0" wrap="square" tIns="0">
            <a:noAutofit/>
          </a:bodyPr>
          <a:lstStyle/>
          <a:p>
            <a:pPr indent="0" lvl="0" marL="0" marR="0" rtl="0" algn="l">
              <a:lnSpc>
                <a:spcPct val="134957"/>
              </a:lnSpc>
              <a:spcBef>
                <a:spcPts val="0"/>
              </a:spcBef>
              <a:spcAft>
                <a:spcPts val="0"/>
              </a:spcAft>
              <a:buClr>
                <a:srgbClr val="B9CDD3"/>
              </a:buClr>
              <a:buSzPts val="1396"/>
              <a:buFont typeface="IBM Plex Sans"/>
              <a:buNone/>
            </a:pPr>
            <a:r>
              <a:rPr b="0" i="0" lang="en-US" sz="1396" u="none" cap="none" strike="noStrike">
                <a:solidFill>
                  <a:srgbClr val="B9CDD3"/>
                </a:solidFill>
                <a:latin typeface="IBM Plex Sans"/>
                <a:ea typeface="IBM Plex Sans"/>
                <a:cs typeface="IBM Plex Sans"/>
                <a:sym typeface="IBM Plex Sans"/>
              </a:rPr>
              <a:t>A person signs, with a reason per flag</a:t>
            </a:r>
            <a:endParaRPr b="0" i="0" sz="1396" u="none" cap="none" strike="noStrike">
              <a:solidFill>
                <a:schemeClr val="dk1"/>
              </a:solidFill>
              <a:latin typeface="Calibri"/>
              <a:ea typeface="Calibri"/>
              <a:cs typeface="Calibri"/>
              <a:sym typeface="Calibri"/>
            </a:endParaRPr>
          </a:p>
        </p:txBody>
      </p:sp>
      <p:sp>
        <p:nvSpPr>
          <p:cNvPr id="320" name="Google Shape;320;p14"/>
          <p:cNvSpPr/>
          <p:nvPr/>
        </p:nvSpPr>
        <p:spPr>
          <a:xfrm>
            <a:off x="8585200" y="4191000"/>
            <a:ext cx="2794000" cy="1524000"/>
          </a:xfrm>
          <a:prstGeom prst="roundRect">
            <a:avLst>
              <a:gd fmla="val 5000" name="adj"/>
            </a:avLst>
          </a:prstGeom>
          <a:solidFill>
            <a:srgbClr val="1238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4"/>
          <p:cNvSpPr/>
          <p:nvPr/>
        </p:nvSpPr>
        <p:spPr>
          <a:xfrm>
            <a:off x="8585200" y="4191000"/>
            <a:ext cx="2794000" cy="1524000"/>
          </a:xfrm>
          <a:custGeom>
            <a:rect b="b" l="l" r="r" t="t"/>
            <a:pathLst>
              <a:path extrusionOk="0" h="1524000" w="2794000">
                <a:moveTo>
                  <a:pt x="76200" y="1524000"/>
                </a:moveTo>
                <a:lnTo>
                  <a:pt x="76200" y="1524000"/>
                </a:lnTo>
                <a:cubicBezTo>
                  <a:pt x="34116" y="1524000"/>
                  <a:pt x="0" y="1489884"/>
                  <a:pt x="0" y="1447800"/>
                </a:cubicBezTo>
                <a:lnTo>
                  <a:pt x="0" y="76200"/>
                </a:lnTo>
                <a:cubicBezTo>
                  <a:pt x="0" y="34116"/>
                  <a:pt x="34116" y="0"/>
                  <a:pt x="76200" y="0"/>
                </a:cubicBezTo>
                <a:lnTo>
                  <a:pt x="76200" y="0"/>
                </a:lnTo>
                <a:cubicBezTo>
                  <a:pt x="62172" y="0"/>
                  <a:pt x="50800" y="34116"/>
                  <a:pt x="50800" y="76200"/>
                </a:cubicBezTo>
                <a:lnTo>
                  <a:pt x="50800" y="1447800"/>
                </a:lnTo>
                <a:cubicBezTo>
                  <a:pt x="50800" y="1468009"/>
                  <a:pt x="53476" y="1487391"/>
                  <a:pt x="58239" y="1501682"/>
                </a:cubicBezTo>
                <a:cubicBezTo>
                  <a:pt x="63003" y="1515972"/>
                  <a:pt x="69464" y="1524000"/>
                  <a:pt x="76200" y="1524000"/>
                </a:cubicBezTo>
                <a:close/>
              </a:path>
            </a:pathLst>
          </a:custGeom>
          <a:solidFill>
            <a:srgbClr val="F2C1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4"/>
          <p:cNvSpPr/>
          <p:nvPr/>
        </p:nvSpPr>
        <p:spPr>
          <a:xfrm>
            <a:off x="8839200" y="4486275"/>
            <a:ext cx="2406904"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3EC"/>
              </a:buClr>
              <a:buSzPts val="2200"/>
              <a:buFont typeface="Fraunces"/>
              <a:buNone/>
            </a:pPr>
            <a:r>
              <a:rPr b="1" i="0" lang="en-US" sz="2200" u="none" cap="none" strike="noStrike">
                <a:solidFill>
                  <a:srgbClr val="F6F3EC"/>
                </a:solidFill>
                <a:latin typeface="Fraunces"/>
                <a:ea typeface="Fraunces"/>
                <a:cs typeface="Fraunces"/>
                <a:sym typeface="Fraunces"/>
              </a:rPr>
              <a:t>Tamper-evident</a:t>
            </a:r>
            <a:endParaRPr b="0" i="0" sz="2200" u="none" cap="none" strike="noStrike">
              <a:solidFill>
                <a:schemeClr val="dk1"/>
              </a:solidFill>
              <a:latin typeface="Calibri"/>
              <a:ea typeface="Calibri"/>
              <a:cs typeface="Calibri"/>
              <a:sym typeface="Calibri"/>
            </a:endParaRPr>
          </a:p>
        </p:txBody>
      </p:sp>
      <p:sp>
        <p:nvSpPr>
          <p:cNvPr id="323" name="Google Shape;323;p14"/>
          <p:cNvSpPr/>
          <p:nvPr/>
        </p:nvSpPr>
        <p:spPr>
          <a:xfrm>
            <a:off x="8839200" y="4885054"/>
            <a:ext cx="2406904" cy="256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300"/>
              <a:buFont typeface="IBM Plex Mono"/>
              <a:buNone/>
            </a:pPr>
            <a:r>
              <a:rPr b="0" i="0" lang="en-US" sz="1300" u="none" cap="none" strike="noStrike">
                <a:solidFill>
                  <a:srgbClr val="2DD4BF"/>
                </a:solidFill>
                <a:latin typeface="IBM Plex Mono"/>
                <a:ea typeface="IBM Plex Mono"/>
                <a:cs typeface="IBM Plex Mono"/>
                <a:sym typeface="IBM Plex Mono"/>
              </a:rPr>
              <a:t>21 CFR Part 11</a:t>
            </a:r>
            <a:endParaRPr b="0" i="0" sz="1300" u="none" cap="none" strike="noStrike">
              <a:solidFill>
                <a:schemeClr val="dk1"/>
              </a:solidFill>
              <a:latin typeface="Calibri"/>
              <a:ea typeface="Calibri"/>
              <a:cs typeface="Calibri"/>
              <a:sym typeface="Calibri"/>
            </a:endParaRPr>
          </a:p>
        </p:txBody>
      </p:sp>
      <p:sp>
        <p:nvSpPr>
          <p:cNvPr id="324" name="Google Shape;324;p14"/>
          <p:cNvSpPr/>
          <p:nvPr/>
        </p:nvSpPr>
        <p:spPr>
          <a:xfrm>
            <a:off x="8839200" y="5179696"/>
            <a:ext cx="2406904" cy="2654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9CDD3"/>
              </a:buClr>
              <a:buSzPts val="1400"/>
              <a:buFont typeface="IBM Plex Sans"/>
              <a:buNone/>
            </a:pPr>
            <a:r>
              <a:rPr b="0" i="0" lang="en-US" sz="1400" u="none" cap="none" strike="noStrike">
                <a:solidFill>
                  <a:srgbClr val="B9CDD3"/>
                </a:solidFill>
                <a:latin typeface="IBM Plex Sans"/>
                <a:ea typeface="IBM Plex Sans"/>
                <a:cs typeface="IBM Plex Sans"/>
                <a:sym typeface="IBM Plex Sans"/>
              </a:rPr>
              <a:t>Every action hash-chained</a:t>
            </a:r>
            <a:endParaRPr b="0" i="0" sz="1400" u="none" cap="none" strike="noStrike">
              <a:solidFill>
                <a:schemeClr val="dk1"/>
              </a:solidFill>
              <a:latin typeface="Calibri"/>
              <a:ea typeface="Calibri"/>
              <a:cs typeface="Calibri"/>
              <a:sym typeface="Calibri"/>
            </a:endParaRPr>
          </a:p>
        </p:txBody>
      </p:sp>
      <p:pic>
        <p:nvPicPr>
          <p:cNvPr descr="connector" id="325" name="Google Shape;325;p14"/>
          <p:cNvPicPr preferRelativeResize="0"/>
          <p:nvPr/>
        </p:nvPicPr>
        <p:blipFill rotWithShape="1">
          <a:blip r:embed="rId4">
            <a:alphaModFix/>
          </a:blip>
          <a:srcRect b="0" l="0" r="0" t="0"/>
          <a:stretch/>
        </p:blipFill>
        <p:spPr>
          <a:xfrm>
            <a:off x="3556000" y="2362200"/>
            <a:ext cx="558800" cy="660400"/>
          </a:xfrm>
          <a:prstGeom prst="rect">
            <a:avLst/>
          </a:prstGeom>
          <a:noFill/>
          <a:ln>
            <a:noFill/>
          </a:ln>
        </p:spPr>
      </p:pic>
      <p:pic>
        <p:nvPicPr>
          <p:cNvPr descr="connector" id="326" name="Google Shape;326;p14"/>
          <p:cNvPicPr preferRelativeResize="0"/>
          <p:nvPr/>
        </p:nvPicPr>
        <p:blipFill rotWithShape="1">
          <a:blip r:embed="rId5">
            <a:alphaModFix/>
          </a:blip>
          <a:srcRect b="0" l="0" r="0" t="0"/>
          <a:stretch/>
        </p:blipFill>
        <p:spPr>
          <a:xfrm>
            <a:off x="3556000" y="3340100"/>
            <a:ext cx="558800" cy="1663700"/>
          </a:xfrm>
          <a:prstGeom prst="rect">
            <a:avLst/>
          </a:prstGeom>
          <a:noFill/>
          <a:ln>
            <a:noFill/>
          </a:ln>
        </p:spPr>
      </p:pic>
      <p:pic>
        <p:nvPicPr>
          <p:cNvPr descr="connector" id="327" name="Google Shape;327;p14"/>
          <p:cNvPicPr preferRelativeResize="0"/>
          <p:nvPr/>
        </p:nvPicPr>
        <p:blipFill rotWithShape="1">
          <a:blip r:embed="rId6">
            <a:alphaModFix/>
          </a:blip>
          <a:srcRect b="0" l="0" r="0" t="0"/>
          <a:stretch/>
        </p:blipFill>
        <p:spPr>
          <a:xfrm>
            <a:off x="8077200" y="2362200"/>
            <a:ext cx="558800" cy="1917700"/>
          </a:xfrm>
          <a:prstGeom prst="rect">
            <a:avLst/>
          </a:prstGeom>
          <a:noFill/>
          <a:ln>
            <a:noFill/>
          </a:ln>
        </p:spPr>
      </p:pic>
      <p:pic>
        <p:nvPicPr>
          <p:cNvPr descr="connector" id="328" name="Google Shape;328;p14"/>
          <p:cNvPicPr preferRelativeResize="0"/>
          <p:nvPr/>
        </p:nvPicPr>
        <p:blipFill rotWithShape="1">
          <a:blip r:embed="rId7">
            <a:alphaModFix/>
          </a:blip>
          <a:srcRect b="0" l="0" r="0" t="0"/>
          <a:stretch/>
        </p:blipFill>
        <p:spPr>
          <a:xfrm>
            <a:off x="8077200" y="4597400"/>
            <a:ext cx="558800" cy="406400"/>
          </a:xfrm>
          <a:prstGeom prst="rect">
            <a:avLst/>
          </a:prstGeom>
          <a:noFill/>
          <a:ln>
            <a:noFill/>
          </a:ln>
        </p:spPr>
      </p:pic>
      <p:sp>
        <p:nvSpPr>
          <p:cNvPr id="329" name="Google Shape;329;p14"/>
          <p:cNvSpPr/>
          <p:nvPr/>
        </p:nvSpPr>
        <p:spPr>
          <a:xfrm>
            <a:off x="10312400" y="6238242"/>
            <a:ext cx="106680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7F89"/>
              </a:buClr>
              <a:buSzPts val="1200"/>
              <a:buFont typeface="IBM Plex Mono"/>
              <a:buNone/>
            </a:pPr>
            <a:r>
              <a:rPr b="0" i="0" lang="en-US" sz="1200" u="none" cap="none" strike="noStrike">
                <a:solidFill>
                  <a:srgbClr val="5E7F89"/>
                </a:solidFill>
                <a:latin typeface="IBM Plex Mono"/>
                <a:ea typeface="IBM Plex Mono"/>
                <a:cs typeface="IBM Plex Mono"/>
                <a:sym typeface="IBM Plex Mono"/>
              </a:rPr>
              <a:t>09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EC"/>
        </a:solidFill>
      </p:bgPr>
    </p:bg>
    <p:spTree>
      <p:nvGrpSpPr>
        <p:cNvPr id="334" name="Shape 334"/>
        <p:cNvGrpSpPr/>
        <p:nvPr/>
      </p:nvGrpSpPr>
      <p:grpSpPr>
        <a:xfrm>
          <a:off x="0" y="0"/>
          <a:ext cx="0" cy="0"/>
          <a:chOff x="0" y="0"/>
          <a:chExt cx="0" cy="0"/>
        </a:xfrm>
      </p:grpSpPr>
      <p:sp>
        <p:nvSpPr>
          <p:cNvPr id="335" name="Google Shape;335;p15"/>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Mono"/>
              <a:buNone/>
            </a:pPr>
            <a:r>
              <a:rPr b="0" i="0" lang="en-US" sz="1200" u="none" cap="none" strike="noStrike">
                <a:solidFill>
                  <a:srgbClr val="0F766E"/>
                </a:solidFill>
                <a:latin typeface="IBM Plex Mono"/>
                <a:ea typeface="IBM Plex Mono"/>
                <a:cs typeface="IBM Plex Mono"/>
                <a:sym typeface="IBM Plex Mono"/>
              </a:rPr>
              <a:t>09 · WHY REGENERON</a:t>
            </a:r>
            <a:endParaRPr b="0" i="0" sz="1200" u="none" cap="none" strike="noStrike">
              <a:solidFill>
                <a:schemeClr val="dk1"/>
              </a:solidFill>
              <a:latin typeface="Calibri"/>
              <a:ea typeface="Calibri"/>
              <a:cs typeface="Calibri"/>
              <a:sym typeface="Calibri"/>
            </a:endParaRPr>
          </a:p>
        </p:txBody>
      </p:sp>
      <p:sp>
        <p:nvSpPr>
          <p:cNvPr id="336" name="Google Shape;336;p15"/>
          <p:cNvSpPr/>
          <p:nvPr/>
        </p:nvSpPr>
        <p:spPr>
          <a:xfrm>
            <a:off x="812800" y="1254764"/>
            <a:ext cx="10883392"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B2A3B"/>
              </a:buClr>
              <a:buSzPts val="3600"/>
              <a:buFont typeface="Fraunces"/>
              <a:buNone/>
            </a:pPr>
            <a:r>
              <a:rPr b="0" i="0" lang="en-US" sz="3600" u="none" cap="none" strike="noStrike">
                <a:solidFill>
                  <a:srgbClr val="0B2A3B"/>
                </a:solidFill>
                <a:latin typeface="Fraunces"/>
                <a:ea typeface="Fraunces"/>
                <a:cs typeface="Fraunces"/>
                <a:sym typeface="Fraunces"/>
              </a:rPr>
              <a:t>The first data agent on your site-agent map</a:t>
            </a:r>
            <a:endParaRPr b="0" i="0" sz="3600" u="none" cap="none" strike="noStrike">
              <a:solidFill>
                <a:schemeClr val="dk1"/>
              </a:solidFill>
              <a:latin typeface="Calibri"/>
              <a:ea typeface="Calibri"/>
              <a:cs typeface="Calibri"/>
              <a:sym typeface="Calibri"/>
            </a:endParaRPr>
          </a:p>
        </p:txBody>
      </p:sp>
      <p:sp>
        <p:nvSpPr>
          <p:cNvPr id="337" name="Google Shape;337;p15"/>
          <p:cNvSpPr/>
          <p:nvPr/>
        </p:nvSpPr>
        <p:spPr>
          <a:xfrm>
            <a:off x="812800" y="1986279"/>
            <a:ext cx="10566400" cy="1036320"/>
          </a:xfrm>
          <a:prstGeom prst="roundRect">
            <a:avLst>
              <a:gd fmla="val 9804" name="adj"/>
            </a:avLst>
          </a:prstGeom>
          <a:solidFill>
            <a:srgbClr val="0B2A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5"/>
          <p:cNvSpPr/>
          <p:nvPr/>
        </p:nvSpPr>
        <p:spPr>
          <a:xfrm>
            <a:off x="1117600" y="2189479"/>
            <a:ext cx="262404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Mono"/>
              <a:buNone/>
            </a:pPr>
            <a:r>
              <a:rPr b="0" i="0" lang="en-US" sz="1200" u="none" cap="none" strike="noStrike">
                <a:solidFill>
                  <a:srgbClr val="2DD4BF"/>
                </a:solidFill>
                <a:latin typeface="IBM Plex Mono"/>
                <a:ea typeface="IBM Plex Mono"/>
                <a:cs typeface="IBM Plex Mono"/>
                <a:sym typeface="IBM Plex Mono"/>
              </a:rPr>
              <a:t>SITE AGENTS OUTLINE</a:t>
            </a:r>
            <a:endParaRPr b="0" i="0" sz="1200" u="none" cap="none" strike="noStrike">
              <a:solidFill>
                <a:schemeClr val="dk1"/>
              </a:solidFill>
              <a:latin typeface="Calibri"/>
              <a:ea typeface="Calibri"/>
              <a:cs typeface="Calibri"/>
              <a:sym typeface="Calibri"/>
            </a:endParaRPr>
          </a:p>
        </p:txBody>
      </p:sp>
      <p:sp>
        <p:nvSpPr>
          <p:cNvPr id="339" name="Google Shape;339;p15"/>
          <p:cNvSpPr/>
          <p:nvPr/>
        </p:nvSpPr>
        <p:spPr>
          <a:xfrm>
            <a:off x="1117600" y="2428242"/>
            <a:ext cx="3057144" cy="4165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3EC"/>
              </a:buClr>
              <a:buSzPts val="2800"/>
              <a:buFont typeface="Fraunces"/>
              <a:buNone/>
            </a:pPr>
            <a:r>
              <a:rPr b="1" i="0" lang="en-US" sz="2800" u="none" cap="none" strike="noStrike">
                <a:solidFill>
                  <a:srgbClr val="F6F3EC"/>
                </a:solidFill>
                <a:latin typeface="Fraunces"/>
                <a:ea typeface="Fraunces"/>
                <a:cs typeface="Fraunces"/>
                <a:sym typeface="Fraunces"/>
              </a:rPr>
              <a:t>Source-to-EDC</a:t>
            </a:r>
            <a:endParaRPr b="0" i="0" sz="2800" u="none" cap="none" strike="noStrike">
              <a:solidFill>
                <a:schemeClr val="dk1"/>
              </a:solidFill>
              <a:latin typeface="Calibri"/>
              <a:ea typeface="Calibri"/>
              <a:cs typeface="Calibri"/>
              <a:sym typeface="Calibri"/>
            </a:endParaRPr>
          </a:p>
        </p:txBody>
      </p:sp>
      <p:pic>
        <p:nvPicPr>
          <p:cNvPr descr="CheckCircle" id="340" name="Google Shape;340;p15"/>
          <p:cNvPicPr preferRelativeResize="0"/>
          <p:nvPr/>
        </p:nvPicPr>
        <p:blipFill rotWithShape="1">
          <a:blip r:embed="rId3">
            <a:alphaModFix/>
          </a:blip>
          <a:srcRect b="0" l="0" r="0" t="0"/>
          <a:stretch/>
        </p:blipFill>
        <p:spPr>
          <a:xfrm>
            <a:off x="5570577" y="2396492"/>
            <a:ext cx="215900" cy="215900"/>
          </a:xfrm>
          <a:prstGeom prst="rect">
            <a:avLst/>
          </a:prstGeom>
          <a:noFill/>
          <a:ln>
            <a:noFill/>
          </a:ln>
        </p:spPr>
      </p:pic>
      <p:sp>
        <p:nvSpPr>
          <p:cNvPr id="341" name="Google Shape;341;p15"/>
          <p:cNvSpPr/>
          <p:nvPr/>
        </p:nvSpPr>
        <p:spPr>
          <a:xfrm>
            <a:off x="5862677" y="2379979"/>
            <a:ext cx="1602105"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6F3EC"/>
              </a:buClr>
              <a:buSzPts val="1400"/>
              <a:buFont typeface="IBM Plex Sans"/>
              <a:buNone/>
            </a:pPr>
            <a:r>
              <a:rPr b="0" i="0" lang="en-US" sz="1400" u="none" cap="none" strike="noStrike">
                <a:solidFill>
                  <a:srgbClr val="F6F3EC"/>
                </a:solidFill>
                <a:latin typeface="IBM Plex Sans"/>
                <a:ea typeface="IBM Plex Sans"/>
                <a:cs typeface="IBM Plex Sans"/>
                <a:sym typeface="IBM Plex Sans"/>
              </a:rPr>
              <a:t>Source traceable</a:t>
            </a:r>
            <a:endParaRPr b="0" i="0" sz="1400" u="none" cap="none" strike="noStrike">
              <a:solidFill>
                <a:schemeClr val="dk1"/>
              </a:solidFill>
              <a:latin typeface="Calibri"/>
              <a:ea typeface="Calibri"/>
              <a:cs typeface="Calibri"/>
              <a:sym typeface="Calibri"/>
            </a:endParaRPr>
          </a:p>
        </p:txBody>
      </p:sp>
      <p:pic>
        <p:nvPicPr>
          <p:cNvPr descr="CheckCircle" id="342" name="Google Shape;342;p15"/>
          <p:cNvPicPr preferRelativeResize="0"/>
          <p:nvPr/>
        </p:nvPicPr>
        <p:blipFill rotWithShape="1">
          <a:blip r:embed="rId3">
            <a:alphaModFix/>
          </a:blip>
          <a:srcRect b="0" l="0" r="0" t="0"/>
          <a:stretch/>
        </p:blipFill>
        <p:spPr>
          <a:xfrm>
            <a:off x="7464782" y="2396492"/>
            <a:ext cx="215900" cy="215900"/>
          </a:xfrm>
          <a:prstGeom prst="rect">
            <a:avLst/>
          </a:prstGeom>
          <a:noFill/>
          <a:ln>
            <a:noFill/>
          </a:ln>
        </p:spPr>
      </p:pic>
      <p:sp>
        <p:nvSpPr>
          <p:cNvPr id="343" name="Google Shape;343;p15"/>
          <p:cNvSpPr/>
          <p:nvPr/>
        </p:nvSpPr>
        <p:spPr>
          <a:xfrm>
            <a:off x="7756882" y="2379979"/>
            <a:ext cx="1627188"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6F3EC"/>
              </a:buClr>
              <a:buSzPts val="1400"/>
              <a:buFont typeface="IBM Plex Sans"/>
              <a:buNone/>
            </a:pPr>
            <a:r>
              <a:rPr b="0" i="0" lang="en-US" sz="1400" u="none" cap="none" strike="noStrike">
                <a:solidFill>
                  <a:srgbClr val="F6F3EC"/>
                </a:solidFill>
                <a:latin typeface="IBM Plex Sans"/>
                <a:ea typeface="IBM Plex Sans"/>
                <a:cs typeface="IBM Plex Sans"/>
                <a:sym typeface="IBM Plex Sans"/>
              </a:rPr>
              <a:t>Acts once proven</a:t>
            </a:r>
            <a:endParaRPr b="0" i="0" sz="1400" u="none" cap="none" strike="noStrike">
              <a:solidFill>
                <a:schemeClr val="dk1"/>
              </a:solidFill>
              <a:latin typeface="Calibri"/>
              <a:ea typeface="Calibri"/>
              <a:cs typeface="Calibri"/>
              <a:sym typeface="Calibri"/>
            </a:endParaRPr>
          </a:p>
        </p:txBody>
      </p:sp>
      <p:pic>
        <p:nvPicPr>
          <p:cNvPr descr="CheckCircle" id="344" name="Google Shape;344;p15"/>
          <p:cNvPicPr preferRelativeResize="0"/>
          <p:nvPr/>
        </p:nvPicPr>
        <p:blipFill rotWithShape="1">
          <a:blip r:embed="rId3">
            <a:alphaModFix/>
          </a:blip>
          <a:srcRect b="0" l="0" r="0" t="0"/>
          <a:stretch/>
        </p:blipFill>
        <p:spPr>
          <a:xfrm>
            <a:off x="9384070" y="2396492"/>
            <a:ext cx="215900" cy="215900"/>
          </a:xfrm>
          <a:prstGeom prst="rect">
            <a:avLst/>
          </a:prstGeom>
          <a:noFill/>
          <a:ln>
            <a:noFill/>
          </a:ln>
        </p:spPr>
      </p:pic>
      <p:sp>
        <p:nvSpPr>
          <p:cNvPr id="345" name="Google Shape;345;p15"/>
          <p:cNvSpPr/>
          <p:nvPr/>
        </p:nvSpPr>
        <p:spPr>
          <a:xfrm>
            <a:off x="9676170" y="2379979"/>
            <a:ext cx="1677876"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6F3EC"/>
              </a:buClr>
              <a:buSzPts val="1400"/>
              <a:buFont typeface="IBM Plex Sans"/>
              <a:buNone/>
            </a:pPr>
            <a:r>
              <a:rPr b="0" i="0" lang="en-US" sz="1400" u="none" cap="none" strike="noStrike">
                <a:solidFill>
                  <a:srgbClr val="F6F3EC"/>
                </a:solidFill>
                <a:latin typeface="IBM Plex Sans"/>
                <a:ea typeface="IBM Plex Sans"/>
                <a:cs typeface="IBM Plex Sans"/>
                <a:sym typeface="IBM Plex Sans"/>
              </a:rPr>
              <a:t>Coordinator signs</a:t>
            </a:r>
            <a:endParaRPr b="0" i="0" sz="1400" u="none" cap="none" strike="noStrike">
              <a:solidFill>
                <a:schemeClr val="dk1"/>
              </a:solidFill>
              <a:latin typeface="Calibri"/>
              <a:ea typeface="Calibri"/>
              <a:cs typeface="Calibri"/>
              <a:sym typeface="Calibri"/>
            </a:endParaRPr>
          </a:p>
        </p:txBody>
      </p:sp>
      <p:sp>
        <p:nvSpPr>
          <p:cNvPr id="346" name="Google Shape;346;p15"/>
          <p:cNvSpPr/>
          <p:nvPr/>
        </p:nvSpPr>
        <p:spPr>
          <a:xfrm>
            <a:off x="819150" y="3257550"/>
            <a:ext cx="3407807" cy="2578100"/>
          </a:xfrm>
          <a:prstGeom prst="roundRect">
            <a:avLst>
              <a:gd fmla="val 3695" name="adj"/>
            </a:avLst>
          </a:prstGeom>
          <a:solidFill>
            <a:srgbClr val="FFFDF8"/>
          </a:solidFill>
          <a:ln cap="flat" cmpd="sng" w="12700">
            <a:solidFill>
              <a:srgbClr val="E2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d="347" name="Google Shape;347;p15"/>
          <p:cNvPicPr preferRelativeResize="0"/>
          <p:nvPr/>
        </p:nvPicPr>
        <p:blipFill rotWithShape="1">
          <a:blip r:embed="rId4">
            <a:alphaModFix/>
          </a:blip>
          <a:srcRect b="0" l="0" r="0" t="0"/>
          <a:stretch/>
        </p:blipFill>
        <p:spPr>
          <a:xfrm>
            <a:off x="1054100" y="3520442"/>
            <a:ext cx="279400" cy="279400"/>
          </a:xfrm>
          <a:prstGeom prst="rect">
            <a:avLst/>
          </a:prstGeom>
          <a:noFill/>
          <a:ln>
            <a:noFill/>
          </a:ln>
        </p:spPr>
      </p:pic>
      <p:sp>
        <p:nvSpPr>
          <p:cNvPr id="348" name="Google Shape;348;p15"/>
          <p:cNvSpPr/>
          <p:nvPr/>
        </p:nvSpPr>
        <p:spPr>
          <a:xfrm>
            <a:off x="1435100" y="3492500"/>
            <a:ext cx="2014157"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2A3B"/>
              </a:buClr>
              <a:buSzPts val="2200"/>
              <a:buFont typeface="Fraunces"/>
              <a:buNone/>
            </a:pPr>
            <a:r>
              <a:rPr b="1" i="0" lang="en-US" sz="2200" u="none" cap="none" strike="noStrike">
                <a:solidFill>
                  <a:srgbClr val="0B2A3B"/>
                </a:solidFill>
                <a:latin typeface="Fraunces"/>
                <a:ea typeface="Fraunces"/>
                <a:cs typeface="Fraunces"/>
                <a:sym typeface="Fraunces"/>
              </a:rPr>
              <a:t>Coordinator</a:t>
            </a:r>
            <a:endParaRPr b="0" i="0" sz="2200" u="none" cap="none" strike="noStrike">
              <a:solidFill>
                <a:schemeClr val="dk1"/>
              </a:solidFill>
              <a:latin typeface="Calibri"/>
              <a:ea typeface="Calibri"/>
              <a:cs typeface="Calibri"/>
              <a:sym typeface="Calibri"/>
            </a:endParaRPr>
          </a:p>
        </p:txBody>
      </p:sp>
      <p:pic>
        <p:nvPicPr>
          <p:cNvPr descr="line" id="349" name="Google Shape;349;p15"/>
          <p:cNvPicPr preferRelativeResize="0"/>
          <p:nvPr/>
        </p:nvPicPr>
        <p:blipFill rotWithShape="1">
          <a:blip r:embed="rId5">
            <a:alphaModFix/>
          </a:blip>
          <a:srcRect b="-37" l="0" r="0" t="-37"/>
          <a:stretch/>
        </p:blipFill>
        <p:spPr>
          <a:xfrm>
            <a:off x="1054100" y="3929379"/>
            <a:ext cx="2937907" cy="25400"/>
          </a:xfrm>
          <a:prstGeom prst="rect">
            <a:avLst/>
          </a:prstGeom>
          <a:noFill/>
          <a:ln>
            <a:noFill/>
          </a:ln>
        </p:spPr>
      </p:pic>
      <p:sp>
        <p:nvSpPr>
          <p:cNvPr id="350" name="Google Shape;350;p15"/>
          <p:cNvSpPr/>
          <p:nvPr/>
        </p:nvSpPr>
        <p:spPr>
          <a:xfrm>
            <a:off x="1054100" y="4056379"/>
            <a:ext cx="3026044"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AA5AA"/>
              </a:buClr>
              <a:buSzPts val="1200"/>
              <a:buFont typeface="IBM Plex Mono"/>
              <a:buNone/>
            </a:pPr>
            <a:r>
              <a:rPr b="0" i="0" lang="en-US" sz="1200" u="none" cap="none" strike="noStrike">
                <a:solidFill>
                  <a:srgbClr val="9AA5AA"/>
                </a:solidFill>
                <a:latin typeface="IBM Plex Mono"/>
                <a:ea typeface="IBM Plex Mono"/>
                <a:cs typeface="IBM Plex Mono"/>
                <a:sym typeface="IBM Plex Mono"/>
              </a:rPr>
              <a:t>TODAY</a:t>
            </a:r>
            <a:endParaRPr b="0" i="0" sz="1200" u="none" cap="none" strike="noStrike">
              <a:solidFill>
                <a:schemeClr val="dk1"/>
              </a:solidFill>
              <a:latin typeface="Calibri"/>
              <a:ea typeface="Calibri"/>
              <a:cs typeface="Calibri"/>
              <a:sym typeface="Calibri"/>
            </a:endParaRPr>
          </a:p>
        </p:txBody>
      </p:sp>
      <p:sp>
        <p:nvSpPr>
          <p:cNvPr id="351" name="Google Shape;351;p15"/>
          <p:cNvSpPr/>
          <p:nvPr/>
        </p:nvSpPr>
        <p:spPr>
          <a:xfrm>
            <a:off x="1054100" y="4371342"/>
            <a:ext cx="3026044" cy="2654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6B7B83"/>
              </a:buClr>
              <a:buSzPts val="1400"/>
              <a:buFont typeface="IBM Plex Sans"/>
              <a:buNone/>
            </a:pPr>
            <a:r>
              <a:rPr b="0" i="0" lang="en-US" sz="1400" u="none" cap="none" strike="noStrike">
                <a:solidFill>
                  <a:srgbClr val="6B7B83"/>
                </a:solidFill>
                <a:latin typeface="IBM Plex Sans"/>
                <a:ea typeface="IBM Plex Sans"/>
                <a:cs typeface="IBM Plex Sans"/>
                <a:sym typeface="IBM Plex Sans"/>
              </a:rPr>
              <a:t>Retypes every visit, days later</a:t>
            </a:r>
            <a:endParaRPr b="0" i="0" sz="1400" u="none" cap="none" strike="noStrike">
              <a:solidFill>
                <a:schemeClr val="dk1"/>
              </a:solidFill>
              <a:latin typeface="Calibri"/>
              <a:ea typeface="Calibri"/>
              <a:cs typeface="Calibri"/>
              <a:sym typeface="Calibri"/>
            </a:endParaRPr>
          </a:p>
        </p:txBody>
      </p:sp>
      <p:sp>
        <p:nvSpPr>
          <p:cNvPr id="352" name="Google Shape;352;p15"/>
          <p:cNvSpPr/>
          <p:nvPr/>
        </p:nvSpPr>
        <p:spPr>
          <a:xfrm>
            <a:off x="1054100" y="5015867"/>
            <a:ext cx="3026044"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Mono"/>
              <a:buNone/>
            </a:pPr>
            <a:r>
              <a:rPr b="0" i="0" lang="en-US" sz="1200" u="none" cap="none" strike="noStrike">
                <a:solidFill>
                  <a:srgbClr val="0F766E"/>
                </a:solidFill>
                <a:latin typeface="IBM Plex Mono"/>
                <a:ea typeface="IBM Plex Mono"/>
                <a:cs typeface="IBM Plex Mono"/>
                <a:sym typeface="IBM Plex Mono"/>
              </a:rPr>
              <a:t>WITH SOURCED</a:t>
            </a:r>
            <a:endParaRPr b="0" i="0" sz="1200" u="none" cap="none" strike="noStrike">
              <a:solidFill>
                <a:schemeClr val="dk1"/>
              </a:solidFill>
              <a:latin typeface="Calibri"/>
              <a:ea typeface="Calibri"/>
              <a:cs typeface="Calibri"/>
              <a:sym typeface="Calibri"/>
            </a:endParaRPr>
          </a:p>
        </p:txBody>
      </p:sp>
      <p:sp>
        <p:nvSpPr>
          <p:cNvPr id="353" name="Google Shape;353;p15"/>
          <p:cNvSpPr/>
          <p:nvPr/>
        </p:nvSpPr>
        <p:spPr>
          <a:xfrm>
            <a:off x="1054100" y="5330825"/>
            <a:ext cx="3026044" cy="2952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B2A3B"/>
              </a:buClr>
              <a:buSzPts val="1700"/>
              <a:buFont typeface="IBM Plex Sans"/>
              <a:buNone/>
            </a:pPr>
            <a:r>
              <a:rPr b="1" i="0" lang="en-US" sz="1700" u="none" cap="none" strike="noStrike">
                <a:solidFill>
                  <a:srgbClr val="0B2A3B"/>
                </a:solidFill>
                <a:latin typeface="IBM Plex Sans"/>
                <a:ea typeface="IBM Plex Sans"/>
                <a:cs typeface="IBM Plex Sans"/>
                <a:sym typeface="IBM Plex Sans"/>
              </a:rPr>
              <a:t>Reviews only the flags</a:t>
            </a:r>
            <a:endParaRPr b="0" i="0" sz="1700" u="none" cap="none" strike="noStrike">
              <a:solidFill>
                <a:schemeClr val="dk1"/>
              </a:solidFill>
              <a:latin typeface="Calibri"/>
              <a:ea typeface="Calibri"/>
              <a:cs typeface="Calibri"/>
              <a:sym typeface="Calibri"/>
            </a:endParaRPr>
          </a:p>
        </p:txBody>
      </p:sp>
      <p:sp>
        <p:nvSpPr>
          <p:cNvPr id="354" name="Google Shape;354;p15"/>
          <p:cNvSpPr/>
          <p:nvPr/>
        </p:nvSpPr>
        <p:spPr>
          <a:xfrm>
            <a:off x="4392057" y="3257550"/>
            <a:ext cx="3407847" cy="2578100"/>
          </a:xfrm>
          <a:prstGeom prst="roundRect">
            <a:avLst>
              <a:gd fmla="val 3695" name="adj"/>
            </a:avLst>
          </a:prstGeom>
          <a:solidFill>
            <a:srgbClr val="FFFDF8"/>
          </a:solidFill>
          <a:ln cap="flat" cmpd="sng" w="12700">
            <a:solidFill>
              <a:srgbClr val="E2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355" name="Google Shape;355;p15"/>
          <p:cNvPicPr preferRelativeResize="0"/>
          <p:nvPr/>
        </p:nvPicPr>
        <p:blipFill rotWithShape="1">
          <a:blip r:embed="rId6">
            <a:alphaModFix/>
          </a:blip>
          <a:srcRect b="0" l="0" r="0" t="0"/>
          <a:stretch/>
        </p:blipFill>
        <p:spPr>
          <a:xfrm>
            <a:off x="4627007" y="3516157"/>
            <a:ext cx="279400" cy="279400"/>
          </a:xfrm>
          <a:prstGeom prst="rect">
            <a:avLst/>
          </a:prstGeom>
          <a:noFill/>
          <a:ln>
            <a:noFill/>
          </a:ln>
        </p:spPr>
      </p:pic>
      <p:sp>
        <p:nvSpPr>
          <p:cNvPr id="356" name="Google Shape;356;p15"/>
          <p:cNvSpPr/>
          <p:nvPr/>
        </p:nvSpPr>
        <p:spPr>
          <a:xfrm>
            <a:off x="5008007" y="3488215"/>
            <a:ext cx="1331786"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2A3B"/>
              </a:buClr>
              <a:buSzPts val="2200"/>
              <a:buFont typeface="Fraunces"/>
              <a:buNone/>
            </a:pPr>
            <a:r>
              <a:rPr b="1" i="0" lang="en-US" sz="2200" u="none" cap="none" strike="noStrike">
                <a:solidFill>
                  <a:srgbClr val="0B2A3B"/>
                </a:solidFill>
                <a:latin typeface="Fraunces"/>
                <a:ea typeface="Fraunces"/>
                <a:cs typeface="Fraunces"/>
                <a:sym typeface="Fraunces"/>
              </a:rPr>
              <a:t>Monitor</a:t>
            </a:r>
            <a:endParaRPr b="0" i="0" sz="2200" u="none" cap="none" strike="noStrike">
              <a:solidFill>
                <a:schemeClr val="dk1"/>
              </a:solidFill>
              <a:latin typeface="Calibri"/>
              <a:ea typeface="Calibri"/>
              <a:cs typeface="Calibri"/>
              <a:sym typeface="Calibri"/>
            </a:endParaRPr>
          </a:p>
        </p:txBody>
      </p:sp>
      <p:pic>
        <p:nvPicPr>
          <p:cNvPr descr="line" id="357" name="Google Shape;357;p15"/>
          <p:cNvPicPr preferRelativeResize="0"/>
          <p:nvPr/>
        </p:nvPicPr>
        <p:blipFill rotWithShape="1">
          <a:blip r:embed="rId5">
            <a:alphaModFix/>
          </a:blip>
          <a:srcRect b="-35" l="0" r="0" t="-35"/>
          <a:stretch/>
        </p:blipFill>
        <p:spPr>
          <a:xfrm>
            <a:off x="4627007" y="3920809"/>
            <a:ext cx="2937947" cy="25400"/>
          </a:xfrm>
          <a:prstGeom prst="rect">
            <a:avLst/>
          </a:prstGeom>
          <a:noFill/>
          <a:ln>
            <a:noFill/>
          </a:ln>
        </p:spPr>
      </p:pic>
      <p:sp>
        <p:nvSpPr>
          <p:cNvPr id="358" name="Google Shape;358;p15"/>
          <p:cNvSpPr/>
          <p:nvPr/>
        </p:nvSpPr>
        <p:spPr>
          <a:xfrm>
            <a:off x="4627007" y="4047809"/>
            <a:ext cx="3026085" cy="233283"/>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9AA5AA"/>
              </a:buClr>
              <a:buSzPts val="1196"/>
              <a:buFont typeface="IBM Plex Mono"/>
              <a:buNone/>
            </a:pPr>
            <a:r>
              <a:rPr b="0" i="0" lang="en-US" sz="1196" u="none" cap="none" strike="noStrike">
                <a:solidFill>
                  <a:srgbClr val="9AA5AA"/>
                </a:solidFill>
                <a:latin typeface="IBM Plex Mono"/>
                <a:ea typeface="IBM Plex Mono"/>
                <a:cs typeface="IBM Plex Mono"/>
                <a:sym typeface="IBM Plex Mono"/>
              </a:rPr>
              <a:t>TODAY</a:t>
            </a:r>
            <a:endParaRPr b="0" i="0" sz="1196" u="none" cap="none" strike="noStrike">
              <a:solidFill>
                <a:schemeClr val="dk1"/>
              </a:solidFill>
              <a:latin typeface="Calibri"/>
              <a:ea typeface="Calibri"/>
              <a:cs typeface="Calibri"/>
              <a:sym typeface="Calibri"/>
            </a:endParaRPr>
          </a:p>
        </p:txBody>
      </p:sp>
      <p:sp>
        <p:nvSpPr>
          <p:cNvPr id="359" name="Google Shape;359;p15"/>
          <p:cNvSpPr/>
          <p:nvPr/>
        </p:nvSpPr>
        <p:spPr>
          <a:xfrm>
            <a:off x="4627007" y="4357291"/>
            <a:ext cx="3026085" cy="493157"/>
          </a:xfrm>
          <a:prstGeom prst="rect">
            <a:avLst/>
          </a:prstGeom>
          <a:noFill/>
          <a:ln>
            <a:noFill/>
          </a:ln>
        </p:spPr>
        <p:txBody>
          <a:bodyPr anchorCtr="0" anchor="t" bIns="0" lIns="0" spcFirstLastPara="1" rIns="0" wrap="square" tIns="0">
            <a:noAutofit/>
          </a:bodyPr>
          <a:lstStyle/>
          <a:p>
            <a:pPr indent="0" lvl="0" marL="0" marR="0" rtl="0" algn="l">
              <a:lnSpc>
                <a:spcPct val="134978"/>
              </a:lnSpc>
              <a:spcBef>
                <a:spcPts val="0"/>
              </a:spcBef>
              <a:spcAft>
                <a:spcPts val="0"/>
              </a:spcAft>
              <a:buClr>
                <a:srgbClr val="6B7B83"/>
              </a:buClr>
              <a:buSzPts val="1378"/>
              <a:buFont typeface="IBM Plex Sans"/>
              <a:buNone/>
            </a:pPr>
            <a:r>
              <a:rPr b="0" i="0" lang="en-US" sz="1378" u="none" cap="none" strike="noStrike">
                <a:solidFill>
                  <a:srgbClr val="6B7B83"/>
                </a:solidFill>
                <a:latin typeface="IBM Plex Sans"/>
                <a:ea typeface="IBM Plex Sans"/>
                <a:cs typeface="IBM Plex Sans"/>
                <a:sym typeface="IBM Plex Sans"/>
              </a:rPr>
              <a:t>Travels on site to compare field by field</a:t>
            </a:r>
            <a:endParaRPr b="0" i="0" sz="1378" u="none" cap="none" strike="noStrike">
              <a:solidFill>
                <a:schemeClr val="dk1"/>
              </a:solidFill>
              <a:latin typeface="Calibri"/>
              <a:ea typeface="Calibri"/>
              <a:cs typeface="Calibri"/>
              <a:sym typeface="Calibri"/>
            </a:endParaRPr>
          </a:p>
        </p:txBody>
      </p:sp>
      <p:sp>
        <p:nvSpPr>
          <p:cNvPr id="360" name="Google Shape;360;p15"/>
          <p:cNvSpPr/>
          <p:nvPr/>
        </p:nvSpPr>
        <p:spPr>
          <a:xfrm>
            <a:off x="4627007" y="5028251"/>
            <a:ext cx="3026085" cy="233283"/>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0F766E"/>
              </a:buClr>
              <a:buSzPts val="1196"/>
              <a:buFont typeface="IBM Plex Mono"/>
              <a:buNone/>
            </a:pPr>
            <a:r>
              <a:rPr b="0" i="0" lang="en-US" sz="1196" u="none" cap="none" strike="noStrike">
                <a:solidFill>
                  <a:srgbClr val="0F766E"/>
                </a:solidFill>
                <a:latin typeface="IBM Plex Mono"/>
                <a:ea typeface="IBM Plex Mono"/>
                <a:cs typeface="IBM Plex Mono"/>
                <a:sym typeface="IBM Plex Mono"/>
              </a:rPr>
              <a:t>WITH SOURCED</a:t>
            </a:r>
            <a:endParaRPr b="0" i="0" sz="1196" u="none" cap="none" strike="noStrike">
              <a:solidFill>
                <a:schemeClr val="dk1"/>
              </a:solidFill>
              <a:latin typeface="Calibri"/>
              <a:ea typeface="Calibri"/>
              <a:cs typeface="Calibri"/>
              <a:sym typeface="Calibri"/>
            </a:endParaRPr>
          </a:p>
        </p:txBody>
      </p:sp>
      <p:sp>
        <p:nvSpPr>
          <p:cNvPr id="361" name="Google Shape;361;p15"/>
          <p:cNvSpPr/>
          <p:nvPr/>
        </p:nvSpPr>
        <p:spPr>
          <a:xfrm>
            <a:off x="4627007" y="5337733"/>
            <a:ext cx="3026085" cy="288369"/>
          </a:xfrm>
          <a:prstGeom prst="rect">
            <a:avLst/>
          </a:prstGeom>
          <a:noFill/>
          <a:ln>
            <a:noFill/>
          </a:ln>
        </p:spPr>
        <p:txBody>
          <a:bodyPr anchorCtr="0" anchor="t" bIns="0" lIns="0" spcFirstLastPara="1" rIns="0" wrap="square" tIns="0">
            <a:noAutofit/>
          </a:bodyPr>
          <a:lstStyle/>
          <a:p>
            <a:pPr indent="0" lvl="0" marL="0" marR="0" rtl="0" algn="l">
              <a:lnSpc>
                <a:spcPct val="124969"/>
              </a:lnSpc>
              <a:spcBef>
                <a:spcPts val="0"/>
              </a:spcBef>
              <a:spcAft>
                <a:spcPts val="0"/>
              </a:spcAft>
              <a:buClr>
                <a:srgbClr val="0B2A3B"/>
              </a:buClr>
              <a:buSzPts val="1658"/>
              <a:buFont typeface="IBM Plex Sans"/>
              <a:buNone/>
            </a:pPr>
            <a:r>
              <a:rPr b="1" i="0" lang="en-US" sz="1658" u="none" cap="none" strike="noStrike">
                <a:solidFill>
                  <a:srgbClr val="0B2A3B"/>
                </a:solidFill>
                <a:latin typeface="IBM Plex Sans"/>
                <a:ea typeface="IBM Plex Sans"/>
                <a:cs typeface="IBM Plex Sans"/>
                <a:sym typeface="IBM Plex Sans"/>
              </a:rPr>
              <a:t>Verifies with one click</a:t>
            </a:r>
            <a:endParaRPr b="0" i="0" sz="1658" u="none" cap="none" strike="noStrike">
              <a:solidFill>
                <a:schemeClr val="dk1"/>
              </a:solidFill>
              <a:latin typeface="Calibri"/>
              <a:ea typeface="Calibri"/>
              <a:cs typeface="Calibri"/>
              <a:sym typeface="Calibri"/>
            </a:endParaRPr>
          </a:p>
        </p:txBody>
      </p:sp>
      <p:sp>
        <p:nvSpPr>
          <p:cNvPr id="362" name="Google Shape;362;p15"/>
          <p:cNvSpPr/>
          <p:nvPr/>
        </p:nvSpPr>
        <p:spPr>
          <a:xfrm>
            <a:off x="7965004" y="3257550"/>
            <a:ext cx="3407847" cy="2578100"/>
          </a:xfrm>
          <a:prstGeom prst="roundRect">
            <a:avLst>
              <a:gd fmla="val 3695" name="adj"/>
            </a:avLst>
          </a:prstGeom>
          <a:solidFill>
            <a:srgbClr val="FFFDF8"/>
          </a:solidFill>
          <a:ln cap="flat" cmpd="sng" w="12700">
            <a:solidFill>
              <a:srgbClr val="E2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tabase" id="363" name="Google Shape;363;p15"/>
          <p:cNvPicPr preferRelativeResize="0"/>
          <p:nvPr/>
        </p:nvPicPr>
        <p:blipFill rotWithShape="1">
          <a:blip r:embed="rId7">
            <a:alphaModFix/>
          </a:blip>
          <a:srcRect b="0" l="0" r="0" t="0"/>
          <a:stretch/>
        </p:blipFill>
        <p:spPr>
          <a:xfrm>
            <a:off x="8199954" y="3520442"/>
            <a:ext cx="279400" cy="279400"/>
          </a:xfrm>
          <a:prstGeom prst="rect">
            <a:avLst/>
          </a:prstGeom>
          <a:noFill/>
          <a:ln>
            <a:noFill/>
          </a:ln>
        </p:spPr>
      </p:pic>
      <p:sp>
        <p:nvSpPr>
          <p:cNvPr id="364" name="Google Shape;364;p15"/>
          <p:cNvSpPr/>
          <p:nvPr/>
        </p:nvSpPr>
        <p:spPr>
          <a:xfrm>
            <a:off x="8580954" y="3492500"/>
            <a:ext cx="2299383"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2A3B"/>
              </a:buClr>
              <a:buSzPts val="2200"/>
              <a:buFont typeface="Fraunces"/>
              <a:buNone/>
            </a:pPr>
            <a:r>
              <a:rPr b="1" i="0" lang="en-US" sz="2200" u="none" cap="none" strike="noStrike">
                <a:solidFill>
                  <a:srgbClr val="0B2A3B"/>
                </a:solidFill>
                <a:latin typeface="Fraunces"/>
                <a:ea typeface="Fraunces"/>
                <a:cs typeface="Fraunces"/>
                <a:sym typeface="Fraunces"/>
              </a:rPr>
              <a:t>Data manager</a:t>
            </a:r>
            <a:endParaRPr b="0" i="0" sz="2200" u="none" cap="none" strike="noStrike">
              <a:solidFill>
                <a:schemeClr val="dk1"/>
              </a:solidFill>
              <a:latin typeface="Calibri"/>
              <a:ea typeface="Calibri"/>
              <a:cs typeface="Calibri"/>
              <a:sym typeface="Calibri"/>
            </a:endParaRPr>
          </a:p>
        </p:txBody>
      </p:sp>
      <p:pic>
        <p:nvPicPr>
          <p:cNvPr descr="line" id="365" name="Google Shape;365;p15"/>
          <p:cNvPicPr preferRelativeResize="0"/>
          <p:nvPr/>
        </p:nvPicPr>
        <p:blipFill rotWithShape="1">
          <a:blip r:embed="rId5">
            <a:alphaModFix/>
          </a:blip>
          <a:srcRect b="-35" l="0" r="0" t="-35"/>
          <a:stretch/>
        </p:blipFill>
        <p:spPr>
          <a:xfrm>
            <a:off x="8199954" y="3929379"/>
            <a:ext cx="2937947" cy="25400"/>
          </a:xfrm>
          <a:prstGeom prst="rect">
            <a:avLst/>
          </a:prstGeom>
          <a:noFill/>
          <a:ln>
            <a:noFill/>
          </a:ln>
        </p:spPr>
      </p:pic>
      <p:sp>
        <p:nvSpPr>
          <p:cNvPr id="366" name="Google Shape;366;p15"/>
          <p:cNvSpPr/>
          <p:nvPr/>
        </p:nvSpPr>
        <p:spPr>
          <a:xfrm>
            <a:off x="8199954" y="4056379"/>
            <a:ext cx="3026085"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AA5AA"/>
              </a:buClr>
              <a:buSzPts val="1200"/>
              <a:buFont typeface="IBM Plex Mono"/>
              <a:buNone/>
            </a:pPr>
            <a:r>
              <a:rPr b="0" i="0" lang="en-US" sz="1200" u="none" cap="none" strike="noStrike">
                <a:solidFill>
                  <a:srgbClr val="9AA5AA"/>
                </a:solidFill>
                <a:latin typeface="IBM Plex Mono"/>
                <a:ea typeface="IBM Plex Mono"/>
                <a:cs typeface="IBM Plex Mono"/>
                <a:sym typeface="IBM Plex Mono"/>
              </a:rPr>
              <a:t>TODAY</a:t>
            </a:r>
            <a:endParaRPr b="0" i="0" sz="1200" u="none" cap="none" strike="noStrike">
              <a:solidFill>
                <a:schemeClr val="dk1"/>
              </a:solidFill>
              <a:latin typeface="Calibri"/>
              <a:ea typeface="Calibri"/>
              <a:cs typeface="Calibri"/>
              <a:sym typeface="Calibri"/>
            </a:endParaRPr>
          </a:p>
        </p:txBody>
      </p:sp>
      <p:sp>
        <p:nvSpPr>
          <p:cNvPr id="367" name="Google Shape;367;p15"/>
          <p:cNvSpPr/>
          <p:nvPr/>
        </p:nvSpPr>
        <p:spPr>
          <a:xfrm>
            <a:off x="8199954" y="4371342"/>
            <a:ext cx="3026085" cy="2654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6B7B83"/>
              </a:buClr>
              <a:buSzPts val="1400"/>
              <a:buFont typeface="IBM Plex Sans"/>
              <a:buNone/>
            </a:pPr>
            <a:r>
              <a:rPr b="0" i="0" lang="en-US" sz="1400" u="none" cap="none" strike="noStrike">
                <a:solidFill>
                  <a:srgbClr val="6B7B83"/>
                </a:solidFill>
                <a:latin typeface="IBM Plex Sans"/>
                <a:ea typeface="IBM Plex Sans"/>
                <a:cs typeface="IBM Plex Sans"/>
                <a:sym typeface="IBM Plex Sans"/>
              </a:rPr>
              <a:t>Raises queries months later</a:t>
            </a:r>
            <a:endParaRPr b="0" i="0" sz="1400" u="none" cap="none" strike="noStrike">
              <a:solidFill>
                <a:schemeClr val="dk1"/>
              </a:solidFill>
              <a:latin typeface="Calibri"/>
              <a:ea typeface="Calibri"/>
              <a:cs typeface="Calibri"/>
              <a:sym typeface="Calibri"/>
            </a:endParaRPr>
          </a:p>
        </p:txBody>
      </p:sp>
      <p:sp>
        <p:nvSpPr>
          <p:cNvPr id="368" name="Google Shape;368;p15"/>
          <p:cNvSpPr/>
          <p:nvPr/>
        </p:nvSpPr>
        <p:spPr>
          <a:xfrm>
            <a:off x="8199954" y="5015867"/>
            <a:ext cx="3026085"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Mono"/>
              <a:buNone/>
            </a:pPr>
            <a:r>
              <a:rPr b="0" i="0" lang="en-US" sz="1200" u="none" cap="none" strike="noStrike">
                <a:solidFill>
                  <a:srgbClr val="0F766E"/>
                </a:solidFill>
                <a:latin typeface="IBM Plex Mono"/>
                <a:ea typeface="IBM Plex Mono"/>
                <a:cs typeface="IBM Plex Mono"/>
                <a:sym typeface="IBM Plex Mono"/>
              </a:rPr>
              <a:t>WITH SOURCED</a:t>
            </a:r>
            <a:endParaRPr b="0" i="0" sz="1200" u="none" cap="none" strike="noStrike">
              <a:solidFill>
                <a:schemeClr val="dk1"/>
              </a:solidFill>
              <a:latin typeface="Calibri"/>
              <a:ea typeface="Calibri"/>
              <a:cs typeface="Calibri"/>
              <a:sym typeface="Calibri"/>
            </a:endParaRPr>
          </a:p>
        </p:txBody>
      </p:sp>
      <p:sp>
        <p:nvSpPr>
          <p:cNvPr id="369" name="Google Shape;369;p15"/>
          <p:cNvSpPr/>
          <p:nvPr/>
        </p:nvSpPr>
        <p:spPr>
          <a:xfrm>
            <a:off x="8199954" y="5330825"/>
            <a:ext cx="3026085" cy="2952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B2A3B"/>
              </a:buClr>
              <a:buSzPts val="1700"/>
              <a:buFont typeface="IBM Plex Sans"/>
              <a:buNone/>
            </a:pPr>
            <a:r>
              <a:rPr b="1" i="0" lang="en-US" sz="1700" u="none" cap="none" strike="noStrike">
                <a:solidFill>
                  <a:srgbClr val="0B2A3B"/>
                </a:solidFill>
                <a:latin typeface="IBM Plex Sans"/>
                <a:ea typeface="IBM Plex Sans"/>
                <a:cs typeface="IBM Plex Sans"/>
                <a:sym typeface="IBM Plex Sans"/>
              </a:rPr>
              <a:t>Conflicts caught at fill time</a:t>
            </a:r>
            <a:endParaRPr b="0" i="0" sz="1700" u="none" cap="none" strike="noStrike">
              <a:solidFill>
                <a:schemeClr val="dk1"/>
              </a:solidFill>
              <a:latin typeface="Calibri"/>
              <a:ea typeface="Calibri"/>
              <a:cs typeface="Calibri"/>
              <a:sym typeface="Calibri"/>
            </a:endParaRPr>
          </a:p>
        </p:txBody>
      </p:sp>
      <p:sp>
        <p:nvSpPr>
          <p:cNvPr id="370" name="Google Shape;370;p15"/>
          <p:cNvSpPr/>
          <p:nvPr/>
        </p:nvSpPr>
        <p:spPr>
          <a:xfrm>
            <a:off x="10312400" y="6238242"/>
            <a:ext cx="106680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9AA5AA"/>
              </a:buClr>
              <a:buSzPts val="1200"/>
              <a:buFont typeface="IBM Plex Mono"/>
              <a:buNone/>
            </a:pPr>
            <a:r>
              <a:rPr b="0" i="0" lang="en-US" sz="1200" u="none" cap="none" strike="noStrike">
                <a:solidFill>
                  <a:srgbClr val="9AA5AA"/>
                </a:solidFill>
                <a:latin typeface="IBM Plex Mono"/>
                <a:ea typeface="IBM Plex Mono"/>
                <a:cs typeface="IBM Plex Mono"/>
                <a:sym typeface="IBM Plex Mono"/>
              </a:rPr>
              <a:t>10</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3B"/>
        </a:solidFill>
      </p:bgPr>
    </p:bg>
    <p:spTree>
      <p:nvGrpSpPr>
        <p:cNvPr id="375" name="Shape 375"/>
        <p:cNvGrpSpPr/>
        <p:nvPr/>
      </p:nvGrpSpPr>
      <p:grpSpPr>
        <a:xfrm>
          <a:off x="0" y="0"/>
          <a:ext cx="0" cy="0"/>
          <a:chOff x="0" y="0"/>
          <a:chExt cx="0" cy="0"/>
        </a:xfrm>
      </p:grpSpPr>
      <p:sp>
        <p:nvSpPr>
          <p:cNvPr id="376" name="Google Shape;376;p16"/>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Mono"/>
              <a:buNone/>
            </a:pPr>
            <a:r>
              <a:rPr b="0" i="0" lang="en-US" sz="1200" u="none" cap="none" strike="noStrike">
                <a:solidFill>
                  <a:srgbClr val="2DD4BF"/>
                </a:solidFill>
                <a:latin typeface="IBM Plex Mono"/>
                <a:ea typeface="IBM Plex Mono"/>
                <a:cs typeface="IBM Plex Mono"/>
                <a:sym typeface="IBM Plex Mono"/>
              </a:rPr>
              <a:t>10 · ON TIGER DATA</a:t>
            </a:r>
            <a:endParaRPr b="0" i="0" sz="1200" u="none" cap="none" strike="noStrike">
              <a:solidFill>
                <a:schemeClr val="dk1"/>
              </a:solidFill>
              <a:latin typeface="Calibri"/>
              <a:ea typeface="Calibri"/>
              <a:cs typeface="Calibri"/>
              <a:sym typeface="Calibri"/>
            </a:endParaRPr>
          </a:p>
        </p:txBody>
      </p:sp>
      <p:sp>
        <p:nvSpPr>
          <p:cNvPr id="377" name="Google Shape;377;p16"/>
          <p:cNvSpPr/>
          <p:nvPr/>
        </p:nvSpPr>
        <p:spPr>
          <a:xfrm>
            <a:off x="812800" y="1254764"/>
            <a:ext cx="10883392"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3EC"/>
              </a:buClr>
              <a:buSzPts val="3600"/>
              <a:buFont typeface="Fraunces"/>
              <a:buNone/>
            </a:pPr>
            <a:r>
              <a:rPr b="0" i="0" lang="en-US" sz="3600" u="none" cap="none" strike="noStrike">
                <a:solidFill>
                  <a:srgbClr val="F6F3EC"/>
                </a:solidFill>
                <a:latin typeface="Fraunces"/>
                <a:ea typeface="Fraunces"/>
                <a:cs typeface="Fraunces"/>
                <a:sym typeface="Fraunces"/>
              </a:rPr>
              <a:t>One Postgres holds the whole ledger</a:t>
            </a:r>
            <a:endParaRPr b="0" i="0" sz="3600" u="none" cap="none" strike="noStrike">
              <a:solidFill>
                <a:schemeClr val="dk1"/>
              </a:solidFill>
              <a:latin typeface="Calibri"/>
              <a:ea typeface="Calibri"/>
              <a:cs typeface="Calibri"/>
              <a:sym typeface="Calibri"/>
            </a:endParaRPr>
          </a:p>
        </p:txBody>
      </p:sp>
      <p:sp>
        <p:nvSpPr>
          <p:cNvPr id="378" name="Google Shape;378;p16"/>
          <p:cNvSpPr/>
          <p:nvPr/>
        </p:nvSpPr>
        <p:spPr>
          <a:xfrm>
            <a:off x="812800" y="1986279"/>
            <a:ext cx="2527300" cy="3312160"/>
          </a:xfrm>
          <a:prstGeom prst="roundRect">
            <a:avLst>
              <a:gd fmla="val 4020" name="adj"/>
            </a:avLst>
          </a:prstGeom>
          <a:solidFill>
            <a:srgbClr val="1238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6"/>
          <p:cNvSpPr/>
          <p:nvPr/>
        </p:nvSpPr>
        <p:spPr>
          <a:xfrm>
            <a:off x="812800" y="1986279"/>
            <a:ext cx="2527300" cy="3312160"/>
          </a:xfrm>
          <a:custGeom>
            <a:rect b="b" l="l" r="r" t="t"/>
            <a:pathLst>
              <a:path extrusionOk="0" h="3312160" w="2527300">
                <a:moveTo>
                  <a:pt x="0" y="101600"/>
                </a:moveTo>
                <a:lnTo>
                  <a:pt x="0" y="101600"/>
                </a:lnTo>
                <a:cubicBezTo>
                  <a:pt x="0" y="45488"/>
                  <a:pt x="45488" y="0"/>
                  <a:pt x="101600" y="0"/>
                </a:cubicBezTo>
                <a:lnTo>
                  <a:pt x="2425700" y="0"/>
                </a:lnTo>
                <a:cubicBezTo>
                  <a:pt x="2452646" y="0"/>
                  <a:pt x="2478488" y="10704"/>
                  <a:pt x="2497542" y="29758"/>
                </a:cubicBezTo>
                <a:cubicBezTo>
                  <a:pt x="2516596" y="48812"/>
                  <a:pt x="2527300" y="74654"/>
                  <a:pt x="2527300" y="101600"/>
                </a:cubicBezTo>
                <a:lnTo>
                  <a:pt x="2527300" y="101600"/>
                </a:lnTo>
                <a:cubicBezTo>
                  <a:pt x="2527300" y="73544"/>
                  <a:pt x="2481812" y="50800"/>
                  <a:pt x="2425700" y="50800"/>
                </a:cubicBezTo>
                <a:lnTo>
                  <a:pt x="101600" y="50800"/>
                </a:lnTo>
                <a:cubicBezTo>
                  <a:pt x="45488" y="50800"/>
                  <a:pt x="0" y="73544"/>
                  <a:pt x="0" y="101600"/>
                </a:cubicBezTo>
                <a:close/>
              </a:path>
            </a:pathLst>
          </a:cu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lock" id="380" name="Google Shape;380;p16"/>
          <p:cNvPicPr preferRelativeResize="0"/>
          <p:nvPr/>
        </p:nvPicPr>
        <p:blipFill rotWithShape="1">
          <a:blip r:embed="rId3">
            <a:alphaModFix/>
          </a:blip>
          <a:srcRect b="0" l="0" r="0" t="0"/>
          <a:stretch/>
        </p:blipFill>
        <p:spPr>
          <a:xfrm>
            <a:off x="1016000" y="2265679"/>
            <a:ext cx="355600" cy="355600"/>
          </a:xfrm>
          <a:prstGeom prst="rect">
            <a:avLst/>
          </a:prstGeom>
          <a:noFill/>
          <a:ln>
            <a:noFill/>
          </a:ln>
        </p:spPr>
      </p:pic>
      <p:sp>
        <p:nvSpPr>
          <p:cNvPr id="381" name="Google Shape;381;p16"/>
          <p:cNvSpPr/>
          <p:nvPr/>
        </p:nvSpPr>
        <p:spPr>
          <a:xfrm>
            <a:off x="1016000" y="2722879"/>
            <a:ext cx="2184527" cy="391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3EC"/>
              </a:buClr>
              <a:buSzPts val="2400"/>
              <a:buFont typeface="Fraunces"/>
              <a:buNone/>
            </a:pPr>
            <a:r>
              <a:rPr b="1" i="0" lang="en-US" sz="2400" u="none" cap="none" strike="noStrike">
                <a:solidFill>
                  <a:srgbClr val="F6F3EC"/>
                </a:solidFill>
                <a:latin typeface="Fraunces"/>
                <a:ea typeface="Fraunces"/>
                <a:cs typeface="Fraunces"/>
                <a:sym typeface="Fraunces"/>
              </a:rPr>
              <a:t>Hypertable</a:t>
            </a:r>
            <a:endParaRPr b="0" i="0" sz="2400" u="none" cap="none" strike="noStrike">
              <a:solidFill>
                <a:schemeClr val="dk1"/>
              </a:solidFill>
              <a:latin typeface="Calibri"/>
              <a:ea typeface="Calibri"/>
              <a:cs typeface="Calibri"/>
              <a:sym typeface="Calibri"/>
            </a:endParaRPr>
          </a:p>
        </p:txBody>
      </p:sp>
      <p:sp>
        <p:nvSpPr>
          <p:cNvPr id="382" name="Google Shape;382;p16"/>
          <p:cNvSpPr/>
          <p:nvPr/>
        </p:nvSpPr>
        <p:spPr>
          <a:xfrm>
            <a:off x="1016000" y="3190242"/>
            <a:ext cx="2184527" cy="53975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9CDD3"/>
              </a:buClr>
              <a:buSzPts val="1500"/>
              <a:buFont typeface="IBM Plex Sans"/>
              <a:buNone/>
            </a:pPr>
            <a:r>
              <a:rPr b="0" i="0" lang="en-US" sz="1500" u="none" cap="none" strike="noStrike">
                <a:solidFill>
                  <a:srgbClr val="B9CDD3"/>
                </a:solidFill>
                <a:latin typeface="IBM Plex Sans"/>
                <a:ea typeface="IBM Plex Sans"/>
                <a:cs typeface="IBM Plex Sans"/>
                <a:sym typeface="IBM Plex Sans"/>
              </a:rPr>
              <a:t>Every fact over time, per patient</a:t>
            </a:r>
            <a:endParaRPr b="0" i="0" sz="1500" u="none" cap="none" strike="noStrike">
              <a:solidFill>
                <a:schemeClr val="dk1"/>
              </a:solidFill>
              <a:latin typeface="Calibri"/>
              <a:ea typeface="Calibri"/>
              <a:cs typeface="Calibri"/>
              <a:sym typeface="Calibri"/>
            </a:endParaRPr>
          </a:p>
        </p:txBody>
      </p:sp>
      <p:sp>
        <p:nvSpPr>
          <p:cNvPr id="383" name="Google Shape;383;p16"/>
          <p:cNvSpPr/>
          <p:nvPr/>
        </p:nvSpPr>
        <p:spPr>
          <a:xfrm>
            <a:off x="1016000" y="4439921"/>
            <a:ext cx="2120900" cy="629920"/>
          </a:xfrm>
          <a:prstGeom prst="roundRect">
            <a:avLst>
              <a:gd fmla="val 8065" name="adj"/>
            </a:avLst>
          </a:prstGeom>
          <a:solidFill>
            <a:srgbClr val="0B2A3B"/>
          </a:solidFill>
          <a:ln>
            <a:noFill/>
          </a:ln>
        </p:spPr>
        <p:txBody>
          <a:bodyPr anchorCtr="0" anchor="t" bIns="61300" lIns="99400" spcFirstLastPara="1" rIns="42650" wrap="square" tIns="86700">
            <a:noAutofit/>
          </a:bodyPr>
          <a:lstStyle/>
          <a:p>
            <a:pPr indent="0" lvl="0" marL="0" marR="0" rtl="0" algn="l">
              <a:lnSpc>
                <a:spcPct val="140000"/>
              </a:lnSpc>
              <a:spcBef>
                <a:spcPts val="0"/>
              </a:spcBef>
              <a:spcAft>
                <a:spcPts val="0"/>
              </a:spcAft>
              <a:buClr>
                <a:srgbClr val="2DD4BF"/>
              </a:buClr>
              <a:buSzPts val="1200"/>
              <a:buFont typeface="IBM Plex Mono"/>
              <a:buNone/>
            </a:pPr>
            <a:r>
              <a:rPr b="0" i="0" lang="en-US" sz="1200" u="none" cap="none" strike="noStrike">
                <a:solidFill>
                  <a:srgbClr val="2DD4BF"/>
                </a:solidFill>
                <a:latin typeface="IBM Plex Mono"/>
                <a:ea typeface="IBM Plex Mono"/>
                <a:cs typeface="IBM Plex Mono"/>
                <a:sym typeface="IBM Plex Mono"/>
              </a:rPr>
              <a:t>chunked by observed_at</a:t>
            </a:r>
            <a:endParaRPr b="0" i="0" sz="1200" u="none" cap="none" strike="noStrike">
              <a:solidFill>
                <a:schemeClr val="dk1"/>
              </a:solidFill>
              <a:latin typeface="Calibri"/>
              <a:ea typeface="Calibri"/>
              <a:cs typeface="Calibri"/>
              <a:sym typeface="Calibri"/>
            </a:endParaRPr>
          </a:p>
        </p:txBody>
      </p:sp>
      <p:sp>
        <p:nvSpPr>
          <p:cNvPr id="384" name="Google Shape;384;p16"/>
          <p:cNvSpPr/>
          <p:nvPr/>
        </p:nvSpPr>
        <p:spPr>
          <a:xfrm>
            <a:off x="3492500" y="1986279"/>
            <a:ext cx="2527300" cy="3312160"/>
          </a:xfrm>
          <a:prstGeom prst="roundRect">
            <a:avLst>
              <a:gd fmla="val 4020" name="adj"/>
            </a:avLst>
          </a:prstGeom>
          <a:solidFill>
            <a:srgbClr val="1238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6"/>
          <p:cNvSpPr/>
          <p:nvPr/>
        </p:nvSpPr>
        <p:spPr>
          <a:xfrm>
            <a:off x="3492500" y="1986279"/>
            <a:ext cx="2527300" cy="3312160"/>
          </a:xfrm>
          <a:custGeom>
            <a:rect b="b" l="l" r="r" t="t"/>
            <a:pathLst>
              <a:path extrusionOk="0" h="3312160" w="2527300">
                <a:moveTo>
                  <a:pt x="0" y="101600"/>
                </a:moveTo>
                <a:lnTo>
                  <a:pt x="0" y="101600"/>
                </a:lnTo>
                <a:cubicBezTo>
                  <a:pt x="0" y="45488"/>
                  <a:pt x="45488" y="0"/>
                  <a:pt x="101600" y="0"/>
                </a:cubicBezTo>
                <a:lnTo>
                  <a:pt x="2425700" y="0"/>
                </a:lnTo>
                <a:cubicBezTo>
                  <a:pt x="2452646" y="0"/>
                  <a:pt x="2478488" y="10704"/>
                  <a:pt x="2497542" y="29758"/>
                </a:cubicBezTo>
                <a:cubicBezTo>
                  <a:pt x="2516596" y="48812"/>
                  <a:pt x="2527300" y="74654"/>
                  <a:pt x="2527300" y="101600"/>
                </a:cubicBezTo>
                <a:lnTo>
                  <a:pt x="2527300" y="101600"/>
                </a:lnTo>
                <a:cubicBezTo>
                  <a:pt x="2527300" y="73544"/>
                  <a:pt x="2481812" y="50800"/>
                  <a:pt x="2425700" y="50800"/>
                </a:cubicBezTo>
                <a:lnTo>
                  <a:pt x="101600" y="50800"/>
                </a:lnTo>
                <a:cubicBezTo>
                  <a:pt x="45488" y="50800"/>
                  <a:pt x="0" y="73544"/>
                  <a:pt x="0" y="101600"/>
                </a:cubicBezTo>
                <a:close/>
              </a:path>
            </a:pathLst>
          </a:custGeom>
          <a:solidFill>
            <a:srgbClr val="F2C1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tabase" id="386" name="Google Shape;386;p16"/>
          <p:cNvPicPr preferRelativeResize="0"/>
          <p:nvPr/>
        </p:nvPicPr>
        <p:blipFill rotWithShape="1">
          <a:blip r:embed="rId4">
            <a:alphaModFix/>
          </a:blip>
          <a:srcRect b="0" l="0" r="0" t="0"/>
          <a:stretch/>
        </p:blipFill>
        <p:spPr>
          <a:xfrm>
            <a:off x="3695700" y="2265679"/>
            <a:ext cx="355600" cy="355600"/>
          </a:xfrm>
          <a:prstGeom prst="rect">
            <a:avLst/>
          </a:prstGeom>
          <a:noFill/>
          <a:ln>
            <a:noFill/>
          </a:ln>
        </p:spPr>
      </p:pic>
      <p:sp>
        <p:nvSpPr>
          <p:cNvPr id="387" name="Google Shape;387;p16"/>
          <p:cNvSpPr/>
          <p:nvPr/>
        </p:nvSpPr>
        <p:spPr>
          <a:xfrm>
            <a:off x="3695700" y="2722879"/>
            <a:ext cx="2184527" cy="391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3EC"/>
              </a:buClr>
              <a:buSzPts val="2400"/>
              <a:buFont typeface="Fraunces"/>
              <a:buNone/>
            </a:pPr>
            <a:r>
              <a:rPr b="1" i="0" lang="en-US" sz="2400" u="none" cap="none" strike="noStrike">
                <a:solidFill>
                  <a:srgbClr val="F6F3EC"/>
                </a:solidFill>
                <a:latin typeface="Fraunces"/>
                <a:ea typeface="Fraunces"/>
                <a:cs typeface="Fraunces"/>
                <a:sym typeface="Fraunces"/>
              </a:rPr>
              <a:t>Compression</a:t>
            </a:r>
            <a:endParaRPr b="0" i="0" sz="2400" u="none" cap="none" strike="noStrike">
              <a:solidFill>
                <a:schemeClr val="dk1"/>
              </a:solidFill>
              <a:latin typeface="Calibri"/>
              <a:ea typeface="Calibri"/>
              <a:cs typeface="Calibri"/>
              <a:sym typeface="Calibri"/>
            </a:endParaRPr>
          </a:p>
        </p:txBody>
      </p:sp>
      <p:sp>
        <p:nvSpPr>
          <p:cNvPr id="388" name="Google Shape;388;p16"/>
          <p:cNvSpPr/>
          <p:nvPr/>
        </p:nvSpPr>
        <p:spPr>
          <a:xfrm>
            <a:off x="3695700" y="3190242"/>
            <a:ext cx="2184527" cy="53975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9CDD3"/>
              </a:buClr>
              <a:buSzPts val="1500"/>
              <a:buFont typeface="IBM Plex Sans"/>
              <a:buNone/>
            </a:pPr>
            <a:r>
              <a:rPr b="0" i="0" lang="en-US" sz="1500" u="none" cap="none" strike="noStrike">
                <a:solidFill>
                  <a:srgbClr val="B9CDD3"/>
                </a:solidFill>
                <a:latin typeface="IBM Plex Sans"/>
                <a:ea typeface="IBM Plex Sans"/>
                <a:cs typeface="IBM Plex Sans"/>
                <a:sym typeface="IBM Plex Sans"/>
              </a:rPr>
              <a:t>Old history shrinks, still queryable</a:t>
            </a:r>
            <a:endParaRPr b="0" i="0" sz="1500" u="none" cap="none" strike="noStrike">
              <a:solidFill>
                <a:schemeClr val="dk1"/>
              </a:solidFill>
              <a:latin typeface="Calibri"/>
              <a:ea typeface="Calibri"/>
              <a:cs typeface="Calibri"/>
              <a:sym typeface="Calibri"/>
            </a:endParaRPr>
          </a:p>
        </p:txBody>
      </p:sp>
      <p:sp>
        <p:nvSpPr>
          <p:cNvPr id="389" name="Google Shape;389;p16"/>
          <p:cNvSpPr/>
          <p:nvPr/>
        </p:nvSpPr>
        <p:spPr>
          <a:xfrm>
            <a:off x="3695700" y="4246879"/>
            <a:ext cx="2184527"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2C14E"/>
              </a:buClr>
              <a:buSzPts val="4000"/>
              <a:buFont typeface="Fraunces"/>
              <a:buNone/>
            </a:pPr>
            <a:r>
              <a:rPr b="1" i="0" lang="en-US" sz="4000" u="none" cap="none" strike="noStrike">
                <a:solidFill>
                  <a:srgbClr val="F2C14E"/>
                </a:solidFill>
                <a:latin typeface="Fraunces"/>
                <a:ea typeface="Fraunces"/>
                <a:cs typeface="Fraunces"/>
                <a:sym typeface="Fraunces"/>
              </a:rPr>
              <a:t>22 / 24</a:t>
            </a:r>
            <a:endParaRPr b="0" i="0" sz="4000" u="none" cap="none" strike="noStrike">
              <a:solidFill>
                <a:schemeClr val="dk1"/>
              </a:solidFill>
              <a:latin typeface="Calibri"/>
              <a:ea typeface="Calibri"/>
              <a:cs typeface="Calibri"/>
              <a:sym typeface="Calibri"/>
            </a:endParaRPr>
          </a:p>
        </p:txBody>
      </p:sp>
      <p:sp>
        <p:nvSpPr>
          <p:cNvPr id="390" name="Google Shape;390;p16"/>
          <p:cNvSpPr/>
          <p:nvPr/>
        </p:nvSpPr>
        <p:spPr>
          <a:xfrm>
            <a:off x="3695700" y="4856479"/>
            <a:ext cx="2184527"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DD3"/>
              </a:buClr>
              <a:buSzPts val="1200"/>
              <a:buFont typeface="IBM Plex Sans"/>
              <a:buNone/>
            </a:pPr>
            <a:r>
              <a:rPr b="0" i="0" lang="en-US" sz="1200" u="none" cap="none" strike="noStrike">
                <a:solidFill>
                  <a:srgbClr val="B9CDD3"/>
                </a:solidFill>
                <a:latin typeface="IBM Plex Sans"/>
                <a:ea typeface="IBM Plex Sans"/>
                <a:cs typeface="IBM Plex Sans"/>
                <a:sym typeface="IBM Plex Sans"/>
              </a:rPr>
              <a:t>chunks compressed</a:t>
            </a:r>
            <a:endParaRPr b="0" i="0" sz="1200" u="none" cap="none" strike="noStrike">
              <a:solidFill>
                <a:schemeClr val="dk1"/>
              </a:solidFill>
              <a:latin typeface="Calibri"/>
              <a:ea typeface="Calibri"/>
              <a:cs typeface="Calibri"/>
              <a:sym typeface="Calibri"/>
            </a:endParaRPr>
          </a:p>
        </p:txBody>
      </p:sp>
      <p:sp>
        <p:nvSpPr>
          <p:cNvPr id="391" name="Google Shape;391;p16"/>
          <p:cNvSpPr/>
          <p:nvPr/>
        </p:nvSpPr>
        <p:spPr>
          <a:xfrm>
            <a:off x="6172200" y="1986279"/>
            <a:ext cx="2527300" cy="3312160"/>
          </a:xfrm>
          <a:prstGeom prst="roundRect">
            <a:avLst>
              <a:gd fmla="val 4020" name="adj"/>
            </a:avLst>
          </a:prstGeom>
          <a:solidFill>
            <a:srgbClr val="1238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6"/>
          <p:cNvSpPr/>
          <p:nvPr/>
        </p:nvSpPr>
        <p:spPr>
          <a:xfrm>
            <a:off x="6172200" y="1986279"/>
            <a:ext cx="2527300" cy="3312160"/>
          </a:xfrm>
          <a:custGeom>
            <a:rect b="b" l="l" r="r" t="t"/>
            <a:pathLst>
              <a:path extrusionOk="0" h="3312160" w="2527300">
                <a:moveTo>
                  <a:pt x="0" y="101600"/>
                </a:moveTo>
                <a:lnTo>
                  <a:pt x="0" y="101600"/>
                </a:lnTo>
                <a:cubicBezTo>
                  <a:pt x="0" y="45488"/>
                  <a:pt x="45488" y="0"/>
                  <a:pt x="101600" y="0"/>
                </a:cubicBezTo>
                <a:lnTo>
                  <a:pt x="2425700" y="0"/>
                </a:lnTo>
                <a:cubicBezTo>
                  <a:pt x="2452646" y="0"/>
                  <a:pt x="2478488" y="10704"/>
                  <a:pt x="2497542" y="29758"/>
                </a:cubicBezTo>
                <a:cubicBezTo>
                  <a:pt x="2516596" y="48812"/>
                  <a:pt x="2527300" y="74654"/>
                  <a:pt x="2527300" y="101600"/>
                </a:cubicBezTo>
                <a:lnTo>
                  <a:pt x="2527300" y="101600"/>
                </a:lnTo>
                <a:cubicBezTo>
                  <a:pt x="2527300" y="73544"/>
                  <a:pt x="2481812" y="50800"/>
                  <a:pt x="2425700" y="50800"/>
                </a:cubicBezTo>
                <a:lnTo>
                  <a:pt x="101600" y="50800"/>
                </a:lnTo>
                <a:cubicBezTo>
                  <a:pt x="45488" y="50800"/>
                  <a:pt x="0" y="73544"/>
                  <a:pt x="0" y="101600"/>
                </a:cubicBezTo>
                <a:close/>
              </a:path>
            </a:pathLst>
          </a:cu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ctivity" id="393" name="Google Shape;393;p16"/>
          <p:cNvPicPr preferRelativeResize="0"/>
          <p:nvPr/>
        </p:nvPicPr>
        <p:blipFill rotWithShape="1">
          <a:blip r:embed="rId5">
            <a:alphaModFix/>
          </a:blip>
          <a:srcRect b="0" l="0" r="0" t="0"/>
          <a:stretch/>
        </p:blipFill>
        <p:spPr>
          <a:xfrm>
            <a:off x="6375400" y="2265679"/>
            <a:ext cx="355600" cy="355600"/>
          </a:xfrm>
          <a:prstGeom prst="rect">
            <a:avLst/>
          </a:prstGeom>
          <a:noFill/>
          <a:ln>
            <a:noFill/>
          </a:ln>
        </p:spPr>
      </p:pic>
      <p:sp>
        <p:nvSpPr>
          <p:cNvPr id="394" name="Google Shape;394;p16"/>
          <p:cNvSpPr/>
          <p:nvPr/>
        </p:nvSpPr>
        <p:spPr>
          <a:xfrm>
            <a:off x="6375400" y="2722879"/>
            <a:ext cx="2184527" cy="391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3EC"/>
              </a:buClr>
              <a:buSzPts val="2400"/>
              <a:buFont typeface="Fraunces"/>
              <a:buNone/>
            </a:pPr>
            <a:r>
              <a:rPr b="1" i="0" lang="en-US" sz="2400" u="none" cap="none" strike="noStrike">
                <a:solidFill>
                  <a:srgbClr val="F6F3EC"/>
                </a:solidFill>
                <a:latin typeface="Fraunces"/>
                <a:ea typeface="Fraunces"/>
                <a:cs typeface="Fraunces"/>
                <a:sym typeface="Fraunces"/>
              </a:rPr>
              <a:t>Aggregates</a:t>
            </a:r>
            <a:endParaRPr b="0" i="0" sz="2400" u="none" cap="none" strike="noStrike">
              <a:solidFill>
                <a:schemeClr val="dk1"/>
              </a:solidFill>
              <a:latin typeface="Calibri"/>
              <a:ea typeface="Calibri"/>
              <a:cs typeface="Calibri"/>
              <a:sym typeface="Calibri"/>
            </a:endParaRPr>
          </a:p>
        </p:txBody>
      </p:sp>
      <p:sp>
        <p:nvSpPr>
          <p:cNvPr id="395" name="Google Shape;395;p16"/>
          <p:cNvSpPr/>
          <p:nvPr/>
        </p:nvSpPr>
        <p:spPr>
          <a:xfrm>
            <a:off x="6375400" y="3190242"/>
            <a:ext cx="2184527" cy="53975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9CDD3"/>
              </a:buClr>
              <a:buSzPts val="1500"/>
              <a:buFont typeface="IBM Plex Sans"/>
              <a:buNone/>
            </a:pPr>
            <a:r>
              <a:rPr b="0" i="0" lang="en-US" sz="1500" u="none" cap="none" strike="noStrike">
                <a:solidFill>
                  <a:srgbClr val="B9CDD3"/>
                </a:solidFill>
                <a:latin typeface="IBM Plex Sans"/>
                <a:ea typeface="IBM Plex Sans"/>
                <a:cs typeface="IBM Plex Sans"/>
                <a:sym typeface="IBM Plex Sans"/>
              </a:rPr>
              <a:t>Live chart, refreshed incrementally</a:t>
            </a:r>
            <a:endParaRPr b="0" i="0" sz="1500" u="none" cap="none" strike="noStrike">
              <a:solidFill>
                <a:schemeClr val="dk1"/>
              </a:solidFill>
              <a:latin typeface="Calibri"/>
              <a:ea typeface="Calibri"/>
              <a:cs typeface="Calibri"/>
              <a:sym typeface="Calibri"/>
            </a:endParaRPr>
          </a:p>
        </p:txBody>
      </p:sp>
      <p:sp>
        <p:nvSpPr>
          <p:cNvPr id="396" name="Google Shape;396;p16"/>
          <p:cNvSpPr/>
          <p:nvPr/>
        </p:nvSpPr>
        <p:spPr>
          <a:xfrm>
            <a:off x="6375400" y="4653279"/>
            <a:ext cx="2120900" cy="416560"/>
          </a:xfrm>
          <a:prstGeom prst="roundRect">
            <a:avLst>
              <a:gd fmla="val 12195" name="adj"/>
            </a:avLst>
          </a:prstGeom>
          <a:solidFill>
            <a:srgbClr val="0B2A3B"/>
          </a:solidFill>
          <a:ln>
            <a:noFill/>
          </a:ln>
        </p:spPr>
        <p:txBody>
          <a:bodyPr anchorCtr="0" anchor="t" bIns="61300" lIns="99400" spcFirstLastPara="1" rIns="42650" wrap="square" tIns="86700">
            <a:noAutofit/>
          </a:bodyPr>
          <a:lstStyle/>
          <a:p>
            <a:pPr indent="0" lvl="0" marL="0" marR="0" rtl="0" algn="l">
              <a:lnSpc>
                <a:spcPct val="140000"/>
              </a:lnSpc>
              <a:spcBef>
                <a:spcPts val="0"/>
              </a:spcBef>
              <a:spcAft>
                <a:spcPts val="0"/>
              </a:spcAft>
              <a:buClr>
                <a:srgbClr val="2DD4BF"/>
              </a:buClr>
              <a:buSzPts val="1200"/>
              <a:buFont typeface="IBM Plex Mono"/>
              <a:buNone/>
            </a:pPr>
            <a:r>
              <a:rPr b="0" i="0" lang="en-US" sz="1200" u="none" cap="none" strike="noStrike">
                <a:solidFill>
                  <a:srgbClr val="2DD4BF"/>
                </a:solidFill>
                <a:latin typeface="IBM Plex Mono"/>
                <a:ea typeface="IBM Plex Mono"/>
                <a:cs typeface="IBM Plex Mono"/>
                <a:sym typeface="IBM Plex Mono"/>
              </a:rPr>
              <a:t>time_bucket('1 day')</a:t>
            </a:r>
            <a:endParaRPr b="0" i="0" sz="1200" u="none" cap="none" strike="noStrike">
              <a:solidFill>
                <a:schemeClr val="dk1"/>
              </a:solidFill>
              <a:latin typeface="Calibri"/>
              <a:ea typeface="Calibri"/>
              <a:cs typeface="Calibri"/>
              <a:sym typeface="Calibri"/>
            </a:endParaRPr>
          </a:p>
        </p:txBody>
      </p:sp>
      <p:sp>
        <p:nvSpPr>
          <p:cNvPr id="397" name="Google Shape;397;p16"/>
          <p:cNvSpPr/>
          <p:nvPr/>
        </p:nvSpPr>
        <p:spPr>
          <a:xfrm>
            <a:off x="8851900" y="1986279"/>
            <a:ext cx="2527300" cy="3312160"/>
          </a:xfrm>
          <a:prstGeom prst="roundRect">
            <a:avLst>
              <a:gd fmla="val 4020" name="adj"/>
            </a:avLst>
          </a:prstGeom>
          <a:solidFill>
            <a:srgbClr val="1238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6"/>
          <p:cNvSpPr/>
          <p:nvPr/>
        </p:nvSpPr>
        <p:spPr>
          <a:xfrm>
            <a:off x="8851900" y="1986279"/>
            <a:ext cx="2527300" cy="3312160"/>
          </a:xfrm>
          <a:custGeom>
            <a:rect b="b" l="l" r="r" t="t"/>
            <a:pathLst>
              <a:path extrusionOk="0" h="3312160" w="2527300">
                <a:moveTo>
                  <a:pt x="0" y="101600"/>
                </a:moveTo>
                <a:lnTo>
                  <a:pt x="0" y="101600"/>
                </a:lnTo>
                <a:cubicBezTo>
                  <a:pt x="0" y="45488"/>
                  <a:pt x="45488" y="0"/>
                  <a:pt x="101600" y="0"/>
                </a:cubicBezTo>
                <a:lnTo>
                  <a:pt x="2425700" y="0"/>
                </a:lnTo>
                <a:cubicBezTo>
                  <a:pt x="2452646" y="0"/>
                  <a:pt x="2478488" y="10704"/>
                  <a:pt x="2497542" y="29758"/>
                </a:cubicBezTo>
                <a:cubicBezTo>
                  <a:pt x="2516596" y="48812"/>
                  <a:pt x="2527300" y="74654"/>
                  <a:pt x="2527300" y="101600"/>
                </a:cubicBezTo>
                <a:lnTo>
                  <a:pt x="2527300" y="101600"/>
                </a:lnTo>
                <a:cubicBezTo>
                  <a:pt x="2527300" y="73544"/>
                  <a:pt x="2481812" y="50800"/>
                  <a:pt x="2425700" y="50800"/>
                </a:cubicBezTo>
                <a:lnTo>
                  <a:pt x="101600" y="50800"/>
                </a:lnTo>
                <a:cubicBezTo>
                  <a:pt x="45488" y="50800"/>
                  <a:pt x="0" y="73544"/>
                  <a:pt x="0" y="101600"/>
                </a:cubicBezTo>
                <a:close/>
              </a:path>
            </a:pathLst>
          </a:cu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399" name="Google Shape;399;p16"/>
          <p:cNvPicPr preferRelativeResize="0"/>
          <p:nvPr/>
        </p:nvPicPr>
        <p:blipFill rotWithShape="1">
          <a:blip r:embed="rId6">
            <a:alphaModFix/>
          </a:blip>
          <a:srcRect b="0" l="0" r="0" t="0"/>
          <a:stretch/>
        </p:blipFill>
        <p:spPr>
          <a:xfrm>
            <a:off x="9055100" y="2265679"/>
            <a:ext cx="355600" cy="355600"/>
          </a:xfrm>
          <a:prstGeom prst="rect">
            <a:avLst/>
          </a:prstGeom>
          <a:noFill/>
          <a:ln>
            <a:noFill/>
          </a:ln>
        </p:spPr>
      </p:pic>
      <p:sp>
        <p:nvSpPr>
          <p:cNvPr id="400" name="Google Shape;400;p16"/>
          <p:cNvSpPr/>
          <p:nvPr/>
        </p:nvSpPr>
        <p:spPr>
          <a:xfrm>
            <a:off x="9055100" y="2722879"/>
            <a:ext cx="2184527" cy="391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3EC"/>
              </a:buClr>
              <a:buSzPts val="2400"/>
              <a:buFont typeface="Fraunces"/>
              <a:buNone/>
            </a:pPr>
            <a:r>
              <a:rPr b="1" i="0" lang="en-US" sz="2400" u="none" cap="none" strike="noStrike">
                <a:solidFill>
                  <a:srgbClr val="F6F3EC"/>
                </a:solidFill>
                <a:latin typeface="Fraunces"/>
                <a:ea typeface="Fraunces"/>
                <a:cs typeface="Fraunces"/>
                <a:sym typeface="Fraunces"/>
              </a:rPr>
              <a:t>pgvector</a:t>
            </a:r>
            <a:endParaRPr b="0" i="0" sz="2400" u="none" cap="none" strike="noStrike">
              <a:solidFill>
                <a:schemeClr val="dk1"/>
              </a:solidFill>
              <a:latin typeface="Calibri"/>
              <a:ea typeface="Calibri"/>
              <a:cs typeface="Calibri"/>
              <a:sym typeface="Calibri"/>
            </a:endParaRPr>
          </a:p>
        </p:txBody>
      </p:sp>
      <p:sp>
        <p:nvSpPr>
          <p:cNvPr id="401" name="Google Shape;401;p16"/>
          <p:cNvSpPr/>
          <p:nvPr/>
        </p:nvSpPr>
        <p:spPr>
          <a:xfrm>
            <a:off x="9055100" y="3190242"/>
            <a:ext cx="2184527" cy="53975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9CDD3"/>
              </a:buClr>
              <a:buSzPts val="1500"/>
              <a:buFont typeface="IBM Plex Sans"/>
              <a:buNone/>
            </a:pPr>
            <a:r>
              <a:rPr b="0" i="0" lang="en-US" sz="1500" u="none" cap="none" strike="noStrike">
                <a:solidFill>
                  <a:srgbClr val="B9CDD3"/>
                </a:solidFill>
                <a:latin typeface="IBM Plex Sans"/>
                <a:ea typeface="IBM Plex Sans"/>
                <a:cs typeface="IBM Plex Sans"/>
                <a:sym typeface="IBM Plex Sans"/>
              </a:rPr>
              <a:t>Find the fax that mentions a drug</a:t>
            </a:r>
            <a:endParaRPr b="0" i="0" sz="1500" u="none" cap="none" strike="noStrike">
              <a:solidFill>
                <a:schemeClr val="dk1"/>
              </a:solidFill>
              <a:latin typeface="Calibri"/>
              <a:ea typeface="Calibri"/>
              <a:cs typeface="Calibri"/>
              <a:sym typeface="Calibri"/>
            </a:endParaRPr>
          </a:p>
        </p:txBody>
      </p:sp>
      <p:sp>
        <p:nvSpPr>
          <p:cNvPr id="402" name="Google Shape;402;p16"/>
          <p:cNvSpPr/>
          <p:nvPr/>
        </p:nvSpPr>
        <p:spPr>
          <a:xfrm>
            <a:off x="9055100" y="4653279"/>
            <a:ext cx="2120900" cy="416560"/>
          </a:xfrm>
          <a:prstGeom prst="roundRect">
            <a:avLst>
              <a:gd fmla="val 12195" name="adj"/>
            </a:avLst>
          </a:prstGeom>
          <a:solidFill>
            <a:srgbClr val="0B2A3B"/>
          </a:solidFill>
          <a:ln>
            <a:noFill/>
          </a:ln>
        </p:spPr>
        <p:txBody>
          <a:bodyPr anchorCtr="0" anchor="t" bIns="61300" lIns="99400" spcFirstLastPara="1" rIns="42650" wrap="square" tIns="86700">
            <a:noAutofit/>
          </a:bodyPr>
          <a:lstStyle/>
          <a:p>
            <a:pPr indent="0" lvl="0" marL="0" marR="0" rtl="0" algn="l">
              <a:lnSpc>
                <a:spcPct val="140000"/>
              </a:lnSpc>
              <a:spcBef>
                <a:spcPts val="0"/>
              </a:spcBef>
              <a:spcAft>
                <a:spcPts val="0"/>
              </a:spcAft>
              <a:buClr>
                <a:srgbClr val="2DD4BF"/>
              </a:buClr>
              <a:buSzPts val="1200"/>
              <a:buFont typeface="IBM Plex Mono"/>
              <a:buNone/>
            </a:pPr>
            <a:r>
              <a:rPr b="0" i="0" lang="en-US" sz="1200" u="none" cap="none" strike="noStrike">
                <a:solidFill>
                  <a:srgbClr val="2DD4BF"/>
                </a:solidFill>
                <a:latin typeface="IBM Plex Mono"/>
                <a:ea typeface="IBM Plex Mono"/>
                <a:cs typeface="IBM Plex Mono"/>
                <a:sym typeface="IBM Plex Mono"/>
              </a:rPr>
              <a:t>384-dim HNSW index</a:t>
            </a:r>
            <a:endParaRPr b="0" i="0" sz="1200" u="none" cap="none" strike="noStrike">
              <a:solidFill>
                <a:schemeClr val="dk1"/>
              </a:solidFill>
              <a:latin typeface="Calibri"/>
              <a:ea typeface="Calibri"/>
              <a:cs typeface="Calibri"/>
              <a:sym typeface="Calibri"/>
            </a:endParaRPr>
          </a:p>
        </p:txBody>
      </p:sp>
      <p:sp>
        <p:nvSpPr>
          <p:cNvPr id="403" name="Google Shape;403;p16"/>
          <p:cNvSpPr/>
          <p:nvPr/>
        </p:nvSpPr>
        <p:spPr>
          <a:xfrm>
            <a:off x="812800" y="5577842"/>
            <a:ext cx="741680"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FA1AB"/>
              </a:buClr>
              <a:buSzPts val="1200"/>
              <a:buFont typeface="IBM Plex Mono"/>
              <a:buNone/>
            </a:pPr>
            <a:r>
              <a:rPr b="0" i="0" lang="en-US" sz="1200" u="none" cap="none" strike="noStrike">
                <a:solidFill>
                  <a:srgbClr val="7FA1AB"/>
                </a:solidFill>
                <a:latin typeface="IBM Plex Mono"/>
                <a:ea typeface="IBM Plex Mono"/>
                <a:cs typeface="IBM Plex Mono"/>
                <a:sym typeface="IBM Plex Mono"/>
              </a:rPr>
              <a:t>RUNS ON</a:t>
            </a:r>
            <a:endParaRPr b="0" i="0" sz="1200" u="none" cap="none" strike="noStrike">
              <a:solidFill>
                <a:schemeClr val="dk1"/>
              </a:solidFill>
              <a:latin typeface="Calibri"/>
              <a:ea typeface="Calibri"/>
              <a:cs typeface="Calibri"/>
              <a:sym typeface="Calibri"/>
            </a:endParaRPr>
          </a:p>
        </p:txBody>
      </p:sp>
      <p:sp>
        <p:nvSpPr>
          <p:cNvPr id="404" name="Google Shape;404;p16"/>
          <p:cNvSpPr/>
          <p:nvPr/>
        </p:nvSpPr>
        <p:spPr>
          <a:xfrm>
            <a:off x="1554480" y="5527042"/>
            <a:ext cx="1259840" cy="314960"/>
          </a:xfrm>
          <a:prstGeom prst="roundRect">
            <a:avLst>
              <a:gd fmla="val 50000" name="adj"/>
            </a:avLst>
          </a:prstGeom>
          <a:solidFill>
            <a:srgbClr val="12384A"/>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6F3EC"/>
              </a:buClr>
              <a:buSzPts val="1200"/>
              <a:buFont typeface="IBM Plex Mono"/>
              <a:buNone/>
            </a:pPr>
            <a:r>
              <a:rPr b="0" i="0" lang="en-US" sz="1200" u="none" cap="none" strike="noStrike">
                <a:solidFill>
                  <a:srgbClr val="F6F3EC"/>
                </a:solidFill>
                <a:latin typeface="IBM Plex Mono"/>
                <a:ea typeface="IBM Plex Mono"/>
                <a:cs typeface="IBM Plex Mono"/>
                <a:sym typeface="IBM Plex Mono"/>
              </a:rPr>
              <a:t>Tiger Cloud</a:t>
            </a:r>
            <a:endParaRPr b="0" i="0" sz="1200" u="none" cap="none" strike="noStrike">
              <a:solidFill>
                <a:schemeClr val="dk1"/>
              </a:solidFill>
              <a:latin typeface="Calibri"/>
              <a:ea typeface="Calibri"/>
              <a:cs typeface="Calibri"/>
              <a:sym typeface="Calibri"/>
            </a:endParaRPr>
          </a:p>
        </p:txBody>
      </p:sp>
      <p:sp>
        <p:nvSpPr>
          <p:cNvPr id="405" name="Google Shape;405;p16"/>
          <p:cNvSpPr/>
          <p:nvPr/>
        </p:nvSpPr>
        <p:spPr>
          <a:xfrm>
            <a:off x="2915920" y="5527042"/>
            <a:ext cx="1442720" cy="314960"/>
          </a:xfrm>
          <a:prstGeom prst="roundRect">
            <a:avLst>
              <a:gd fmla="val 50000" name="adj"/>
            </a:avLst>
          </a:prstGeom>
          <a:solidFill>
            <a:srgbClr val="12384A"/>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6F3EC"/>
              </a:buClr>
              <a:buSzPts val="1200"/>
              <a:buFont typeface="IBM Plex Mono"/>
              <a:buNone/>
            </a:pPr>
            <a:r>
              <a:rPr b="0" i="0" lang="en-US" sz="1200" u="none" cap="none" strike="noStrike">
                <a:solidFill>
                  <a:srgbClr val="F6F3EC"/>
                </a:solidFill>
                <a:latin typeface="IBM Plex Mono"/>
                <a:ea typeface="IBM Plex Mono"/>
                <a:cs typeface="IBM Plex Mono"/>
                <a:sym typeface="IBM Plex Mono"/>
              </a:rPr>
              <a:t>PostgreSQL 18</a:t>
            </a:r>
            <a:endParaRPr b="0" i="0" sz="1200" u="none" cap="none" strike="noStrike">
              <a:solidFill>
                <a:schemeClr val="dk1"/>
              </a:solidFill>
              <a:latin typeface="Calibri"/>
              <a:ea typeface="Calibri"/>
              <a:cs typeface="Calibri"/>
              <a:sym typeface="Calibri"/>
            </a:endParaRPr>
          </a:p>
        </p:txBody>
      </p:sp>
      <p:sp>
        <p:nvSpPr>
          <p:cNvPr id="406" name="Google Shape;406;p16"/>
          <p:cNvSpPr/>
          <p:nvPr/>
        </p:nvSpPr>
        <p:spPr>
          <a:xfrm>
            <a:off x="4460240" y="5527042"/>
            <a:ext cx="1717040" cy="314960"/>
          </a:xfrm>
          <a:prstGeom prst="roundRect">
            <a:avLst>
              <a:gd fmla="val 50000" name="adj"/>
            </a:avLst>
          </a:prstGeom>
          <a:solidFill>
            <a:srgbClr val="12384A"/>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6F3EC"/>
              </a:buClr>
              <a:buSzPts val="1200"/>
              <a:buFont typeface="IBM Plex Mono"/>
              <a:buNone/>
            </a:pPr>
            <a:r>
              <a:rPr b="0" i="0" lang="en-US" sz="1200" u="none" cap="none" strike="noStrike">
                <a:solidFill>
                  <a:srgbClr val="F6F3EC"/>
                </a:solidFill>
                <a:latin typeface="IBM Plex Mono"/>
                <a:ea typeface="IBM Plex Mono"/>
                <a:cs typeface="IBM Plex Mono"/>
                <a:sym typeface="IBM Plex Mono"/>
              </a:rPr>
              <a:t>TimescaleDB 2.30</a:t>
            </a:r>
            <a:endParaRPr b="0" i="0" sz="1200" u="none" cap="none" strike="noStrike">
              <a:solidFill>
                <a:schemeClr val="dk1"/>
              </a:solidFill>
              <a:latin typeface="Calibri"/>
              <a:ea typeface="Calibri"/>
              <a:cs typeface="Calibri"/>
              <a:sym typeface="Calibri"/>
            </a:endParaRPr>
          </a:p>
        </p:txBody>
      </p:sp>
      <p:sp>
        <p:nvSpPr>
          <p:cNvPr id="407" name="Google Shape;407;p16"/>
          <p:cNvSpPr/>
          <p:nvPr/>
        </p:nvSpPr>
        <p:spPr>
          <a:xfrm>
            <a:off x="6278880" y="5527042"/>
            <a:ext cx="1351280" cy="314960"/>
          </a:xfrm>
          <a:prstGeom prst="roundRect">
            <a:avLst>
              <a:gd fmla="val 50000" name="adj"/>
            </a:avLst>
          </a:prstGeom>
          <a:solidFill>
            <a:srgbClr val="12384A"/>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6F3EC"/>
              </a:buClr>
              <a:buSzPts val="1200"/>
              <a:buFont typeface="IBM Plex Mono"/>
              <a:buNone/>
            </a:pPr>
            <a:r>
              <a:rPr b="0" i="0" lang="en-US" sz="1200" u="none" cap="none" strike="noStrike">
                <a:solidFill>
                  <a:srgbClr val="F6F3EC"/>
                </a:solidFill>
                <a:latin typeface="IBM Plex Mono"/>
                <a:ea typeface="IBM Plex Mono"/>
                <a:cs typeface="IBM Plex Mono"/>
                <a:sym typeface="IBM Plex Mono"/>
              </a:rPr>
              <a:t>pgvector 0.8</a:t>
            </a:r>
            <a:endParaRPr b="0" i="0" sz="1200" u="none" cap="none" strike="noStrike">
              <a:solidFill>
                <a:schemeClr val="dk1"/>
              </a:solidFill>
              <a:latin typeface="Calibri"/>
              <a:ea typeface="Calibri"/>
              <a:cs typeface="Calibri"/>
              <a:sym typeface="Calibri"/>
            </a:endParaRPr>
          </a:p>
        </p:txBody>
      </p:sp>
      <p:sp>
        <p:nvSpPr>
          <p:cNvPr id="408" name="Google Shape;408;p16"/>
          <p:cNvSpPr/>
          <p:nvPr/>
        </p:nvSpPr>
        <p:spPr>
          <a:xfrm>
            <a:off x="10312400" y="6238242"/>
            <a:ext cx="106680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7F89"/>
              </a:buClr>
              <a:buSzPts val="1200"/>
              <a:buFont typeface="IBM Plex Mono"/>
              <a:buNone/>
            </a:pPr>
            <a:r>
              <a:rPr b="0" i="0" lang="en-US" sz="1200" u="none" cap="none" strike="noStrike">
                <a:solidFill>
                  <a:srgbClr val="5E7F89"/>
                </a:solidFill>
                <a:latin typeface="IBM Plex Mono"/>
                <a:ea typeface="IBM Plex Mono"/>
                <a:cs typeface="IBM Plex Mono"/>
                <a:sym typeface="IBM Plex Mono"/>
              </a:rPr>
              <a:t>11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EC"/>
        </a:solidFill>
      </p:bgPr>
    </p:bg>
    <p:spTree>
      <p:nvGrpSpPr>
        <p:cNvPr id="413" name="Shape 413"/>
        <p:cNvGrpSpPr/>
        <p:nvPr/>
      </p:nvGrpSpPr>
      <p:grpSpPr>
        <a:xfrm>
          <a:off x="0" y="0"/>
          <a:ext cx="0" cy="0"/>
          <a:chOff x="0" y="0"/>
          <a:chExt cx="0" cy="0"/>
        </a:xfrm>
      </p:grpSpPr>
      <p:sp>
        <p:nvSpPr>
          <p:cNvPr id="414" name="Google Shape;414;p17"/>
          <p:cNvSpPr/>
          <p:nvPr/>
        </p:nvSpPr>
        <p:spPr>
          <a:xfrm>
            <a:off x="812800" y="2152650"/>
            <a:ext cx="10566400" cy="38100"/>
          </a:xfrm>
          <a:prstGeom prst="roundRect">
            <a:avLst>
              <a:gd fmla="val 50000" name="adj"/>
            </a:avLst>
          </a:prstGeom>
          <a:gradFill>
            <a:gsLst>
              <a:gs pos="0">
                <a:srgbClr val="0F766E"/>
              </a:gs>
              <a:gs pos="70000">
                <a:srgbClr val="0F766E"/>
              </a:gs>
              <a:gs pos="100000">
                <a:srgbClr val="F2C14E"/>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7"/>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Mono"/>
              <a:buNone/>
            </a:pPr>
            <a:r>
              <a:rPr b="0" i="0" lang="en-US" sz="1200" u="none" cap="none" strike="noStrike">
                <a:solidFill>
                  <a:srgbClr val="0F766E"/>
                </a:solidFill>
                <a:latin typeface="IBM Plex Mono"/>
                <a:ea typeface="IBM Plex Mono"/>
                <a:cs typeface="IBM Plex Mono"/>
                <a:sym typeface="IBM Plex Mono"/>
              </a:rPr>
              <a:t>11 · WHAT'S NEXT</a:t>
            </a:r>
            <a:endParaRPr b="0" i="0" sz="1200" u="none" cap="none" strike="noStrike">
              <a:solidFill>
                <a:schemeClr val="dk1"/>
              </a:solidFill>
              <a:latin typeface="Calibri"/>
              <a:ea typeface="Calibri"/>
              <a:cs typeface="Calibri"/>
              <a:sym typeface="Calibri"/>
            </a:endParaRPr>
          </a:p>
        </p:txBody>
      </p:sp>
      <p:sp>
        <p:nvSpPr>
          <p:cNvPr id="416" name="Google Shape;416;p17"/>
          <p:cNvSpPr/>
          <p:nvPr/>
        </p:nvSpPr>
        <p:spPr>
          <a:xfrm>
            <a:off x="812800" y="1280164"/>
            <a:ext cx="10883392"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B2A3B"/>
              </a:buClr>
              <a:buSzPts val="3600"/>
              <a:buFont typeface="Fraunces"/>
              <a:buNone/>
            </a:pPr>
            <a:r>
              <a:rPr b="0" i="0" lang="en-US" sz="3600" u="none" cap="none" strike="noStrike">
                <a:solidFill>
                  <a:srgbClr val="0B2A3B"/>
                </a:solidFill>
                <a:latin typeface="Fraunces"/>
                <a:ea typeface="Fraunces"/>
                <a:cs typeface="Fraunces"/>
                <a:sym typeface="Fraunces"/>
              </a:rPr>
              <a:t>From proof to a site's daily tool</a:t>
            </a:r>
            <a:endParaRPr b="0" i="0" sz="3600" u="none" cap="none" strike="noStrike">
              <a:solidFill>
                <a:schemeClr val="dk1"/>
              </a:solidFill>
              <a:latin typeface="Calibri"/>
              <a:ea typeface="Calibri"/>
              <a:cs typeface="Calibri"/>
              <a:sym typeface="Calibri"/>
            </a:endParaRPr>
          </a:p>
        </p:txBody>
      </p:sp>
      <p:pic>
        <p:nvPicPr>
          <p:cNvPr descr="ellipse" id="417" name="Google Shape;417;p17"/>
          <p:cNvPicPr preferRelativeResize="0"/>
          <p:nvPr/>
        </p:nvPicPr>
        <p:blipFill rotWithShape="1">
          <a:blip r:embed="rId3">
            <a:alphaModFix/>
          </a:blip>
          <a:srcRect b="0" l="0" r="0" t="0"/>
          <a:stretch/>
        </p:blipFill>
        <p:spPr>
          <a:xfrm>
            <a:off x="1962150" y="2037079"/>
            <a:ext cx="228600" cy="228600"/>
          </a:xfrm>
          <a:prstGeom prst="rect">
            <a:avLst/>
          </a:prstGeom>
          <a:noFill/>
          <a:ln>
            <a:noFill/>
          </a:ln>
        </p:spPr>
      </p:pic>
      <p:sp>
        <p:nvSpPr>
          <p:cNvPr id="418" name="Google Shape;418;p17"/>
          <p:cNvSpPr/>
          <p:nvPr/>
        </p:nvSpPr>
        <p:spPr>
          <a:xfrm>
            <a:off x="819150" y="2399029"/>
            <a:ext cx="2514600" cy="3436620"/>
          </a:xfrm>
          <a:prstGeom prst="roundRect">
            <a:avLst>
              <a:gd fmla="val 3788" name="adj"/>
            </a:avLst>
          </a:prstGeom>
          <a:solidFill>
            <a:srgbClr val="FFFDF8"/>
          </a:solidFill>
          <a:ln cap="flat" cmpd="sng" w="12700">
            <a:solidFill>
              <a:srgbClr val="E2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7"/>
          <p:cNvSpPr/>
          <p:nvPr/>
        </p:nvSpPr>
        <p:spPr>
          <a:xfrm>
            <a:off x="1028700" y="2633979"/>
            <a:ext cx="2158365" cy="63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766E"/>
              </a:buClr>
              <a:buSzPts val="4800"/>
              <a:buFont typeface="Fraunces"/>
              <a:buNone/>
            </a:pPr>
            <a:r>
              <a:rPr b="1" i="0" lang="en-US" sz="4800" u="none" cap="none" strike="noStrike">
                <a:solidFill>
                  <a:srgbClr val="0F766E"/>
                </a:solidFill>
                <a:latin typeface="Fraunces"/>
                <a:ea typeface="Fraunces"/>
                <a:cs typeface="Fraunces"/>
                <a:sym typeface="Fraunces"/>
              </a:rPr>
              <a:t>01</a:t>
            </a:r>
            <a:endParaRPr b="0" i="0" sz="4800" u="none" cap="none" strike="noStrike">
              <a:solidFill>
                <a:schemeClr val="dk1"/>
              </a:solidFill>
              <a:latin typeface="Calibri"/>
              <a:ea typeface="Calibri"/>
              <a:cs typeface="Calibri"/>
              <a:sym typeface="Calibri"/>
            </a:endParaRPr>
          </a:p>
        </p:txBody>
      </p:sp>
      <p:sp>
        <p:nvSpPr>
          <p:cNvPr id="420" name="Google Shape;420;p17"/>
          <p:cNvSpPr/>
          <p:nvPr/>
        </p:nvSpPr>
        <p:spPr>
          <a:xfrm>
            <a:off x="1028700" y="4376421"/>
            <a:ext cx="2158365" cy="6680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B2A3B"/>
              </a:buClr>
              <a:buSzPts val="2200"/>
              <a:buFont typeface="Fraunces"/>
              <a:buNone/>
            </a:pPr>
            <a:r>
              <a:rPr b="1" i="0" lang="en-US" sz="2200" u="none" cap="none" strike="noStrike">
                <a:solidFill>
                  <a:srgbClr val="0B2A3B"/>
                </a:solidFill>
                <a:latin typeface="Fraunces"/>
                <a:ea typeface="Fraunces"/>
                <a:cs typeface="Fraunces"/>
                <a:sym typeface="Fraunces"/>
              </a:rPr>
              <a:t>Fax &amp; EHR intake</a:t>
            </a:r>
            <a:endParaRPr b="0" i="0" sz="2200" u="none" cap="none" strike="noStrike">
              <a:solidFill>
                <a:schemeClr val="dk1"/>
              </a:solidFill>
              <a:latin typeface="Calibri"/>
              <a:ea typeface="Calibri"/>
              <a:cs typeface="Calibri"/>
              <a:sym typeface="Calibri"/>
            </a:endParaRPr>
          </a:p>
        </p:txBody>
      </p:sp>
      <p:sp>
        <p:nvSpPr>
          <p:cNvPr id="421" name="Google Shape;421;p17"/>
          <p:cNvSpPr/>
          <p:nvPr/>
        </p:nvSpPr>
        <p:spPr>
          <a:xfrm>
            <a:off x="1028700" y="5120642"/>
            <a:ext cx="2158365" cy="5054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3D4B55"/>
              </a:buClr>
              <a:buSzPts val="1400"/>
              <a:buFont typeface="IBM Plex Sans"/>
              <a:buNone/>
            </a:pPr>
            <a:r>
              <a:rPr b="0" i="0" lang="en-US" sz="1400" u="none" cap="none" strike="noStrike">
                <a:solidFill>
                  <a:srgbClr val="3D4B55"/>
                </a:solidFill>
                <a:latin typeface="IBM Plex Sans"/>
                <a:ea typeface="IBM Plex Sans"/>
                <a:cs typeface="IBM Plex Sans"/>
                <a:sym typeface="IBM Plex Sans"/>
              </a:rPr>
              <a:t>Documents flow in on their own</a:t>
            </a:r>
            <a:endParaRPr b="0" i="0" sz="1400" u="none" cap="none" strike="noStrike">
              <a:solidFill>
                <a:schemeClr val="dk1"/>
              </a:solidFill>
              <a:latin typeface="Calibri"/>
              <a:ea typeface="Calibri"/>
              <a:cs typeface="Calibri"/>
              <a:sym typeface="Calibri"/>
            </a:endParaRPr>
          </a:p>
        </p:txBody>
      </p:sp>
      <p:pic>
        <p:nvPicPr>
          <p:cNvPr descr="ellipse" id="422" name="Google Shape;422;p17"/>
          <p:cNvPicPr preferRelativeResize="0"/>
          <p:nvPr/>
        </p:nvPicPr>
        <p:blipFill rotWithShape="1">
          <a:blip r:embed="rId3">
            <a:alphaModFix/>
          </a:blip>
          <a:srcRect b="0" l="0" r="0" t="0"/>
          <a:stretch/>
        </p:blipFill>
        <p:spPr>
          <a:xfrm>
            <a:off x="4641850" y="2037079"/>
            <a:ext cx="228600" cy="228600"/>
          </a:xfrm>
          <a:prstGeom prst="rect">
            <a:avLst/>
          </a:prstGeom>
          <a:noFill/>
          <a:ln>
            <a:noFill/>
          </a:ln>
        </p:spPr>
      </p:pic>
      <p:sp>
        <p:nvSpPr>
          <p:cNvPr id="423" name="Google Shape;423;p17"/>
          <p:cNvSpPr/>
          <p:nvPr/>
        </p:nvSpPr>
        <p:spPr>
          <a:xfrm>
            <a:off x="3498850" y="2399029"/>
            <a:ext cx="2514600" cy="3436620"/>
          </a:xfrm>
          <a:prstGeom prst="roundRect">
            <a:avLst>
              <a:gd fmla="val 3788" name="adj"/>
            </a:avLst>
          </a:prstGeom>
          <a:solidFill>
            <a:srgbClr val="FFFDF8"/>
          </a:solidFill>
          <a:ln cap="flat" cmpd="sng" w="12700">
            <a:solidFill>
              <a:srgbClr val="E2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7"/>
          <p:cNvSpPr/>
          <p:nvPr/>
        </p:nvSpPr>
        <p:spPr>
          <a:xfrm>
            <a:off x="3708400" y="2633979"/>
            <a:ext cx="2158365" cy="63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766E"/>
              </a:buClr>
              <a:buSzPts val="4800"/>
              <a:buFont typeface="Fraunces"/>
              <a:buNone/>
            </a:pPr>
            <a:r>
              <a:rPr b="1" i="0" lang="en-US" sz="4800" u="none" cap="none" strike="noStrike">
                <a:solidFill>
                  <a:srgbClr val="0F766E"/>
                </a:solidFill>
                <a:latin typeface="Fraunces"/>
                <a:ea typeface="Fraunces"/>
                <a:cs typeface="Fraunces"/>
                <a:sym typeface="Fraunces"/>
              </a:rPr>
              <a:t>02</a:t>
            </a:r>
            <a:endParaRPr b="0" i="0" sz="4800" u="none" cap="none" strike="noStrike">
              <a:solidFill>
                <a:schemeClr val="dk1"/>
              </a:solidFill>
              <a:latin typeface="Calibri"/>
              <a:ea typeface="Calibri"/>
              <a:cs typeface="Calibri"/>
              <a:sym typeface="Calibri"/>
            </a:endParaRPr>
          </a:p>
        </p:txBody>
      </p:sp>
      <p:sp>
        <p:nvSpPr>
          <p:cNvPr id="425" name="Google Shape;425;p17"/>
          <p:cNvSpPr/>
          <p:nvPr/>
        </p:nvSpPr>
        <p:spPr>
          <a:xfrm>
            <a:off x="3708400" y="4376421"/>
            <a:ext cx="2158365" cy="6680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B2A3B"/>
              </a:buClr>
              <a:buSzPts val="2200"/>
              <a:buFont typeface="Fraunces"/>
              <a:buNone/>
            </a:pPr>
            <a:r>
              <a:rPr b="1" i="0" lang="en-US" sz="2200" u="none" cap="none" strike="noStrike">
                <a:solidFill>
                  <a:srgbClr val="0B2A3B"/>
                </a:solidFill>
                <a:latin typeface="Fraunces"/>
                <a:ea typeface="Fraunces"/>
                <a:cs typeface="Fraunces"/>
                <a:sym typeface="Fraunces"/>
              </a:rPr>
              <a:t>Live EDC export</a:t>
            </a:r>
            <a:endParaRPr b="0" i="0" sz="2200" u="none" cap="none" strike="noStrike">
              <a:solidFill>
                <a:schemeClr val="dk1"/>
              </a:solidFill>
              <a:latin typeface="Calibri"/>
              <a:ea typeface="Calibri"/>
              <a:cs typeface="Calibri"/>
              <a:sym typeface="Calibri"/>
            </a:endParaRPr>
          </a:p>
        </p:txBody>
      </p:sp>
      <p:sp>
        <p:nvSpPr>
          <p:cNvPr id="426" name="Google Shape;426;p17"/>
          <p:cNvSpPr/>
          <p:nvPr/>
        </p:nvSpPr>
        <p:spPr>
          <a:xfrm>
            <a:off x="3708400" y="5120642"/>
            <a:ext cx="2158365" cy="5054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3D4B55"/>
              </a:buClr>
              <a:buSzPts val="1400"/>
              <a:buFont typeface="IBM Plex Sans"/>
              <a:buNone/>
            </a:pPr>
            <a:r>
              <a:rPr b="0" i="0" lang="en-US" sz="1400" u="none" cap="none" strike="noStrike">
                <a:solidFill>
                  <a:srgbClr val="3D4B55"/>
                </a:solidFill>
                <a:latin typeface="IBM Plex Sans"/>
                <a:ea typeface="IBM Plex Sans"/>
                <a:cs typeface="IBM Plex Sans"/>
                <a:sym typeface="IBM Plex Sans"/>
              </a:rPr>
              <a:t>Signed forms land in the trial database</a:t>
            </a:r>
            <a:endParaRPr b="0" i="0" sz="1400" u="none" cap="none" strike="noStrike">
              <a:solidFill>
                <a:schemeClr val="dk1"/>
              </a:solidFill>
              <a:latin typeface="Calibri"/>
              <a:ea typeface="Calibri"/>
              <a:cs typeface="Calibri"/>
              <a:sym typeface="Calibri"/>
            </a:endParaRPr>
          </a:p>
        </p:txBody>
      </p:sp>
      <p:pic>
        <p:nvPicPr>
          <p:cNvPr descr="ellipse" id="427" name="Google Shape;427;p17"/>
          <p:cNvPicPr preferRelativeResize="0"/>
          <p:nvPr/>
        </p:nvPicPr>
        <p:blipFill rotWithShape="1">
          <a:blip r:embed="rId3">
            <a:alphaModFix/>
          </a:blip>
          <a:srcRect b="0" l="0" r="0" t="0"/>
          <a:stretch/>
        </p:blipFill>
        <p:spPr>
          <a:xfrm>
            <a:off x="7321550" y="2037079"/>
            <a:ext cx="228600" cy="228600"/>
          </a:xfrm>
          <a:prstGeom prst="rect">
            <a:avLst/>
          </a:prstGeom>
          <a:noFill/>
          <a:ln>
            <a:noFill/>
          </a:ln>
        </p:spPr>
      </p:pic>
      <p:sp>
        <p:nvSpPr>
          <p:cNvPr id="428" name="Google Shape;428;p17"/>
          <p:cNvSpPr/>
          <p:nvPr/>
        </p:nvSpPr>
        <p:spPr>
          <a:xfrm>
            <a:off x="6178550" y="2399029"/>
            <a:ext cx="2514600" cy="3436620"/>
          </a:xfrm>
          <a:prstGeom prst="roundRect">
            <a:avLst>
              <a:gd fmla="val 3788" name="adj"/>
            </a:avLst>
          </a:prstGeom>
          <a:solidFill>
            <a:srgbClr val="FFFDF8"/>
          </a:solidFill>
          <a:ln cap="flat" cmpd="sng" w="12700">
            <a:solidFill>
              <a:srgbClr val="E2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7"/>
          <p:cNvSpPr/>
          <p:nvPr/>
        </p:nvSpPr>
        <p:spPr>
          <a:xfrm>
            <a:off x="6388100" y="2633979"/>
            <a:ext cx="2158365" cy="63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766E"/>
              </a:buClr>
              <a:buSzPts val="4800"/>
              <a:buFont typeface="Fraunces"/>
              <a:buNone/>
            </a:pPr>
            <a:r>
              <a:rPr b="1" i="0" lang="en-US" sz="4800" u="none" cap="none" strike="noStrike">
                <a:solidFill>
                  <a:srgbClr val="0F766E"/>
                </a:solidFill>
                <a:latin typeface="Fraunces"/>
                <a:ea typeface="Fraunces"/>
                <a:cs typeface="Fraunces"/>
                <a:sym typeface="Fraunces"/>
              </a:rPr>
              <a:t>03</a:t>
            </a:r>
            <a:endParaRPr b="0" i="0" sz="4800" u="none" cap="none" strike="noStrike">
              <a:solidFill>
                <a:schemeClr val="dk1"/>
              </a:solidFill>
              <a:latin typeface="Calibri"/>
              <a:ea typeface="Calibri"/>
              <a:cs typeface="Calibri"/>
              <a:sym typeface="Calibri"/>
            </a:endParaRPr>
          </a:p>
        </p:txBody>
      </p:sp>
      <p:sp>
        <p:nvSpPr>
          <p:cNvPr id="430" name="Google Shape;430;p17"/>
          <p:cNvSpPr/>
          <p:nvPr/>
        </p:nvSpPr>
        <p:spPr>
          <a:xfrm>
            <a:off x="6388100" y="4376421"/>
            <a:ext cx="2158365" cy="6680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B2A3B"/>
              </a:buClr>
              <a:buSzPts val="2200"/>
              <a:buFont typeface="Fraunces"/>
              <a:buNone/>
            </a:pPr>
            <a:r>
              <a:rPr b="1" i="0" lang="en-US" sz="2200" u="none" cap="none" strike="noStrike">
                <a:solidFill>
                  <a:srgbClr val="0B2A3B"/>
                </a:solidFill>
                <a:latin typeface="Fraunces"/>
                <a:ea typeface="Fraunces"/>
                <a:cs typeface="Fraunces"/>
                <a:sym typeface="Fraunces"/>
              </a:rPr>
              <a:t>Scans at volume</a:t>
            </a:r>
            <a:endParaRPr b="0" i="0" sz="2200" u="none" cap="none" strike="noStrike">
              <a:solidFill>
                <a:schemeClr val="dk1"/>
              </a:solidFill>
              <a:latin typeface="Calibri"/>
              <a:ea typeface="Calibri"/>
              <a:cs typeface="Calibri"/>
              <a:sym typeface="Calibri"/>
            </a:endParaRPr>
          </a:p>
        </p:txBody>
      </p:sp>
      <p:sp>
        <p:nvSpPr>
          <p:cNvPr id="431" name="Google Shape;431;p17"/>
          <p:cNvSpPr/>
          <p:nvPr/>
        </p:nvSpPr>
        <p:spPr>
          <a:xfrm>
            <a:off x="6388100" y="5120642"/>
            <a:ext cx="2158365" cy="5054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3D4B55"/>
              </a:buClr>
              <a:buSzPts val="1400"/>
              <a:buFont typeface="IBM Plex Sans"/>
              <a:buNone/>
            </a:pPr>
            <a:r>
              <a:rPr b="0" i="0" lang="en-US" sz="1400" u="none" cap="none" strike="noStrike">
                <a:solidFill>
                  <a:srgbClr val="3D4B55"/>
                </a:solidFill>
                <a:latin typeface="IBM Plex Sans"/>
                <a:ea typeface="IBM Plex Sans"/>
                <a:cs typeface="IBM Plex Sans"/>
                <a:sym typeface="IBM Plex Sans"/>
              </a:rPr>
              <a:t>A site's whole paper backlog</a:t>
            </a:r>
            <a:endParaRPr b="0" i="0" sz="1400" u="none" cap="none" strike="noStrike">
              <a:solidFill>
                <a:schemeClr val="dk1"/>
              </a:solidFill>
              <a:latin typeface="Calibri"/>
              <a:ea typeface="Calibri"/>
              <a:cs typeface="Calibri"/>
              <a:sym typeface="Calibri"/>
            </a:endParaRPr>
          </a:p>
        </p:txBody>
      </p:sp>
      <p:pic>
        <p:nvPicPr>
          <p:cNvPr descr="ellipse" id="432" name="Google Shape;432;p17"/>
          <p:cNvPicPr preferRelativeResize="0"/>
          <p:nvPr/>
        </p:nvPicPr>
        <p:blipFill rotWithShape="1">
          <a:blip r:embed="rId4">
            <a:alphaModFix/>
          </a:blip>
          <a:srcRect b="0" l="0" r="0" t="0"/>
          <a:stretch/>
        </p:blipFill>
        <p:spPr>
          <a:xfrm>
            <a:off x="10001250" y="2037079"/>
            <a:ext cx="228600" cy="228600"/>
          </a:xfrm>
          <a:prstGeom prst="rect">
            <a:avLst/>
          </a:prstGeom>
          <a:noFill/>
          <a:ln>
            <a:noFill/>
          </a:ln>
        </p:spPr>
      </p:pic>
      <p:sp>
        <p:nvSpPr>
          <p:cNvPr id="433" name="Google Shape;433;p17"/>
          <p:cNvSpPr/>
          <p:nvPr/>
        </p:nvSpPr>
        <p:spPr>
          <a:xfrm>
            <a:off x="8858250" y="2399029"/>
            <a:ext cx="2514600" cy="3436620"/>
          </a:xfrm>
          <a:prstGeom prst="roundRect">
            <a:avLst>
              <a:gd fmla="val 3788" name="adj"/>
            </a:avLst>
          </a:prstGeom>
          <a:solidFill>
            <a:srgbClr val="0B2A3B"/>
          </a:solidFill>
          <a:ln cap="flat" cmpd="sng" w="12700">
            <a:solidFill>
              <a:srgbClr val="0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7"/>
          <p:cNvSpPr/>
          <p:nvPr/>
        </p:nvSpPr>
        <p:spPr>
          <a:xfrm>
            <a:off x="9067800" y="2633979"/>
            <a:ext cx="2158365" cy="63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2C14E"/>
              </a:buClr>
              <a:buSzPts val="4800"/>
              <a:buFont typeface="Fraunces"/>
              <a:buNone/>
            </a:pPr>
            <a:r>
              <a:rPr b="1" i="0" lang="en-US" sz="4800" u="none" cap="none" strike="noStrike">
                <a:solidFill>
                  <a:srgbClr val="F2C14E"/>
                </a:solidFill>
                <a:latin typeface="Fraunces"/>
                <a:ea typeface="Fraunces"/>
                <a:cs typeface="Fraunces"/>
                <a:sym typeface="Fraunces"/>
              </a:rPr>
              <a:t>04</a:t>
            </a:r>
            <a:endParaRPr b="0" i="0" sz="4800" u="none" cap="none" strike="noStrike">
              <a:solidFill>
                <a:schemeClr val="dk1"/>
              </a:solidFill>
              <a:latin typeface="Calibri"/>
              <a:ea typeface="Calibri"/>
              <a:cs typeface="Calibri"/>
              <a:sym typeface="Calibri"/>
            </a:endParaRPr>
          </a:p>
        </p:txBody>
      </p:sp>
      <p:sp>
        <p:nvSpPr>
          <p:cNvPr id="435" name="Google Shape;435;p17"/>
          <p:cNvSpPr/>
          <p:nvPr/>
        </p:nvSpPr>
        <p:spPr>
          <a:xfrm>
            <a:off x="9067800" y="4376421"/>
            <a:ext cx="2158365" cy="6680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6F3EC"/>
              </a:buClr>
              <a:buSzPts val="2200"/>
              <a:buFont typeface="Fraunces"/>
              <a:buNone/>
            </a:pPr>
            <a:r>
              <a:rPr b="1" i="0" lang="en-US" sz="2200" u="none" cap="none" strike="noStrike">
                <a:solidFill>
                  <a:srgbClr val="F6F3EC"/>
                </a:solidFill>
                <a:latin typeface="Fraunces"/>
                <a:ea typeface="Fraunces"/>
                <a:cs typeface="Fraunces"/>
                <a:sym typeface="Fraunces"/>
              </a:rPr>
              <a:t>Acts alone once proven</a:t>
            </a:r>
            <a:endParaRPr b="0" i="0" sz="2200" u="none" cap="none" strike="noStrike">
              <a:solidFill>
                <a:schemeClr val="dk1"/>
              </a:solidFill>
              <a:latin typeface="Calibri"/>
              <a:ea typeface="Calibri"/>
              <a:cs typeface="Calibri"/>
              <a:sym typeface="Calibri"/>
            </a:endParaRPr>
          </a:p>
        </p:txBody>
      </p:sp>
      <p:sp>
        <p:nvSpPr>
          <p:cNvPr id="436" name="Google Shape;436;p17"/>
          <p:cNvSpPr/>
          <p:nvPr/>
        </p:nvSpPr>
        <p:spPr>
          <a:xfrm>
            <a:off x="9067800" y="5120642"/>
            <a:ext cx="2158365" cy="5054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9CDD3"/>
              </a:buClr>
              <a:buSzPts val="1400"/>
              <a:buFont typeface="IBM Plex Sans"/>
              <a:buNone/>
            </a:pPr>
            <a:r>
              <a:rPr b="0" i="0" lang="en-US" sz="1400" u="none" cap="none" strike="noStrike">
                <a:solidFill>
                  <a:srgbClr val="B9CDD3"/>
                </a:solidFill>
                <a:latin typeface="IBM Plex Sans"/>
                <a:ea typeface="IBM Plex Sans"/>
                <a:cs typeface="IBM Plex Sans"/>
                <a:sym typeface="IBM Plex Sans"/>
              </a:rPr>
              <a:t>Stops asking about fields it gets right</a:t>
            </a:r>
            <a:endParaRPr b="0" i="0" sz="1400" u="none" cap="none" strike="noStrike">
              <a:solidFill>
                <a:schemeClr val="dk1"/>
              </a:solidFill>
              <a:latin typeface="Calibri"/>
              <a:ea typeface="Calibri"/>
              <a:cs typeface="Calibri"/>
              <a:sym typeface="Calibri"/>
            </a:endParaRPr>
          </a:p>
        </p:txBody>
      </p:sp>
      <p:sp>
        <p:nvSpPr>
          <p:cNvPr id="437" name="Google Shape;437;p17"/>
          <p:cNvSpPr/>
          <p:nvPr/>
        </p:nvSpPr>
        <p:spPr>
          <a:xfrm>
            <a:off x="10312400" y="6238242"/>
            <a:ext cx="106680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9AA5AA"/>
              </a:buClr>
              <a:buSzPts val="1200"/>
              <a:buFont typeface="IBM Plex Mono"/>
              <a:buNone/>
            </a:pPr>
            <a:r>
              <a:rPr b="0" i="0" lang="en-US" sz="1200" u="none" cap="none" strike="noStrike">
                <a:solidFill>
                  <a:srgbClr val="9AA5AA"/>
                </a:solidFill>
                <a:latin typeface="IBM Plex Mono"/>
                <a:ea typeface="IBM Plex Mono"/>
                <a:cs typeface="IBM Plex Mono"/>
                <a:sym typeface="IBM Plex Mono"/>
              </a:rPr>
              <a:t>12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8"/>
          <p:cNvSpPr/>
          <p:nvPr/>
        </p:nvSpPr>
        <p:spPr>
          <a:xfrm rot="120000">
            <a:off x="8001001" y="1271271"/>
            <a:ext cx="3378200" cy="3238500"/>
          </a:xfrm>
          <a:prstGeom prst="roundRect">
            <a:avLst>
              <a:gd fmla="val 1176" name="adj"/>
            </a:avLst>
          </a:prstGeom>
          <a:solidFill>
            <a:srgbClr val="F6F3EC"/>
          </a:solidFill>
          <a:ln>
            <a:noFill/>
          </a:ln>
          <a:effectLst>
            <a:outerShdw blurRad="444500" rotWithShape="0" algn="bl" dir="5400000" dist="1905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8"/>
          <p:cNvSpPr/>
          <p:nvPr/>
        </p:nvSpPr>
        <p:spPr>
          <a:xfrm rot="120000">
            <a:off x="8280437" y="1551415"/>
            <a:ext cx="2903982" cy="2540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B2A3B"/>
              </a:buClr>
              <a:buSzPts val="1300"/>
              <a:buFont typeface="IBM Plex Mono"/>
              <a:buNone/>
            </a:pPr>
            <a:r>
              <a:rPr b="1" i="0" lang="en-US" sz="1300" u="none" cap="none" strike="noStrike">
                <a:solidFill>
                  <a:srgbClr val="0B2A3B"/>
                </a:solidFill>
                <a:latin typeface="IBM Plex Mono"/>
                <a:ea typeface="IBM Plex Mono"/>
                <a:cs typeface="IBM Plex Mono"/>
                <a:sym typeface="IBM Plex Mono"/>
              </a:rPr>
              <a:t>SOURCED · RESULTS</a:t>
            </a:r>
            <a:endParaRPr b="0" i="0" sz="1300" u="none" cap="none" strike="noStrike">
              <a:solidFill>
                <a:schemeClr val="dk1"/>
              </a:solidFill>
              <a:latin typeface="Calibri"/>
              <a:ea typeface="Calibri"/>
              <a:cs typeface="Calibri"/>
              <a:sym typeface="Calibri"/>
            </a:endParaRPr>
          </a:p>
        </p:txBody>
      </p:sp>
      <p:pic>
        <p:nvPicPr>
          <p:cNvPr descr="line" id="445" name="Google Shape;445;p18"/>
          <p:cNvPicPr preferRelativeResize="0"/>
          <p:nvPr/>
        </p:nvPicPr>
        <p:blipFill rotWithShape="1">
          <a:blip r:embed="rId3">
            <a:alphaModFix/>
          </a:blip>
          <a:srcRect b="0" l="0" r="0" t="0"/>
          <a:stretch/>
        </p:blipFill>
        <p:spPr>
          <a:xfrm rot="120000">
            <a:off x="8315592" y="1870055"/>
            <a:ext cx="2819400" cy="25400"/>
          </a:xfrm>
          <a:prstGeom prst="rect">
            <a:avLst/>
          </a:prstGeom>
          <a:noFill/>
          <a:ln>
            <a:noFill/>
          </a:ln>
        </p:spPr>
      </p:pic>
      <p:sp>
        <p:nvSpPr>
          <p:cNvPr id="446" name="Google Shape;446;p18"/>
          <p:cNvSpPr/>
          <p:nvPr/>
        </p:nvSpPr>
        <p:spPr>
          <a:xfrm rot="120000">
            <a:off x="8307544" y="1986961"/>
            <a:ext cx="2903982" cy="254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B2A3B"/>
              </a:buClr>
              <a:buSzPts val="1300"/>
              <a:buFont typeface="IBM Plex Mono"/>
              <a:buNone/>
            </a:pPr>
            <a:r>
              <a:rPr b="0" i="0" lang="en-US" sz="1300" u="none" cap="none" strike="noStrike">
                <a:solidFill>
                  <a:srgbClr val="0B2A3B"/>
                </a:solidFill>
                <a:latin typeface="IBM Plex Mono"/>
                <a:ea typeface="IBM Plex Mono"/>
                <a:cs typeface="IBM Plex Mono"/>
                <a:sym typeface="IBM Plex Mono"/>
              </a:rPr>
              <a:t>FIELDS FILLED .... </a:t>
            </a:r>
            <a:r>
              <a:rPr b="1" i="0" lang="en-US" sz="1300" u="none" cap="none" strike="noStrike">
                <a:solidFill>
                  <a:srgbClr val="0B2A3B"/>
                </a:solidFill>
                <a:latin typeface="IBM Plex Mono"/>
                <a:ea typeface="IBM Plex Mono"/>
                <a:cs typeface="IBM Plex Mono"/>
                <a:sym typeface="IBM Plex Mono"/>
              </a:rPr>
              <a:t>99.7%</a:t>
            </a:r>
            <a:endParaRPr b="0" i="0" sz="1300" u="none" cap="none" strike="noStrike">
              <a:solidFill>
                <a:schemeClr val="dk1"/>
              </a:solidFill>
              <a:latin typeface="Calibri"/>
              <a:ea typeface="Calibri"/>
              <a:cs typeface="Calibri"/>
              <a:sym typeface="Calibri"/>
            </a:endParaRPr>
          </a:p>
        </p:txBody>
      </p:sp>
      <p:sp>
        <p:nvSpPr>
          <p:cNvPr id="447" name="Google Shape;447;p18"/>
          <p:cNvSpPr/>
          <p:nvPr/>
        </p:nvSpPr>
        <p:spPr>
          <a:xfrm rot="120000">
            <a:off x="8296375" y="2306806"/>
            <a:ext cx="2903982" cy="254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B2A3B"/>
              </a:buClr>
              <a:buSzPts val="1300"/>
              <a:buFont typeface="IBM Plex Mono"/>
              <a:buNone/>
            </a:pPr>
            <a:r>
              <a:rPr b="0" i="0" lang="en-US" sz="1300" u="none" cap="none" strike="noStrike">
                <a:solidFill>
                  <a:srgbClr val="0B2A3B"/>
                </a:solidFill>
                <a:latin typeface="IBM Plex Mono"/>
                <a:ea typeface="IBM Plex Mono"/>
                <a:cs typeface="IBM Plex Mono"/>
                <a:sym typeface="IBM Plex Mono"/>
              </a:rPr>
              <a:t>ACCURACY ......... </a:t>
            </a:r>
            <a:r>
              <a:rPr b="1" i="0" lang="en-US" sz="1300" u="none" cap="none" strike="noStrike">
                <a:solidFill>
                  <a:srgbClr val="0B2A3B"/>
                </a:solidFill>
                <a:latin typeface="IBM Plex Mono"/>
                <a:ea typeface="IBM Plex Mono"/>
                <a:cs typeface="IBM Plex Mono"/>
                <a:sym typeface="IBM Plex Mono"/>
              </a:rPr>
              <a:t>100%</a:t>
            </a:r>
            <a:endParaRPr b="0" i="0" sz="1300" u="none" cap="none" strike="noStrike">
              <a:solidFill>
                <a:schemeClr val="dk1"/>
              </a:solidFill>
              <a:latin typeface="Calibri"/>
              <a:ea typeface="Calibri"/>
              <a:cs typeface="Calibri"/>
              <a:sym typeface="Calibri"/>
            </a:endParaRPr>
          </a:p>
        </p:txBody>
      </p:sp>
      <p:sp>
        <p:nvSpPr>
          <p:cNvPr id="448" name="Google Shape;448;p18"/>
          <p:cNvSpPr/>
          <p:nvPr/>
        </p:nvSpPr>
        <p:spPr>
          <a:xfrm rot="120000">
            <a:off x="8285205" y="2626655"/>
            <a:ext cx="2903982" cy="254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B2A3B"/>
              </a:buClr>
              <a:buSzPts val="1300"/>
              <a:buFont typeface="IBM Plex Mono"/>
              <a:buNone/>
            </a:pPr>
            <a:r>
              <a:rPr b="0" i="0" lang="en-US" sz="1300" u="none" cap="none" strike="noStrike">
                <a:solidFill>
                  <a:srgbClr val="0B2A3B"/>
                </a:solidFill>
                <a:latin typeface="IBM Plex Mono"/>
                <a:ea typeface="IBM Plex Mono"/>
                <a:cs typeface="IBM Plex Mono"/>
                <a:sym typeface="IBM Plex Mono"/>
              </a:rPr>
              <a:t>CONFLICTS ........ </a:t>
            </a:r>
            <a:r>
              <a:rPr b="1" i="0" lang="en-US" sz="1300" u="none" cap="none" strike="noStrike">
                <a:solidFill>
                  <a:srgbClr val="0B2A3B"/>
                </a:solidFill>
                <a:latin typeface="IBM Plex Mono"/>
                <a:ea typeface="IBM Plex Mono"/>
                <a:cs typeface="IBM Plex Mono"/>
                <a:sym typeface="IBM Plex Mono"/>
              </a:rPr>
              <a:t>35/35</a:t>
            </a:r>
            <a:endParaRPr b="0" i="0" sz="1300" u="none" cap="none" strike="noStrike">
              <a:solidFill>
                <a:schemeClr val="dk1"/>
              </a:solidFill>
              <a:latin typeface="Calibri"/>
              <a:ea typeface="Calibri"/>
              <a:cs typeface="Calibri"/>
              <a:sym typeface="Calibri"/>
            </a:endParaRPr>
          </a:p>
        </p:txBody>
      </p:sp>
      <p:sp>
        <p:nvSpPr>
          <p:cNvPr id="449" name="Google Shape;449;p18"/>
          <p:cNvSpPr/>
          <p:nvPr/>
        </p:nvSpPr>
        <p:spPr>
          <a:xfrm rot="120000">
            <a:off x="8274037" y="2946493"/>
            <a:ext cx="2903982" cy="254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B2A3B"/>
              </a:buClr>
              <a:buSzPts val="1300"/>
              <a:buFont typeface="IBM Plex Mono"/>
              <a:buNone/>
            </a:pPr>
            <a:r>
              <a:rPr b="0" i="0" lang="en-US" sz="1300" u="none" cap="none" strike="noStrike">
                <a:solidFill>
                  <a:srgbClr val="0B2A3B"/>
                </a:solidFill>
                <a:latin typeface="IBM Plex Mono"/>
                <a:ea typeface="IBM Plex Mono"/>
                <a:cs typeface="IBM Plex Mono"/>
                <a:sym typeface="IBM Plex Mono"/>
              </a:rPr>
              <a:t>FALSE ALARMS ..... </a:t>
            </a:r>
            <a:r>
              <a:rPr b="1" i="0" lang="en-US" sz="1300" u="none" cap="none" strike="noStrike">
                <a:solidFill>
                  <a:srgbClr val="0B2A3B"/>
                </a:solidFill>
                <a:latin typeface="IBM Plex Mono"/>
                <a:ea typeface="IBM Plex Mono"/>
                <a:cs typeface="IBM Plex Mono"/>
                <a:sym typeface="IBM Plex Mono"/>
              </a:rPr>
              <a:t>0</a:t>
            </a:r>
            <a:endParaRPr b="0" i="0" sz="1300" u="none" cap="none" strike="noStrike">
              <a:solidFill>
                <a:schemeClr val="dk1"/>
              </a:solidFill>
              <a:latin typeface="Calibri"/>
              <a:ea typeface="Calibri"/>
              <a:cs typeface="Calibri"/>
              <a:sym typeface="Calibri"/>
            </a:endParaRPr>
          </a:p>
        </p:txBody>
      </p:sp>
      <p:sp>
        <p:nvSpPr>
          <p:cNvPr id="450" name="Google Shape;450;p18"/>
          <p:cNvSpPr/>
          <p:nvPr/>
        </p:nvSpPr>
        <p:spPr>
          <a:xfrm rot="120000">
            <a:off x="8262867" y="3266344"/>
            <a:ext cx="2903982" cy="254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B2A3B"/>
              </a:buClr>
              <a:buSzPts val="1300"/>
              <a:buFont typeface="IBM Plex Mono"/>
              <a:buNone/>
            </a:pPr>
            <a:r>
              <a:rPr b="0" i="0" lang="en-US" sz="1300" u="none" cap="none" strike="noStrike">
                <a:solidFill>
                  <a:srgbClr val="0B2A3B"/>
                </a:solidFill>
                <a:latin typeface="IBM Plex Mono"/>
                <a:ea typeface="IBM Plex Mono"/>
                <a:cs typeface="IBM Plex Mono"/>
                <a:sym typeface="IBM Plex Mono"/>
              </a:rPr>
              <a:t>NEW LAYOUTS ...... </a:t>
            </a:r>
            <a:r>
              <a:rPr b="1" i="0" lang="en-US" sz="1300" u="none" cap="none" strike="noStrike">
                <a:solidFill>
                  <a:srgbClr val="0B2A3B"/>
                </a:solidFill>
                <a:latin typeface="IBM Plex Mono"/>
                <a:ea typeface="IBM Plex Mono"/>
                <a:cs typeface="IBM Plex Mono"/>
                <a:sym typeface="IBM Plex Mono"/>
              </a:rPr>
              <a:t>100%</a:t>
            </a:r>
            <a:endParaRPr b="0" i="0" sz="1300" u="none" cap="none" strike="noStrike">
              <a:solidFill>
                <a:schemeClr val="dk1"/>
              </a:solidFill>
              <a:latin typeface="Calibri"/>
              <a:ea typeface="Calibri"/>
              <a:cs typeface="Calibri"/>
              <a:sym typeface="Calibri"/>
            </a:endParaRPr>
          </a:p>
        </p:txBody>
      </p:sp>
      <p:pic>
        <p:nvPicPr>
          <p:cNvPr descr="line" id="451" name="Google Shape;451;p18"/>
          <p:cNvPicPr preferRelativeResize="0"/>
          <p:nvPr/>
        </p:nvPicPr>
        <p:blipFill rotWithShape="1">
          <a:blip r:embed="rId3">
            <a:alphaModFix/>
          </a:blip>
          <a:srcRect b="0" l="0" r="0" t="0"/>
          <a:stretch/>
        </p:blipFill>
        <p:spPr>
          <a:xfrm rot="120000">
            <a:off x="8255757" y="3583508"/>
            <a:ext cx="2819400" cy="25400"/>
          </a:xfrm>
          <a:prstGeom prst="rect">
            <a:avLst/>
          </a:prstGeom>
          <a:noFill/>
          <a:ln>
            <a:noFill/>
          </a:ln>
        </p:spPr>
      </p:pic>
      <p:sp>
        <p:nvSpPr>
          <p:cNvPr id="452" name="Google Shape;452;p18"/>
          <p:cNvSpPr/>
          <p:nvPr/>
        </p:nvSpPr>
        <p:spPr>
          <a:xfrm rot="120000">
            <a:off x="8247709" y="3700419"/>
            <a:ext cx="2903982" cy="254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300"/>
              <a:buFont typeface="IBM Plex Mono"/>
              <a:buNone/>
            </a:pPr>
            <a:r>
              <a:rPr b="1" i="0" lang="en-US" sz="1300" u="none" cap="none" strike="noStrike">
                <a:solidFill>
                  <a:srgbClr val="0F766E"/>
                </a:solidFill>
                <a:latin typeface="IBM Plex Mono"/>
                <a:ea typeface="IBM Plex Mono"/>
                <a:cs typeface="IBM Plex Mono"/>
                <a:sym typeface="IBM Plex Mono"/>
              </a:rPr>
              <a:t>EVERY VALUE: A RECEIPT</a:t>
            </a:r>
            <a:endParaRPr b="0" i="0" sz="1300" u="none" cap="none" strike="noStrike">
              <a:solidFill>
                <a:schemeClr val="dk1"/>
              </a:solidFill>
              <a:latin typeface="Calibri"/>
              <a:ea typeface="Calibri"/>
              <a:cs typeface="Calibri"/>
              <a:sym typeface="Calibri"/>
            </a:endParaRPr>
          </a:p>
        </p:txBody>
      </p:sp>
      <p:sp>
        <p:nvSpPr>
          <p:cNvPr id="453" name="Google Shape;453;p18"/>
          <p:cNvSpPr/>
          <p:nvPr/>
        </p:nvSpPr>
        <p:spPr>
          <a:xfrm rot="120000">
            <a:off x="8236850" y="4017728"/>
            <a:ext cx="2903982" cy="24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B2A3B"/>
              </a:buClr>
              <a:buSzPts val="1200"/>
              <a:buFont typeface="IBM Plex Mono"/>
              <a:buNone/>
            </a:pPr>
            <a:r>
              <a:rPr b="0" i="0" lang="en-US" sz="1200" u="none" cap="none" strike="noStrike">
                <a:solidFill>
                  <a:srgbClr val="0B2A3B"/>
                </a:solidFill>
                <a:latin typeface="IBM Plex Mono"/>
                <a:ea typeface="IBM Plex Mono"/>
                <a:cs typeface="IBM Plex Mono"/>
                <a:sym typeface="IBM Plex Mono"/>
              </a:rPr>
              <a:t>SIGNED BY: a human</a:t>
            </a:r>
            <a:endParaRPr b="0" i="0" sz="1200" u="none" cap="none" strike="noStrike">
              <a:solidFill>
                <a:schemeClr val="dk1"/>
              </a:solidFill>
              <a:latin typeface="Calibri"/>
              <a:ea typeface="Calibri"/>
              <a:cs typeface="Calibri"/>
              <a:sym typeface="Calibri"/>
            </a:endParaRPr>
          </a:p>
        </p:txBody>
      </p:sp>
      <p:sp>
        <p:nvSpPr>
          <p:cNvPr id="454" name="Google Shape;454;p18"/>
          <p:cNvSpPr/>
          <p:nvPr/>
        </p:nvSpPr>
        <p:spPr>
          <a:xfrm>
            <a:off x="812800" y="1945642"/>
            <a:ext cx="7063740" cy="695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3EC"/>
              </a:buClr>
              <a:buSzPts val="4800"/>
              <a:buFont typeface="Fraunces"/>
              <a:buNone/>
            </a:pPr>
            <a:r>
              <a:rPr b="0" i="0" lang="en-US" sz="4800" u="none" cap="none" strike="noStrike">
                <a:solidFill>
                  <a:srgbClr val="F6F3EC"/>
                </a:solidFill>
                <a:latin typeface="Fraunces"/>
                <a:ea typeface="Fraunces"/>
                <a:cs typeface="Fraunces"/>
                <a:sym typeface="Fraunces"/>
              </a:rPr>
              <a:t>The model reads</a:t>
            </a:r>
            <a:endParaRPr b="0" i="0" sz="4800" u="none" cap="none" strike="noStrike">
              <a:solidFill>
                <a:schemeClr val="dk1"/>
              </a:solidFill>
              <a:latin typeface="Calibri"/>
              <a:ea typeface="Calibri"/>
              <a:cs typeface="Calibri"/>
              <a:sym typeface="Calibri"/>
            </a:endParaRPr>
          </a:p>
        </p:txBody>
      </p:sp>
      <p:sp>
        <p:nvSpPr>
          <p:cNvPr id="455" name="Google Shape;455;p18"/>
          <p:cNvSpPr/>
          <p:nvPr/>
        </p:nvSpPr>
        <p:spPr>
          <a:xfrm>
            <a:off x="812800" y="2768600"/>
            <a:ext cx="7063740" cy="695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DD4BF"/>
              </a:buClr>
              <a:buSzPts val="4800"/>
              <a:buFont typeface="Fraunces"/>
              <a:buNone/>
            </a:pPr>
            <a:r>
              <a:rPr b="0" i="0" lang="en-US" sz="4800" u="none" cap="none" strike="noStrike">
                <a:solidFill>
                  <a:srgbClr val="2DD4BF"/>
                </a:solidFill>
                <a:latin typeface="Fraunces"/>
                <a:ea typeface="Fraunces"/>
                <a:cs typeface="Fraunces"/>
                <a:sym typeface="Fraunces"/>
              </a:rPr>
              <a:t>The rules fill and check</a:t>
            </a:r>
            <a:endParaRPr b="0" i="0" sz="4800" u="none" cap="none" strike="noStrike">
              <a:solidFill>
                <a:schemeClr val="dk1"/>
              </a:solidFill>
              <a:latin typeface="Calibri"/>
              <a:ea typeface="Calibri"/>
              <a:cs typeface="Calibri"/>
              <a:sym typeface="Calibri"/>
            </a:endParaRPr>
          </a:p>
        </p:txBody>
      </p:sp>
      <p:sp>
        <p:nvSpPr>
          <p:cNvPr id="456" name="Google Shape;456;p18"/>
          <p:cNvSpPr/>
          <p:nvPr/>
        </p:nvSpPr>
        <p:spPr>
          <a:xfrm>
            <a:off x="812800" y="3591564"/>
            <a:ext cx="7063740" cy="695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C14E"/>
              </a:buClr>
              <a:buSzPts val="4800"/>
              <a:buFont typeface="Fraunces"/>
              <a:buNone/>
            </a:pPr>
            <a:r>
              <a:rPr b="0" i="1" lang="en-US" sz="4800" u="none" cap="none" strike="noStrike">
                <a:solidFill>
                  <a:srgbClr val="F2C14E"/>
                </a:solidFill>
                <a:latin typeface="Fraunces"/>
                <a:ea typeface="Fraunces"/>
                <a:cs typeface="Fraunces"/>
                <a:sym typeface="Fraunces"/>
              </a:rPr>
              <a:t>The human signs</a:t>
            </a:r>
            <a:endParaRPr b="0" i="0" sz="4800" u="none" cap="none" strike="noStrike">
              <a:solidFill>
                <a:schemeClr val="dk1"/>
              </a:solidFill>
              <a:latin typeface="Calibri"/>
              <a:ea typeface="Calibri"/>
              <a:cs typeface="Calibri"/>
              <a:sym typeface="Calibri"/>
            </a:endParaRPr>
          </a:p>
        </p:txBody>
      </p:sp>
      <p:sp>
        <p:nvSpPr>
          <p:cNvPr id="457" name="Google Shape;457;p18"/>
          <p:cNvSpPr/>
          <p:nvPr/>
        </p:nvSpPr>
        <p:spPr>
          <a:xfrm>
            <a:off x="812800" y="4414521"/>
            <a:ext cx="1654334" cy="5232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6F3EC"/>
              </a:buClr>
              <a:buSzPts val="2800"/>
              <a:buFont typeface="Fraunces"/>
              <a:buNone/>
            </a:pPr>
            <a:r>
              <a:rPr b="1" i="0" lang="en-US" sz="2800" u="none" cap="none" strike="noStrike">
                <a:solidFill>
                  <a:srgbClr val="F6F3EC"/>
                </a:solidFill>
                <a:latin typeface="Fraunces"/>
                <a:ea typeface="Fraunces"/>
                <a:cs typeface="Fraunces"/>
                <a:sym typeface="Fraunces"/>
              </a:rPr>
              <a:t>Sourced</a:t>
            </a:r>
            <a:endParaRPr b="0" i="0" sz="2800" u="none" cap="none" strike="noStrike">
              <a:solidFill>
                <a:schemeClr val="dk1"/>
              </a:solidFill>
              <a:latin typeface="Calibri"/>
              <a:ea typeface="Calibri"/>
              <a:cs typeface="Calibri"/>
              <a:sym typeface="Calibri"/>
            </a:endParaRPr>
          </a:p>
        </p:txBody>
      </p:sp>
      <p:sp>
        <p:nvSpPr>
          <p:cNvPr id="458" name="Google Shape;458;p18"/>
          <p:cNvSpPr/>
          <p:nvPr/>
        </p:nvSpPr>
        <p:spPr>
          <a:xfrm>
            <a:off x="2467134" y="4538979"/>
            <a:ext cx="4352544"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DD3"/>
              </a:buClr>
              <a:buSzPts val="1400"/>
              <a:buFont typeface="IBM Plex Mono"/>
              <a:buNone/>
            </a:pPr>
            <a:r>
              <a:rPr b="0" i="0" lang="en-US" sz="1400" u="none" cap="none" strike="noStrike">
                <a:solidFill>
                  <a:srgbClr val="B9CDD3"/>
                </a:solidFill>
                <a:latin typeface="IBM Plex Mono"/>
                <a:ea typeface="IBM Plex Mono"/>
                <a:cs typeface="IBM Plex Mono"/>
                <a:sym typeface="IBM Plex Mono"/>
              </a:rPr>
              <a:t>github.com/AyaanFaisal21/HackRUF26</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